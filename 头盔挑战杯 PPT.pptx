
<file path=[Content_Types].xml><?xml version="1.0" encoding="utf-8"?>
<Types xmlns="http://schemas.openxmlformats.org/package/2006/content-types">
  <Default Extension="png" ContentType="image/png"/>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2.svg" ContentType="image/svg+xml"/>
  <Override PartName="/ppt/media/image14.svg" ContentType="image/svg+xml"/>
  <Override PartName="/ppt/media/image16.svg" ContentType="image/svg+xml"/>
  <Override PartName="/ppt/media/image18.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7" r:id="rId5"/>
    <p:sldId id="258" r:id="rId6"/>
    <p:sldId id="268" r:id="rId7"/>
    <p:sldId id="269" r:id="rId8"/>
    <p:sldId id="259" r:id="rId9"/>
    <p:sldId id="270" r:id="rId10"/>
    <p:sldId id="271" r:id="rId11"/>
    <p:sldId id="260" r:id="rId12"/>
    <p:sldId id="261" r:id="rId13"/>
    <p:sldId id="262" r:id="rId14"/>
    <p:sldId id="263" r:id="rId15"/>
    <p:sldId id="264" r:id="rId16"/>
    <p:sldId id="265"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4" d="100"/>
          <a:sy n="114" d="100"/>
        </p:scale>
        <p:origin x="4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image" Target="../media/image7.jpeg"/><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6.png"/><Relationship Id="rId13" Type="http://schemas.openxmlformats.org/officeDocument/2006/relationships/slideLayout" Target="../slideLayouts/slideLayout1.xml"/><Relationship Id="rId12" Type="http://schemas.openxmlformats.org/officeDocument/2006/relationships/image" Target="../media/image10.jpeg"/><Relationship Id="rId11" Type="http://schemas.openxmlformats.org/officeDocument/2006/relationships/image" Target="../media/image9.jpeg"/><Relationship Id="rId10" Type="http://schemas.openxmlformats.org/officeDocument/2006/relationships/image" Target="../media/image8.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9" Type="http://schemas.openxmlformats.org/officeDocument/2006/relationships/tags" Target="../tags/tag13.xml"/><Relationship Id="rId8" Type="http://schemas.openxmlformats.org/officeDocument/2006/relationships/tags" Target="../tags/tag12.xml"/><Relationship Id="rId7" Type="http://schemas.openxmlformats.org/officeDocument/2006/relationships/tags" Target="../tags/tag11.xml"/><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7" Type="http://schemas.openxmlformats.org/officeDocument/2006/relationships/slideLayout" Target="../slideLayouts/slideLayout1.xml"/><Relationship Id="rId36" Type="http://schemas.openxmlformats.org/officeDocument/2006/relationships/image" Target="../media/image18.svg"/><Relationship Id="rId35" Type="http://schemas.openxmlformats.org/officeDocument/2006/relationships/image" Target="../media/image17.png"/><Relationship Id="rId34" Type="http://schemas.openxmlformats.org/officeDocument/2006/relationships/tags" Target="../tags/tag32.xml"/><Relationship Id="rId33" Type="http://schemas.openxmlformats.org/officeDocument/2006/relationships/image" Target="../media/image16.svg"/><Relationship Id="rId32" Type="http://schemas.openxmlformats.org/officeDocument/2006/relationships/image" Target="../media/image15.png"/><Relationship Id="rId31" Type="http://schemas.openxmlformats.org/officeDocument/2006/relationships/tags" Target="../tags/tag31.xml"/><Relationship Id="rId30" Type="http://schemas.openxmlformats.org/officeDocument/2006/relationships/tags" Target="../tags/tag30.xml"/><Relationship Id="rId3" Type="http://schemas.openxmlformats.org/officeDocument/2006/relationships/tags" Target="../tags/tag7.xml"/><Relationship Id="rId29" Type="http://schemas.openxmlformats.org/officeDocument/2006/relationships/tags" Target="../tags/tag29.xml"/><Relationship Id="rId28" Type="http://schemas.openxmlformats.org/officeDocument/2006/relationships/image" Target="../media/image14.svg"/><Relationship Id="rId27" Type="http://schemas.openxmlformats.org/officeDocument/2006/relationships/image" Target="../media/image13.png"/><Relationship Id="rId26" Type="http://schemas.openxmlformats.org/officeDocument/2006/relationships/tags" Target="../tags/tag28.xml"/><Relationship Id="rId25" Type="http://schemas.openxmlformats.org/officeDocument/2006/relationships/image" Target="../media/image12.svg"/><Relationship Id="rId24" Type="http://schemas.openxmlformats.org/officeDocument/2006/relationships/image" Target="../media/image11.png"/><Relationship Id="rId23" Type="http://schemas.openxmlformats.org/officeDocument/2006/relationships/tags" Target="../tags/tag27.xml"/><Relationship Id="rId22" Type="http://schemas.openxmlformats.org/officeDocument/2006/relationships/tags" Target="../tags/tag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image" Target="../media/image6.png"/><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image" Target="../media/image19.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4" Type="http://schemas.openxmlformats.org/officeDocument/2006/relationships/slideLayout" Target="../slideLayouts/slideLayout1.xml"/><Relationship Id="rId23" Type="http://schemas.openxmlformats.org/officeDocument/2006/relationships/tags" Target="../tags/tag58.xml"/><Relationship Id="rId22" Type="http://schemas.openxmlformats.org/officeDocument/2006/relationships/tags" Target="../tags/tag57.xml"/><Relationship Id="rId21" Type="http://schemas.openxmlformats.org/officeDocument/2006/relationships/tags" Target="../tags/tag56.xml"/><Relationship Id="rId20" Type="http://schemas.openxmlformats.org/officeDocument/2006/relationships/tags" Target="../tags/tag55.xml"/><Relationship Id="rId2" Type="http://schemas.openxmlformats.org/officeDocument/2006/relationships/image" Target="../media/image19.png"/><Relationship Id="rId19" Type="http://schemas.openxmlformats.org/officeDocument/2006/relationships/tags" Target="../tags/tag54.xml"/><Relationship Id="rId18" Type="http://schemas.openxmlformats.org/officeDocument/2006/relationships/tags" Target="../tags/tag53.xml"/><Relationship Id="rId17" Type="http://schemas.openxmlformats.org/officeDocument/2006/relationships/tags" Target="../tags/tag52.xml"/><Relationship Id="rId16" Type="http://schemas.openxmlformats.org/officeDocument/2006/relationships/tags" Target="../tags/tag51.xml"/><Relationship Id="rId15" Type="http://schemas.openxmlformats.org/officeDocument/2006/relationships/tags" Target="../tags/tag50.xml"/><Relationship Id="rId14" Type="http://schemas.openxmlformats.org/officeDocument/2006/relationships/tags" Target="../tags/tag49.xml"/><Relationship Id="rId13" Type="http://schemas.openxmlformats.org/officeDocument/2006/relationships/tags" Target="../tags/tag48.xml"/><Relationship Id="rId12" Type="http://schemas.openxmlformats.org/officeDocument/2006/relationships/tags" Target="../tags/tag47.xml"/><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0.png"/><Relationship Id="rId3" Type="http://schemas.openxmlformats.org/officeDocument/2006/relationships/tags" Target="../tags/tag59.xml"/><Relationship Id="rId2" Type="http://schemas.microsoft.com/office/2007/relationships/media" Target="../media/media1.mp4"/><Relationship Id="rId1" Type="http://schemas.openxmlformats.org/officeDocument/2006/relationships/video" Target="../media/media1.mp4"/></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3.png"/><Relationship Id="rId7" Type="http://schemas.openxmlformats.org/officeDocument/2006/relationships/image" Target="../media/image22.png"/><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image" Target="../media/image21.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image" Target="../media/image24.jpeg"/><Relationship Id="rId8" Type="http://schemas.openxmlformats.org/officeDocument/2006/relationships/tags" Target="../tags/tag69.xml"/><Relationship Id="rId7" Type="http://schemas.openxmlformats.org/officeDocument/2006/relationships/tags" Target="../tags/tag68.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image" Target="../media/image21.png"/><Relationship Id="rId11" Type="http://schemas.openxmlformats.org/officeDocument/2006/relationships/slideLayout" Target="../slideLayouts/slideLayout1.xml"/><Relationship Id="rId10" Type="http://schemas.openxmlformats.org/officeDocument/2006/relationships/image" Target="../media/image25.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image" Target="../media/image27.png"/><Relationship Id="rId7" Type="http://schemas.openxmlformats.org/officeDocument/2006/relationships/tags" Target="../tags/tag73.xml"/><Relationship Id="rId6" Type="http://schemas.openxmlformats.org/officeDocument/2006/relationships/image" Target="../media/image26.jpeg"/><Relationship Id="rId5" Type="http://schemas.openxmlformats.org/officeDocument/2006/relationships/tags" Target="../tags/tag72.xml"/><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image" Target="../media/image21.png"/><Relationship Id="rId14" Type="http://schemas.openxmlformats.org/officeDocument/2006/relationships/slideLayout" Target="../slideLayouts/slideLayout1.xml"/><Relationship Id="rId13" Type="http://schemas.openxmlformats.org/officeDocument/2006/relationships/tags" Target="../tags/tag76.xml"/><Relationship Id="rId12" Type="http://schemas.openxmlformats.org/officeDocument/2006/relationships/image" Target="../media/image29.jpeg"/><Relationship Id="rId11" Type="http://schemas.openxmlformats.org/officeDocument/2006/relationships/tags" Target="../tags/tag75.xml"/><Relationship Id="rId10" Type="http://schemas.openxmlformats.org/officeDocument/2006/relationships/image" Target="../media/image28.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0.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 Type="http://schemas.openxmlformats.org/officeDocument/2006/relationships/image" Target="../media/image31.png"/><Relationship Id="rId16" Type="http://schemas.openxmlformats.org/officeDocument/2006/relationships/slideLayout" Target="../slideLayouts/slideLayout1.xml"/><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7" Type="http://schemas.openxmlformats.org/officeDocument/2006/relationships/slideLayout" Target="../slideLayouts/slideLayout1.xml"/><Relationship Id="rId26" Type="http://schemas.openxmlformats.org/officeDocument/2006/relationships/tags" Target="../tags/tag113.xml"/><Relationship Id="rId25" Type="http://schemas.openxmlformats.org/officeDocument/2006/relationships/tags" Target="../tags/tag112.xml"/><Relationship Id="rId24" Type="http://schemas.openxmlformats.org/officeDocument/2006/relationships/tags" Target="../tags/tag111.xml"/><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tags" Target="../tags/tag108.xml"/><Relationship Id="rId20" Type="http://schemas.openxmlformats.org/officeDocument/2006/relationships/tags" Target="../tags/tag107.xml"/><Relationship Id="rId2" Type="http://schemas.openxmlformats.org/officeDocument/2006/relationships/image" Target="../media/image32.png"/><Relationship Id="rId19" Type="http://schemas.openxmlformats.org/officeDocument/2006/relationships/tags" Target="../tags/tag106.xml"/><Relationship Id="rId18" Type="http://schemas.openxmlformats.org/officeDocument/2006/relationships/tags" Target="../tags/tag105.xml"/><Relationship Id="rId17" Type="http://schemas.openxmlformats.org/officeDocument/2006/relationships/tags" Target="../tags/tag104.xml"/><Relationship Id="rId16" Type="http://schemas.openxmlformats.org/officeDocument/2006/relationships/tags" Target="../tags/tag103.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3.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tags" Target="../tags/tag114.xml"/><Relationship Id="rId21" Type="http://schemas.openxmlformats.org/officeDocument/2006/relationships/slideLayout" Target="../slideLayouts/slideLayout1.xml"/><Relationship Id="rId20" Type="http://schemas.openxmlformats.org/officeDocument/2006/relationships/tags" Target="../tags/tag131.xml"/><Relationship Id="rId2" Type="http://schemas.openxmlformats.org/officeDocument/2006/relationships/image" Target="../media/image34.png"/><Relationship Id="rId19" Type="http://schemas.openxmlformats.org/officeDocument/2006/relationships/tags" Target="../tags/tag130.xml"/><Relationship Id="rId18" Type="http://schemas.openxmlformats.org/officeDocument/2006/relationships/tags" Target="../tags/tag129.xml"/><Relationship Id="rId17" Type="http://schemas.openxmlformats.org/officeDocument/2006/relationships/tags" Target="../tags/tag128.xml"/><Relationship Id="rId16" Type="http://schemas.openxmlformats.org/officeDocument/2006/relationships/tags" Target="../tags/tag127.xml"/><Relationship Id="rId15" Type="http://schemas.openxmlformats.org/officeDocument/2006/relationships/tags" Target="../tags/tag126.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tags" Target="../tags/tag122.xml"/><Relationship Id="rId10" Type="http://schemas.openxmlformats.org/officeDocument/2006/relationships/tags" Target="../tags/tag121.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tretch>
            <a:fillRect/>
          </a:stretch>
        </p:blipFill>
        <p:spPr>
          <a:xfrm rot="21600000">
            <a:off x="152" y="0"/>
            <a:ext cx="12191695" cy="6858000"/>
          </a:xfrm>
          <a:prstGeom prst="rect">
            <a:avLst/>
          </a:prstGeom>
        </p:spPr>
      </p:pic>
      <p:pic>
        <p:nvPicPr>
          <p:cNvPr id="4" name="picture 4"/>
          <p:cNvPicPr>
            <a:picLocks noChangeAspect="1"/>
          </p:cNvPicPr>
          <p:nvPr/>
        </p:nvPicPr>
        <p:blipFill>
          <a:blip r:embed="rId2"/>
          <a:stretch>
            <a:fillRect/>
          </a:stretch>
        </p:blipFill>
        <p:spPr>
          <a:xfrm rot="21600000">
            <a:off x="431" y="0"/>
            <a:ext cx="12191137" cy="6858000"/>
          </a:xfrm>
          <a:prstGeom prst="rect">
            <a:avLst/>
          </a:prstGeom>
        </p:spPr>
      </p:pic>
      <p:pic>
        <p:nvPicPr>
          <p:cNvPr id="6" name="picture 6"/>
          <p:cNvPicPr>
            <a:picLocks noChangeAspect="1"/>
          </p:cNvPicPr>
          <p:nvPr/>
        </p:nvPicPr>
        <p:blipFill>
          <a:blip r:embed="rId3"/>
          <a:stretch>
            <a:fillRect/>
          </a:stretch>
        </p:blipFill>
        <p:spPr>
          <a:xfrm rot="21600000">
            <a:off x="2184245" y="1244766"/>
            <a:ext cx="7886141" cy="1759815"/>
          </a:xfrm>
          <a:prstGeom prst="rect">
            <a:avLst/>
          </a:prstGeom>
        </p:spPr>
      </p:pic>
      <p:sp>
        <p:nvSpPr>
          <p:cNvPr id="8" name="textbox 8"/>
          <p:cNvSpPr/>
          <p:nvPr/>
        </p:nvSpPr>
        <p:spPr>
          <a:xfrm>
            <a:off x="1815994" y="3496157"/>
            <a:ext cx="8656319" cy="1010285"/>
          </a:xfrm>
          <a:prstGeom prst="rect">
            <a:avLst/>
          </a:prstGeom>
          <a:noFill/>
          <a:ln w="0" cap="flat">
            <a:noFill/>
            <a:prstDash val="solid"/>
            <a:miter lim="0"/>
          </a:ln>
        </p:spPr>
        <p:txBody>
          <a:bodyPr vert="horz" wrap="square" lIns="0" tIns="0" rIns="0" bIns="0"/>
          <a:lstStyle/>
          <a:p>
            <a:pPr algn="l" rtl="0" eaLnBrk="0">
              <a:lnSpc>
                <a:spcPct val="83000"/>
              </a:lnSpc>
            </a:pPr>
            <a:endParaRPr sz="100" dirty="0">
              <a:latin typeface="Arial" panose="020B0604020202020204"/>
              <a:ea typeface="Arial" panose="020B0604020202020204"/>
              <a:cs typeface="Arial" panose="020B0604020202020204"/>
            </a:endParaRPr>
          </a:p>
          <a:p>
            <a:pPr marL="12700" algn="l" rtl="0" eaLnBrk="0">
              <a:lnSpc>
                <a:spcPct val="87000"/>
              </a:lnSpc>
              <a:tabLst>
                <a:tab pos="8642350" algn="l"/>
              </a:tabLst>
            </a:pPr>
            <a:r>
              <a:rPr sz="2300" b="1" u="sng" kern="0" spc="-160" dirty="0">
                <a:solidFill>
                  <a:srgbClr val="FFFFFF">
                    <a:alpha val="100000"/>
                  </a:srgbClr>
                </a:solidFill>
                <a:latin typeface="微软雅黑" panose="020B0503020204020204" charset="-122"/>
                <a:ea typeface="微软雅黑" panose="020B0503020204020204" charset="-122"/>
                <a:cs typeface="微软雅黑" panose="020B0503020204020204" charset="-122"/>
              </a:rPr>
              <a:t>项目名称：</a:t>
            </a:r>
            <a:r>
              <a:rPr lang="en-US" altLang="zh-CN" sz="2300" b="1" u="sng" kern="0" spc="0" dirty="0">
                <a:solidFill>
                  <a:srgbClr val="FFFFFF">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AI</a:t>
            </a:r>
            <a:r>
              <a:rPr lang="zh-CN" altLang="en-US" sz="2300" b="1" u="sng" kern="0" spc="0" dirty="0">
                <a:solidFill>
                  <a:srgbClr val="FFFFFF">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赋能的视障人士智能安全辅助与识物导航系统</a:t>
            </a:r>
            <a:r>
              <a:rPr sz="2300" b="1" u="sng" kern="0" spc="0" dirty="0">
                <a:solidFill>
                  <a:srgbClr val="FFFFFF">
                    <a:alpha val="100000"/>
                  </a:srgbClr>
                </a:solidFill>
                <a:uFill>
                  <a:solidFill>
                    <a:srgbClr val="000000"/>
                  </a:solidFill>
                </a:uFill>
                <a:latin typeface="微软雅黑" panose="020B0503020204020204" charset="-122"/>
                <a:ea typeface="微软雅黑" panose="020B0503020204020204" charset="-122"/>
                <a:cs typeface="微软雅黑" panose="020B0503020204020204" charset="-122"/>
              </a:rPr>
              <a:t>	</a:t>
            </a:r>
            <a:endParaRPr sz="2300" dirty="0">
              <a:latin typeface="微软雅黑" panose="020B0503020204020204" charset="-122"/>
              <a:ea typeface="微软雅黑" panose="020B0503020204020204" charset="-122"/>
              <a:cs typeface="微软雅黑" panose="020B0503020204020204" charset="-122"/>
            </a:endParaRPr>
          </a:p>
          <a:p>
            <a:pPr algn="l" rtl="0" eaLnBrk="0">
              <a:lnSpc>
                <a:spcPct val="177000"/>
              </a:lnSpc>
            </a:pPr>
            <a:endParaRPr sz="1000" dirty="0">
              <a:latin typeface="Arial" panose="020B0604020202020204"/>
              <a:ea typeface="Arial" panose="020B0604020202020204"/>
              <a:cs typeface="Arial" panose="020B0604020202020204"/>
            </a:endParaRPr>
          </a:p>
          <a:p>
            <a:pPr algn="l" rtl="0" eaLnBrk="0">
              <a:lnSpc>
                <a:spcPct val="100000"/>
              </a:lnSpc>
            </a:pPr>
            <a:endParaRPr sz="600" dirty="0">
              <a:latin typeface="Arial" panose="020B0604020202020204"/>
              <a:ea typeface="Arial" panose="020B0604020202020204"/>
              <a:cs typeface="Arial" panose="020B0604020202020204"/>
            </a:endParaRPr>
          </a:p>
          <a:p>
            <a:pPr marL="13970" algn="l" rtl="0" eaLnBrk="0">
              <a:lnSpc>
                <a:spcPct val="87000"/>
              </a:lnSpc>
              <a:spcBef>
                <a:spcPts val="5"/>
              </a:spcBef>
            </a:pPr>
            <a:r>
              <a:rPr sz="2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赛       道：</a:t>
            </a:r>
            <a:r>
              <a:rPr sz="2400" b="1" kern="0" spc="23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lang="zh-CN" sz="2400" b="1" kern="0" spc="230" dirty="0">
                <a:solidFill>
                  <a:srgbClr val="FFFFFF">
                    <a:alpha val="100000"/>
                  </a:srgbClr>
                </a:solidFill>
                <a:latin typeface="微软雅黑" panose="020B0503020204020204" charset="-122"/>
                <a:ea typeface="微软雅黑" panose="020B0503020204020204" charset="-122"/>
                <a:cs typeface="微软雅黑" panose="020B0503020204020204" charset="-122"/>
              </a:rPr>
              <a:t>新一代信息技术</a:t>
            </a:r>
            <a:r>
              <a:rPr sz="2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      组  </a:t>
            </a: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     别：</a:t>
            </a:r>
            <a:r>
              <a:rPr sz="2400" b="1" kern="0" spc="5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本科组</a:t>
            </a:r>
            <a:endParaRPr sz="2400" dirty="0">
              <a:latin typeface="微软雅黑" panose="020B0503020204020204" charset="-122"/>
              <a:ea typeface="微软雅黑" panose="020B0503020204020204" charset="-122"/>
              <a:cs typeface="微软雅黑" panose="020B0503020204020204" charset="-122"/>
            </a:endParaRPr>
          </a:p>
        </p:txBody>
      </p:sp>
      <p:sp>
        <p:nvSpPr>
          <p:cNvPr id="10" name="textbox 10"/>
          <p:cNvSpPr/>
          <p:nvPr/>
        </p:nvSpPr>
        <p:spPr>
          <a:xfrm>
            <a:off x="1798134" y="4828244"/>
            <a:ext cx="3895090" cy="343534"/>
          </a:xfrm>
          <a:prstGeom prst="rect">
            <a:avLst/>
          </a:prstGeom>
          <a:noFill/>
          <a:ln w="0" cap="flat">
            <a:noFill/>
            <a:prstDash val="solid"/>
            <a:miter lim="0"/>
          </a:ln>
        </p:spPr>
        <p:txBody>
          <a:bodyPr vert="horz" wrap="square" lIns="0" tIns="0" rIns="0" bIns="0"/>
          <a:lstStyle/>
          <a:p>
            <a:pPr algn="l" rtl="0" eaLnBrk="0">
              <a:lnSpc>
                <a:spcPct val="79000"/>
              </a:lnSpc>
            </a:pPr>
            <a:endParaRPr sz="100" dirty="0">
              <a:latin typeface="Arial" panose="020B0604020202020204"/>
              <a:ea typeface="Arial" panose="020B0604020202020204"/>
              <a:cs typeface="Arial" panose="020B0604020202020204"/>
            </a:endParaRPr>
          </a:p>
          <a:p>
            <a:pPr marL="12700" algn="l" rtl="0" eaLnBrk="0">
              <a:lnSpc>
                <a:spcPct val="87000"/>
              </a:lnSpc>
            </a:pPr>
            <a:r>
              <a:rPr sz="2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汇</a:t>
            </a:r>
            <a:r>
              <a:rPr sz="2400" b="1" kern="0" spc="71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报</a:t>
            </a:r>
            <a:r>
              <a:rPr sz="2400" b="1" kern="0" spc="67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r>
              <a:rPr sz="2400" b="1" kern="0" spc="-10" dirty="0">
                <a:solidFill>
                  <a:srgbClr val="FFFFFF">
                    <a:alpha val="100000"/>
                  </a:srgbClr>
                </a:solidFill>
                <a:latin typeface="微软雅黑" panose="020B0503020204020204" charset="-122"/>
                <a:ea typeface="微软雅黑" panose="020B0503020204020204" charset="-122"/>
                <a:cs typeface="微软雅黑" panose="020B0503020204020204" charset="-122"/>
              </a:rPr>
              <a:t>人：</a:t>
            </a:r>
            <a:r>
              <a:rPr sz="2400" b="1" kern="0" spc="210" dirty="0">
                <a:solidFill>
                  <a:srgbClr val="FFFFFF">
                    <a:alpha val="100000"/>
                  </a:srgbClr>
                </a:solidFill>
                <a:latin typeface="微软雅黑" panose="020B0503020204020204" charset="-122"/>
                <a:ea typeface="微软雅黑" panose="020B0503020204020204" charset="-122"/>
                <a:cs typeface="微软雅黑" panose="020B0503020204020204" charset="-122"/>
              </a:rPr>
              <a:t> </a:t>
            </a:r>
            <a:endParaRPr lang="zh-CN" sz="2400" b="1" kern="0" spc="210" dirty="0">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pic>
        <p:nvPicPr>
          <p:cNvPr id="12" name="picture 12"/>
          <p:cNvPicPr>
            <a:picLocks noChangeAspect="1"/>
          </p:cNvPicPr>
          <p:nvPr/>
        </p:nvPicPr>
        <p:blipFill>
          <a:blip r:embed="rId4"/>
          <a:stretch>
            <a:fillRect/>
          </a:stretch>
        </p:blipFill>
        <p:spPr>
          <a:xfrm rot="21600000">
            <a:off x="1760575" y="4556505"/>
            <a:ext cx="8698433" cy="46075"/>
          </a:xfrm>
          <a:prstGeom prst="rect">
            <a:avLst/>
          </a:prstGeom>
        </p:spPr>
      </p:pic>
      <p:pic>
        <p:nvPicPr>
          <p:cNvPr id="14" name="picture 14"/>
          <p:cNvPicPr>
            <a:picLocks noChangeAspect="1"/>
          </p:cNvPicPr>
          <p:nvPr/>
        </p:nvPicPr>
        <p:blipFill>
          <a:blip r:embed="rId5"/>
          <a:stretch>
            <a:fillRect/>
          </a:stretch>
        </p:blipFill>
        <p:spPr>
          <a:xfrm rot="21600000">
            <a:off x="1743021" y="5223052"/>
            <a:ext cx="4845888" cy="457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p:cNvPicPr>
            <a:picLocks noChangeAspect="1"/>
          </p:cNvPicPr>
          <p:nvPr/>
        </p:nvPicPr>
        <p:blipFill>
          <a:blip r:embed="rId1"/>
          <a:stretch>
            <a:fillRect/>
          </a:stretch>
        </p:blipFill>
        <p:spPr>
          <a:xfrm rot="21600000">
            <a:off x="152" y="0"/>
            <a:ext cx="12191695" cy="6858000"/>
          </a:xfrm>
          <a:prstGeom prst="rect">
            <a:avLst/>
          </a:prstGeom>
        </p:spPr>
      </p:pic>
      <p:sp>
        <p:nvSpPr>
          <p:cNvPr id="18" name="textbox 18"/>
          <p:cNvSpPr/>
          <p:nvPr/>
        </p:nvSpPr>
        <p:spPr>
          <a:xfrm>
            <a:off x="355200" y="1035489"/>
            <a:ext cx="11254740" cy="802005"/>
          </a:xfrm>
          <a:prstGeom prst="rect">
            <a:avLst/>
          </a:prstGeom>
          <a:noFill/>
          <a:ln w="0" cap="flat">
            <a:noFill/>
            <a:prstDash val="solid"/>
            <a:miter lim="0"/>
          </a:ln>
        </p:spPr>
        <p:txBody>
          <a:bodyPr vert="horz" wrap="square" lIns="0" tIns="0" rIns="0" bIns="0"/>
          <a:lstStyle/>
          <a:p>
            <a:pPr algn="l" rtl="0" eaLnBrk="0">
              <a:lnSpc>
                <a:spcPct val="79000"/>
              </a:lnSpc>
            </a:pPr>
            <a:endParaRPr sz="2400" dirty="0">
              <a:latin typeface="微软雅黑" panose="020B0503020204020204" charset="-122"/>
              <a:ea typeface="微软雅黑" panose="020B0503020204020204" charset="-122"/>
              <a:cs typeface="微软雅黑" panose="020B0503020204020204" charset="-122"/>
            </a:endParaRPr>
          </a:p>
        </p:txBody>
      </p:sp>
      <p:pic>
        <p:nvPicPr>
          <p:cNvPr id="20" name="picture 20"/>
          <p:cNvPicPr>
            <a:picLocks noChangeAspect="1"/>
          </p:cNvPicPr>
          <p:nvPr/>
        </p:nvPicPr>
        <p:blipFill>
          <a:blip r:embed="rId2"/>
          <a:stretch>
            <a:fillRect/>
          </a:stretch>
        </p:blipFill>
        <p:spPr>
          <a:xfrm rot="21600000">
            <a:off x="88851" y="266433"/>
            <a:ext cx="3294548" cy="490047"/>
          </a:xfrm>
          <a:prstGeom prst="rect">
            <a:avLst/>
          </a:prstGeom>
        </p:spPr>
      </p:pic>
      <p:sp>
        <p:nvSpPr>
          <p:cNvPr id="4" name="矩形 1"/>
          <p:cNvSpPr/>
          <p:nvPr>
            <p:custDataLst>
              <p:tags r:id="rId3"/>
            </p:custDataLst>
          </p:nvPr>
        </p:nvSpPr>
        <p:spPr>
          <a:xfrm>
            <a:off x="5865495" y="1631315"/>
            <a:ext cx="5880100" cy="955675"/>
          </a:xfrm>
          <a:prstGeom prst="rect">
            <a:avLst/>
          </a:prstGeom>
          <a:noFill/>
        </p:spPr>
        <p:txBody>
          <a:bodyPr wrap="square" lIns="0" tIns="0" rIns="0" bIns="0" rtlCol="0" anchor="ctr">
            <a:noAutofit/>
          </a:bodyPr>
          <a:p>
            <a:pPr algn="just">
              <a:lnSpc>
                <a:spcPct val="140000"/>
              </a:lnSpc>
              <a:spcBef>
                <a:spcPct val="0"/>
              </a:spcBef>
              <a:spcAft>
                <a:spcPct val="0"/>
              </a:spcAft>
            </a:pPr>
            <a:r>
              <a:rPr lang="zh-CN" altLang="en-US" kern="0">
                <a:solidFill>
                  <a:sysClr val="window" lastClr="FFFFFF">
                    <a:lumMod val="85000"/>
                    <a:lumOff val="15000"/>
                  </a:sysClr>
                </a:solidFill>
                <a:latin typeface="微软雅黑" panose="020B0503020204020204" charset="-122"/>
                <a:cs typeface="微软雅黑" panose="020B0503020204020204" charset="-122"/>
              </a:rPr>
              <a:t>盲人在出行时,常因无法感知障碍物而摔倒受伤,据统计,每年因障碍物导致的盲人受伤事件超百万起。</a:t>
            </a:r>
            <a:endParaRPr lang="zh-CN" altLang="en-US" kern="0">
              <a:solidFill>
                <a:sysClr val="window" lastClr="FFFFFF">
                  <a:lumMod val="85000"/>
                  <a:lumOff val="15000"/>
                </a:sysClr>
              </a:solidFill>
              <a:latin typeface="微软雅黑" panose="020B0503020204020204" charset="-122"/>
              <a:cs typeface="微软雅黑" panose="020B0503020204020204" charset="-122"/>
            </a:endParaRPr>
          </a:p>
        </p:txBody>
      </p:sp>
      <p:sp>
        <p:nvSpPr>
          <p:cNvPr id="7" name="矩形 2"/>
          <p:cNvSpPr/>
          <p:nvPr>
            <p:custDataLst>
              <p:tags r:id="rId4"/>
            </p:custDataLst>
          </p:nvPr>
        </p:nvSpPr>
        <p:spPr>
          <a:xfrm>
            <a:off x="5865495" y="2834005"/>
            <a:ext cx="5880100" cy="614680"/>
          </a:xfrm>
          <a:prstGeom prst="rect">
            <a:avLst/>
          </a:prstGeom>
          <a:noFill/>
        </p:spPr>
        <p:txBody>
          <a:bodyPr wrap="square" lIns="0" tIns="0" rIns="0" bIns="0" rtlCol="0" anchor="ctr">
            <a:noAutofit/>
          </a:bodyPr>
          <a:p>
            <a:pPr algn="just">
              <a:lnSpc>
                <a:spcPct val="140000"/>
              </a:lnSpc>
              <a:spcBef>
                <a:spcPct val="0"/>
              </a:spcBef>
              <a:spcAft>
                <a:spcPct val="0"/>
              </a:spcAft>
            </a:pPr>
            <a:r>
              <a:rPr lang="zh-CN" altLang="en-US" kern="0" dirty="0">
                <a:solidFill>
                  <a:sysClr val="window" lastClr="FFFFFF">
                    <a:lumMod val="85000"/>
                    <a:lumOff val="15000"/>
                  </a:sysClr>
                </a:solidFill>
                <a:latin typeface="微软雅黑" panose="020B0503020204020204" charset="-122"/>
                <a:cs typeface="微软雅黑" panose="020B0503020204020204" charset="-122"/>
              </a:rPr>
              <a:t>身体突发不适时,无法及时向外界求助,延误救治时机。</a:t>
            </a:r>
            <a:endParaRPr lang="zh-CN" altLang="en-US" kern="0" dirty="0">
              <a:solidFill>
                <a:sysClr val="window" lastClr="FFFFFF">
                  <a:lumMod val="85000"/>
                  <a:lumOff val="15000"/>
                </a:sysClr>
              </a:solidFill>
              <a:latin typeface="微软雅黑" panose="020B0503020204020204" charset="-122"/>
              <a:cs typeface="微软雅黑" panose="020B0503020204020204" charset="-122"/>
            </a:endParaRPr>
          </a:p>
        </p:txBody>
      </p:sp>
      <p:sp>
        <p:nvSpPr>
          <p:cNvPr id="8" name="矩形 4"/>
          <p:cNvSpPr/>
          <p:nvPr>
            <p:custDataLst>
              <p:tags r:id="rId5"/>
            </p:custDataLst>
          </p:nvPr>
        </p:nvSpPr>
        <p:spPr>
          <a:xfrm>
            <a:off x="5865721" y="3651243"/>
            <a:ext cx="5880190" cy="798958"/>
          </a:xfrm>
          <a:prstGeom prst="rect">
            <a:avLst/>
          </a:prstGeom>
          <a:noFill/>
        </p:spPr>
        <p:txBody>
          <a:bodyPr wrap="square" lIns="0" tIns="0" rIns="0" bIns="0" rtlCol="0" anchor="ctr">
            <a:noAutofit/>
          </a:bodyPr>
          <a:p>
            <a:pPr algn="just">
              <a:lnSpc>
                <a:spcPct val="140000"/>
              </a:lnSpc>
              <a:spcBef>
                <a:spcPct val="0"/>
              </a:spcBef>
              <a:spcAft>
                <a:spcPct val="0"/>
              </a:spcAft>
            </a:pPr>
            <a:r>
              <a:rPr lang="zh-CN" altLang="en-US" kern="0">
                <a:solidFill>
                  <a:sysClr val="window" lastClr="FFFFFF">
                    <a:lumMod val="85000"/>
                    <a:lumOff val="15000"/>
                  </a:sysClr>
                </a:solidFill>
                <a:latin typeface="微软雅黑" panose="020B0503020204020204" charset="-122"/>
                <a:cs typeface="微软雅黑" panose="020B0503020204020204" charset="-122"/>
              </a:rPr>
              <a:t>在复杂环境中,如商场、街道,盲人难以判断方向,平均每次出行需花费比常人多一倍的时间。</a:t>
            </a:r>
            <a:endParaRPr lang="zh-CN" altLang="en-US" kern="0">
              <a:solidFill>
                <a:sysClr val="window" lastClr="FFFFFF">
                  <a:lumMod val="85000"/>
                  <a:lumOff val="15000"/>
                </a:sysClr>
              </a:solidFill>
              <a:latin typeface="微软雅黑" panose="020B0503020204020204" charset="-122"/>
              <a:cs typeface="微软雅黑" panose="020B0503020204020204" charset="-122"/>
            </a:endParaRPr>
          </a:p>
        </p:txBody>
      </p:sp>
      <p:sp>
        <p:nvSpPr>
          <p:cNvPr id="9" name="矩形 6"/>
          <p:cNvSpPr/>
          <p:nvPr>
            <p:custDataLst>
              <p:tags r:id="rId6"/>
            </p:custDataLst>
          </p:nvPr>
        </p:nvSpPr>
        <p:spPr>
          <a:xfrm>
            <a:off x="5865721" y="5689609"/>
            <a:ext cx="5880190" cy="798958"/>
          </a:xfrm>
          <a:prstGeom prst="rect">
            <a:avLst/>
          </a:prstGeom>
          <a:noFill/>
        </p:spPr>
        <p:txBody>
          <a:bodyPr wrap="square" lIns="0" tIns="0" rIns="0" bIns="0" rtlCol="0" anchor="ctr">
            <a:noAutofit/>
          </a:bodyPr>
          <a:p>
            <a:pPr algn="just">
              <a:lnSpc>
                <a:spcPct val="140000"/>
              </a:lnSpc>
              <a:spcBef>
                <a:spcPct val="0"/>
              </a:spcBef>
              <a:spcAft>
                <a:spcPct val="0"/>
              </a:spcAft>
            </a:pPr>
            <a:r>
              <a:rPr lang="zh-CN" altLang="en-US" kern="0">
                <a:solidFill>
                  <a:sysClr val="window" lastClr="FFFFFF">
                    <a:lumMod val="85000"/>
                    <a:lumOff val="15000"/>
                  </a:sysClr>
                </a:solidFill>
                <a:latin typeface="微软雅黑" panose="020B0503020204020204" charset="-122"/>
                <a:cs typeface="微软雅黑" panose="020B0503020204020204" charset="-122"/>
              </a:rPr>
              <a:t>长期依赖他人帮助,产生自卑、焦虑等负面情绪,影响心理健康。</a:t>
            </a:r>
            <a:endParaRPr lang="zh-CN" altLang="en-US" kern="0">
              <a:solidFill>
                <a:sysClr val="window" lastClr="FFFFFF">
                  <a:lumMod val="85000"/>
                  <a:lumOff val="15000"/>
                </a:sysClr>
              </a:solidFill>
              <a:latin typeface="微软雅黑" panose="020B0503020204020204" charset="-122"/>
              <a:cs typeface="微软雅黑" panose="020B0503020204020204" charset="-122"/>
            </a:endParaRPr>
          </a:p>
        </p:txBody>
      </p:sp>
      <p:sp>
        <p:nvSpPr>
          <p:cNvPr id="10" name="矩形 7"/>
          <p:cNvSpPr/>
          <p:nvPr>
            <p:custDataLst>
              <p:tags r:id="rId7"/>
            </p:custDataLst>
          </p:nvPr>
        </p:nvSpPr>
        <p:spPr>
          <a:xfrm>
            <a:off x="5865721" y="4641404"/>
            <a:ext cx="5880190" cy="798958"/>
          </a:xfrm>
          <a:prstGeom prst="rect">
            <a:avLst/>
          </a:prstGeom>
          <a:noFill/>
        </p:spPr>
        <p:txBody>
          <a:bodyPr wrap="square" lIns="0" tIns="0" rIns="0" bIns="0" rtlCol="0" anchor="ctr">
            <a:noAutofit/>
          </a:bodyPr>
          <a:p>
            <a:pPr algn="just">
              <a:lnSpc>
                <a:spcPct val="140000"/>
              </a:lnSpc>
              <a:spcBef>
                <a:spcPct val="0"/>
              </a:spcBef>
              <a:spcAft>
                <a:spcPct val="0"/>
              </a:spcAft>
            </a:pPr>
            <a:r>
              <a:rPr lang="zh-CN" altLang="en-US" kern="0">
                <a:solidFill>
                  <a:sysClr val="window" lastClr="FFFFFF">
                    <a:lumMod val="85000"/>
                    <a:lumOff val="15000"/>
                  </a:sysClr>
                </a:solidFill>
                <a:latin typeface="微软雅黑" panose="020B0503020204020204" charset="-122"/>
                <a:cs typeface="微软雅黑" panose="020B0503020204020204" charset="-122"/>
              </a:rPr>
              <a:t>由于出行不便,盲人往往减少外出社交活动,导致社交圈子缩小,心理孤独感增强。</a:t>
            </a:r>
            <a:endParaRPr lang="zh-CN" altLang="en-US" kern="0">
              <a:solidFill>
                <a:sysClr val="window" lastClr="FFFFFF">
                  <a:lumMod val="85000"/>
                  <a:lumOff val="15000"/>
                </a:sysClr>
              </a:solidFill>
              <a:latin typeface="微软雅黑" panose="020B0503020204020204" charset="-122"/>
              <a:cs typeface="微软雅黑" panose="020B0503020204020204" charset="-122"/>
            </a:endParaRPr>
          </a:p>
        </p:txBody>
      </p:sp>
      <p:sp>
        <p:nvSpPr>
          <p:cNvPr id="11" name="矩形 8"/>
          <p:cNvSpPr/>
          <p:nvPr>
            <p:custDataLst>
              <p:tags r:id="rId8"/>
            </p:custDataLst>
          </p:nvPr>
        </p:nvSpPr>
        <p:spPr>
          <a:xfrm>
            <a:off x="6865620" y="643255"/>
            <a:ext cx="2986405" cy="791845"/>
          </a:xfrm>
          <a:prstGeom prst="rect">
            <a:avLst/>
          </a:prstGeom>
          <a:noFill/>
        </p:spPr>
        <p:txBody>
          <a:bodyPr wrap="square" lIns="0" tIns="0" rIns="0" bIns="0" rtlCol="0" anchor="t" anchorCtr="0">
            <a:noAutofit/>
          </a:bodyPr>
          <a:p>
            <a:pPr algn="ctr">
              <a:spcBef>
                <a:spcPct val="0"/>
              </a:spcBef>
              <a:spcAft>
                <a:spcPct val="0"/>
              </a:spcAft>
            </a:pPr>
            <a:r>
              <a:rPr lang="zh-CN" altLang="en-US" sz="2800" b="1" kern="0">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微软雅黑" panose="020B0503020204020204" charset="-122"/>
                <a:cs typeface="微软雅黑" panose="020B0503020204020204" charset="-122"/>
              </a:rPr>
              <a:t>盲人生活中的挑战</a:t>
            </a:r>
            <a:endParaRPr lang="zh-CN" altLang="en-US" sz="2800" b="1" kern="0">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微软雅黑" panose="020B0503020204020204" charset="-122"/>
              <a:cs typeface="微软雅黑" panose="020B0503020204020204" charset="-122"/>
            </a:endParaRPr>
          </a:p>
        </p:txBody>
      </p:sp>
      <p:pic>
        <p:nvPicPr>
          <p:cNvPr id="12" name="图片 11" descr="盲人受伤案例2"/>
          <p:cNvPicPr>
            <a:picLocks noChangeAspect="1"/>
          </p:cNvPicPr>
          <p:nvPr/>
        </p:nvPicPr>
        <p:blipFill>
          <a:blip r:embed="rId9"/>
          <a:stretch>
            <a:fillRect/>
          </a:stretch>
        </p:blipFill>
        <p:spPr>
          <a:xfrm>
            <a:off x="119380" y="1090930"/>
            <a:ext cx="2618740" cy="3113405"/>
          </a:xfrm>
          <a:prstGeom prst="rect">
            <a:avLst/>
          </a:prstGeom>
        </p:spPr>
      </p:pic>
      <p:pic>
        <p:nvPicPr>
          <p:cNvPr id="13" name="图片 12" descr="盲人受伤案例1"/>
          <p:cNvPicPr>
            <a:picLocks noChangeAspect="1"/>
          </p:cNvPicPr>
          <p:nvPr/>
        </p:nvPicPr>
        <p:blipFill>
          <a:blip r:embed="rId10"/>
          <a:stretch>
            <a:fillRect/>
          </a:stretch>
        </p:blipFill>
        <p:spPr>
          <a:xfrm>
            <a:off x="2783840" y="1158240"/>
            <a:ext cx="2782570" cy="3046095"/>
          </a:xfrm>
          <a:prstGeom prst="rect">
            <a:avLst/>
          </a:prstGeom>
        </p:spPr>
      </p:pic>
      <p:pic>
        <p:nvPicPr>
          <p:cNvPr id="14" name="图片 13" descr="盲人受伤案例3"/>
          <p:cNvPicPr>
            <a:picLocks noChangeAspect="1"/>
          </p:cNvPicPr>
          <p:nvPr/>
        </p:nvPicPr>
        <p:blipFill>
          <a:blip r:embed="rId11"/>
          <a:stretch>
            <a:fillRect/>
          </a:stretch>
        </p:blipFill>
        <p:spPr>
          <a:xfrm>
            <a:off x="119380" y="4140200"/>
            <a:ext cx="2618740" cy="2717800"/>
          </a:xfrm>
          <a:prstGeom prst="rect">
            <a:avLst/>
          </a:prstGeom>
        </p:spPr>
      </p:pic>
      <p:pic>
        <p:nvPicPr>
          <p:cNvPr id="15" name="图片 14" descr="盲人受伤案例4"/>
          <p:cNvPicPr>
            <a:picLocks noChangeAspect="1"/>
          </p:cNvPicPr>
          <p:nvPr/>
        </p:nvPicPr>
        <p:blipFill>
          <a:blip r:embed="rId12"/>
          <a:stretch>
            <a:fillRect/>
          </a:stretch>
        </p:blipFill>
        <p:spPr>
          <a:xfrm>
            <a:off x="2783840" y="4149090"/>
            <a:ext cx="2759710" cy="27101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p:cNvPicPr>
            <a:picLocks noChangeAspect="1"/>
          </p:cNvPicPr>
          <p:nvPr/>
        </p:nvPicPr>
        <p:blipFill>
          <a:blip r:embed="rId1"/>
          <a:stretch>
            <a:fillRect/>
          </a:stretch>
        </p:blipFill>
        <p:spPr>
          <a:xfrm rot="21600000">
            <a:off x="152" y="0"/>
            <a:ext cx="12191695" cy="6858000"/>
          </a:xfrm>
          <a:prstGeom prst="rect">
            <a:avLst/>
          </a:prstGeom>
        </p:spPr>
      </p:pic>
      <p:sp>
        <p:nvSpPr>
          <p:cNvPr id="18" name="textbox 18"/>
          <p:cNvSpPr/>
          <p:nvPr/>
        </p:nvSpPr>
        <p:spPr>
          <a:xfrm>
            <a:off x="355200" y="1035489"/>
            <a:ext cx="11254740" cy="802005"/>
          </a:xfrm>
          <a:prstGeom prst="rect">
            <a:avLst/>
          </a:prstGeom>
          <a:noFill/>
          <a:ln w="0" cap="flat">
            <a:noFill/>
            <a:prstDash val="solid"/>
            <a:miter lim="0"/>
          </a:ln>
        </p:spPr>
        <p:txBody>
          <a:bodyPr vert="horz" wrap="square" lIns="0" tIns="0" rIns="0" bIns="0"/>
          <a:lstStyle/>
          <a:p>
            <a:pPr algn="l" rtl="0" eaLnBrk="0">
              <a:lnSpc>
                <a:spcPct val="79000"/>
              </a:lnSpc>
            </a:pPr>
            <a:endParaRPr sz="2400" dirty="0">
              <a:latin typeface="微软雅黑" panose="020B0503020204020204" charset="-122"/>
              <a:ea typeface="微软雅黑" panose="020B0503020204020204" charset="-122"/>
              <a:cs typeface="微软雅黑" panose="020B0503020204020204" charset="-122"/>
            </a:endParaRPr>
          </a:p>
        </p:txBody>
      </p:sp>
      <p:pic>
        <p:nvPicPr>
          <p:cNvPr id="20" name="picture 20"/>
          <p:cNvPicPr>
            <a:picLocks noChangeAspect="1"/>
          </p:cNvPicPr>
          <p:nvPr/>
        </p:nvPicPr>
        <p:blipFill>
          <a:blip r:embed="rId2"/>
          <a:stretch>
            <a:fillRect/>
          </a:stretch>
        </p:blipFill>
        <p:spPr>
          <a:xfrm rot="21600000">
            <a:off x="88851" y="266433"/>
            <a:ext cx="3294548" cy="490047"/>
          </a:xfrm>
          <a:prstGeom prst="rect">
            <a:avLst/>
          </a:prstGeom>
        </p:spPr>
      </p:pic>
      <p:sp>
        <p:nvSpPr>
          <p:cNvPr id="27" name="椭圆 26"/>
          <p:cNvSpPr/>
          <p:nvPr>
            <p:custDataLst>
              <p:tags r:id="rId3"/>
            </p:custDataLst>
          </p:nvPr>
        </p:nvSpPr>
        <p:spPr>
          <a:xfrm>
            <a:off x="4027170" y="1719580"/>
            <a:ext cx="4104640" cy="4104640"/>
          </a:xfrm>
          <a:prstGeom prst="ellipse">
            <a:avLst/>
          </a:prstGeom>
          <a:noFill/>
          <a:ln w="31750" cap="flat" cmpd="sng" algn="ctr">
            <a:solidFill>
              <a:srgbClr val="05B4EB">
                <a:alpha val="25000"/>
              </a:srgbClr>
            </a:solidFill>
            <a:prstDash val="sysDot"/>
            <a:miter lim="800000"/>
          </a:ln>
          <a:effectLst/>
        </p:spPr>
        <p:txBody>
          <a:bodyPr rtlCol="0" anchor="ctr">
            <a:normAutofit/>
          </a:bodyPr>
          <a:lstStyle>
            <a:defPPr>
              <a:defRPr lang="zh-CN"/>
            </a:defPPr>
            <a:lvl1pPr marL="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1pPr>
            <a:lvl2pPr marL="45720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2pPr>
            <a:lvl3pPr marL="91440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3pPr>
            <a:lvl4pPr marL="137160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4pPr>
            <a:lvl5pPr marL="182880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5pPr>
            <a:lvl6pPr marL="228600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6pPr>
            <a:lvl7pPr marL="274320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7pPr>
            <a:lvl8pPr marL="320040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8pPr>
            <a:lvl9pPr marL="3657600" algn="l" defTabSz="914400" rtl="0" eaLnBrk="1" latinLnBrk="0" hangingPunct="1">
              <a:defRPr sz="1800" kern="1200">
                <a:solidFill>
                  <a:sysClr val="window" lastClr="FFFFFF"/>
                </a:solidFill>
                <a:latin typeface="思源黑体 CN Regular" panose="020B0500000000000000" charset="-122"/>
                <a:ea typeface="思源黑体 CN Regular" panose="020B0500000000000000" charset="-122"/>
                <a:cs typeface="微软雅黑" panose="020B0503020204020204" charset="-122"/>
              </a:defRPr>
            </a:lvl9pPr>
          </a:lstStyle>
          <a:p>
            <a:pPr algn="ctr"/>
            <a:endParaRPr lang="zh-CN" altLang="en-US">
              <a:solidFill>
                <a:sysClr val="window" lastClr="FFFFFF"/>
              </a:solidFill>
              <a:latin typeface="微软雅黑" panose="020B0503020204020204" charset="-122"/>
              <a:ea typeface="微软雅黑" panose="020B0503020204020204" charset="-122"/>
            </a:endParaRPr>
          </a:p>
        </p:txBody>
      </p:sp>
      <p:sp useBgFill="1">
        <p:nvSpPr>
          <p:cNvPr id="28" name="任意多边形 2"/>
          <p:cNvSpPr/>
          <p:nvPr>
            <p:custDataLst>
              <p:tags r:id="rId4"/>
            </p:custDataLst>
          </p:nvPr>
        </p:nvSpPr>
        <p:spPr>
          <a:xfrm>
            <a:off x="4305300" y="3803650"/>
            <a:ext cx="3548380" cy="1687830"/>
          </a:xfrm>
          <a:custGeom>
            <a:avLst/>
            <a:gdLst/>
            <a:ahLst/>
            <a:cxnLst>
              <a:cxn ang="3">
                <a:pos x="hc" y="t"/>
              </a:cxn>
              <a:cxn ang="cd2">
                <a:pos x="l" y="vc"/>
              </a:cxn>
              <a:cxn ang="cd4">
                <a:pos x="hc" y="b"/>
              </a:cxn>
              <a:cxn ang="0">
                <a:pos x="r" y="vc"/>
              </a:cxn>
            </a:cxnLst>
            <a:rect l="l" t="t" r="r" b="b"/>
            <a:pathLst>
              <a:path w="6276" h="2985">
                <a:moveTo>
                  <a:pt x="0" y="0"/>
                </a:moveTo>
                <a:lnTo>
                  <a:pt x="6276" y="0"/>
                </a:lnTo>
                <a:lnTo>
                  <a:pt x="6276" y="5"/>
                </a:lnTo>
                <a:cubicBezTo>
                  <a:pt x="6192" y="1665"/>
                  <a:pt x="4819" y="2985"/>
                  <a:pt x="3138" y="2985"/>
                </a:cubicBezTo>
                <a:cubicBezTo>
                  <a:pt x="1457" y="2985"/>
                  <a:pt x="84" y="1665"/>
                  <a:pt x="0" y="5"/>
                </a:cubicBezTo>
                <a:lnTo>
                  <a:pt x="0" y="0"/>
                </a:lnTo>
                <a:close/>
              </a:path>
            </a:pathLst>
          </a:custGeom>
          <a:solidFill>
            <a:srgbClr val="05B4EB"/>
          </a:solidFill>
          <a:ln w="12700" cap="flat" cmpd="sng" algn="ctr">
            <a:noFill/>
            <a:prstDash val="solid"/>
            <a:miter lim="800000"/>
          </a:ln>
          <a:effectLst>
            <a:outerShdw blurRad="508000" dist="317500" dir="5400000" sx="86000" sy="86000" algn="ctr" rotWithShape="0">
              <a:srgbClr val="05B4EB">
                <a:alpha val="25000"/>
              </a:srgbClr>
            </a:outerShdw>
          </a:effectLst>
        </p:spPr>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b="1" dirty="0">
              <a:solidFill>
                <a:srgbClr val="05B4E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useBgFill="1">
        <p:nvSpPr>
          <p:cNvPr id="29" name="任意多边形 2"/>
          <p:cNvSpPr/>
          <p:nvPr>
            <p:custDataLst>
              <p:tags r:id="rId5"/>
            </p:custDataLst>
          </p:nvPr>
        </p:nvSpPr>
        <p:spPr>
          <a:xfrm>
            <a:off x="4305300" y="3803650"/>
            <a:ext cx="3548380" cy="1687830"/>
          </a:xfrm>
          <a:custGeom>
            <a:avLst/>
            <a:gdLst/>
            <a:ahLst/>
            <a:cxnLst>
              <a:cxn ang="3">
                <a:pos x="hc" y="t"/>
              </a:cxn>
              <a:cxn ang="cd2">
                <a:pos x="l" y="vc"/>
              </a:cxn>
              <a:cxn ang="cd4">
                <a:pos x="hc" y="b"/>
              </a:cxn>
              <a:cxn ang="0">
                <a:pos x="r" y="vc"/>
              </a:cxn>
            </a:cxnLst>
            <a:rect l="l" t="t" r="r" b="b"/>
            <a:pathLst>
              <a:path w="6276" h="2985">
                <a:moveTo>
                  <a:pt x="0" y="0"/>
                </a:moveTo>
                <a:lnTo>
                  <a:pt x="6276" y="0"/>
                </a:lnTo>
                <a:lnTo>
                  <a:pt x="6276" y="5"/>
                </a:lnTo>
                <a:cubicBezTo>
                  <a:pt x="6192" y="1665"/>
                  <a:pt x="4819" y="2985"/>
                  <a:pt x="3138" y="2985"/>
                </a:cubicBezTo>
                <a:cubicBezTo>
                  <a:pt x="1457" y="2985"/>
                  <a:pt x="84" y="1665"/>
                  <a:pt x="0" y="5"/>
                </a:cubicBezTo>
                <a:lnTo>
                  <a:pt x="0" y="0"/>
                </a:lnTo>
                <a:close/>
              </a:path>
            </a:pathLst>
          </a:custGeom>
          <a:gradFill>
            <a:gsLst>
              <a:gs pos="0">
                <a:srgbClr val="05B4EB">
                  <a:lumMod val="60000"/>
                  <a:lumOff val="40000"/>
                  <a:alpha val="25000"/>
                </a:srgbClr>
              </a:gs>
              <a:gs pos="100000">
                <a:srgbClr val="05B4EB">
                  <a:lumMod val="20000"/>
                  <a:lumOff val="80000"/>
                  <a:alpha val="20000"/>
                </a:srgbClr>
              </a:gs>
            </a:gsLst>
            <a:lin ang="5400000" scaled="0"/>
          </a:gradFill>
          <a:ln w="12700" cap="flat" cmpd="sng" algn="ctr">
            <a:noFill/>
            <a:prstDash val="solid"/>
            <a:miter lim="800000"/>
          </a:ln>
          <a:effectLst>
            <a:outerShdw blurRad="508000" dist="317500" dir="5400000" sx="86000" sy="86000" algn="ctr" rotWithShape="0">
              <a:srgbClr val="05B4EB">
                <a:alpha val="25000"/>
              </a:srgbClr>
            </a:outerShdw>
          </a:effectLst>
        </p:spPr>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b="1" dirty="0">
              <a:solidFill>
                <a:srgbClr val="05B4EB"/>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2" name="椭圆 31"/>
          <p:cNvSpPr/>
          <p:nvPr>
            <p:custDataLst>
              <p:tags r:id="rId6"/>
            </p:custDataLst>
          </p:nvPr>
        </p:nvSpPr>
        <p:spPr>
          <a:xfrm>
            <a:off x="4305300" y="2582545"/>
            <a:ext cx="3548380" cy="2051050"/>
          </a:xfrm>
          <a:prstGeom prst="ellipse">
            <a:avLst/>
          </a:prstGeom>
          <a:solidFill>
            <a:srgbClr val="0A1C43"/>
          </a:solidFill>
          <a:ln w="53975" cap="flat" cmpd="sng" algn="ctr">
            <a:gradFill>
              <a:gsLst>
                <a:gs pos="35000">
                  <a:srgbClr val="05B4EB">
                    <a:lumMod val="5000"/>
                    <a:lumOff val="95000"/>
                    <a:alpha val="0"/>
                  </a:srgbClr>
                </a:gs>
                <a:gs pos="100000">
                  <a:srgbClr val="05B4EB">
                    <a:lumMod val="60000"/>
                    <a:lumOff val="40000"/>
                  </a:srgbClr>
                </a:gs>
                <a:gs pos="89000">
                  <a:srgbClr val="05B4EB">
                    <a:lumMod val="30000"/>
                    <a:lumOff val="70000"/>
                  </a:srgbClr>
                </a:gs>
              </a:gsLst>
              <a:lin ang="5400000" scaled="0"/>
            </a:gradFill>
            <a:prstDash val="solid"/>
            <a:miter lim="800000"/>
          </a:ln>
          <a:effectLst/>
        </p:spPr>
        <p:txBody>
          <a:bodyPr rtlCol="0" anchor="ctr">
            <a:norm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endParaRPr lang="zh-CN" altLang="en-US">
              <a:solidFill>
                <a:sysClr val="window" lastClr="FFFFFF"/>
              </a:solidFill>
              <a:latin typeface="微软雅黑" panose="020B0503020204020204" charset="-122"/>
              <a:ea typeface="微软雅黑" panose="020B0503020204020204" charset="-122"/>
            </a:endParaRPr>
          </a:p>
        </p:txBody>
      </p:sp>
      <p:sp>
        <p:nvSpPr>
          <p:cNvPr id="35" name="椭圆 34"/>
          <p:cNvSpPr/>
          <p:nvPr>
            <p:custDataLst>
              <p:tags r:id="rId7"/>
            </p:custDataLst>
          </p:nvPr>
        </p:nvSpPr>
        <p:spPr>
          <a:xfrm>
            <a:off x="4305300" y="2582545"/>
            <a:ext cx="3548380" cy="2051050"/>
          </a:xfrm>
          <a:prstGeom prst="ellipse">
            <a:avLst/>
          </a:prstGeom>
          <a:solidFill>
            <a:sysClr val="window" lastClr="FFFFFF">
              <a:lumMod val="60000"/>
              <a:lumOff val="40000"/>
              <a:alpha val="15000"/>
            </a:sysClr>
          </a:solidFill>
          <a:ln w="53975" cap="flat" cmpd="sng" algn="ctr">
            <a:gradFill>
              <a:gsLst>
                <a:gs pos="35000">
                  <a:srgbClr val="05B4EB">
                    <a:lumMod val="5000"/>
                    <a:lumOff val="95000"/>
                    <a:alpha val="0"/>
                  </a:srgbClr>
                </a:gs>
                <a:gs pos="100000">
                  <a:srgbClr val="05B4EB">
                    <a:lumMod val="60000"/>
                    <a:lumOff val="40000"/>
                  </a:srgbClr>
                </a:gs>
                <a:gs pos="89000">
                  <a:srgbClr val="05B4EB">
                    <a:lumMod val="30000"/>
                    <a:lumOff val="70000"/>
                  </a:srgbClr>
                </a:gs>
              </a:gsLst>
              <a:lin ang="5400000" scaled="0"/>
            </a:gradFill>
            <a:prstDash val="solid"/>
            <a:miter lim="800000"/>
          </a:ln>
          <a:effectLst/>
        </p:spPr>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a:solidFill>
                <a:sysClr val="window" lastClr="FFFFFF"/>
              </a:solidFill>
              <a:latin typeface="微软雅黑" panose="020B0503020204020204" charset="-122"/>
              <a:ea typeface="微软雅黑" panose="020B0503020204020204" charset="-122"/>
              <a:sym typeface="微软雅黑" panose="020B0503020204020204" charset="-122"/>
            </a:endParaRPr>
          </a:p>
        </p:txBody>
      </p:sp>
      <p:sp>
        <p:nvSpPr>
          <p:cNvPr id="38" name="矩形 37"/>
          <p:cNvSpPr/>
          <p:nvPr>
            <p:custDataLst>
              <p:tags r:id="rId8"/>
            </p:custDataLst>
          </p:nvPr>
        </p:nvSpPr>
        <p:spPr>
          <a:xfrm>
            <a:off x="5002530" y="2895600"/>
            <a:ext cx="2089785" cy="1191895"/>
          </a:xfrm>
          <a:prstGeom prst="rect">
            <a:avLst/>
          </a:prstGeom>
          <a:noFill/>
        </p:spPr>
        <p:txBody>
          <a:bodyPr wrap="square" lIns="0" tIns="0" rIns="0" bIns="0" rtlCol="0" anchor="ctr" anchorCtr="0">
            <a:noAutofit/>
          </a:bodyPr>
          <a:lstStyle/>
          <a:p>
            <a:pPr algn="ctr">
              <a:spcBef>
                <a:spcPct val="0"/>
              </a:spcBef>
              <a:spcAft>
                <a:spcPct val="0"/>
              </a:spcAft>
            </a:pPr>
            <a:r>
              <a:rPr lang="zh-CN" altLang="en-US" sz="4000" b="1">
                <a:solidFill>
                  <a:sysClr val="window" lastClr="FFFFFF">
                    <a:lumMod val="85000"/>
                    <a:lumOff val="15000"/>
                  </a:sysClr>
                </a:solidFill>
                <a:latin typeface="微软雅黑" panose="020B0503020204020204" charset="-122"/>
                <a:cs typeface="微软雅黑" panose="020B0503020204020204" charset="-122"/>
              </a:rPr>
              <a:t>国家政策</a:t>
            </a:r>
            <a:endParaRPr lang="zh-CN" altLang="en-US" sz="4000" b="1">
              <a:solidFill>
                <a:sysClr val="window" lastClr="FFFFFF">
                  <a:lumMod val="85000"/>
                  <a:lumOff val="15000"/>
                </a:sysClr>
              </a:solidFill>
              <a:latin typeface="微软雅黑" panose="020B0503020204020204" charset="-122"/>
              <a:cs typeface="微软雅黑" panose="020B0503020204020204" charset="-122"/>
            </a:endParaRPr>
          </a:p>
        </p:txBody>
      </p:sp>
      <p:sp>
        <p:nvSpPr>
          <p:cNvPr id="40" name="任意多边形: 形状 40"/>
          <p:cNvSpPr/>
          <p:nvPr>
            <p:custDataLst>
              <p:tags r:id="rId9"/>
            </p:custDataLst>
          </p:nvPr>
        </p:nvSpPr>
        <p:spPr>
          <a:xfrm>
            <a:off x="7204493" y="1970595"/>
            <a:ext cx="576439" cy="576439"/>
          </a:xfrm>
          <a:custGeom>
            <a:avLst/>
            <a:gdLst>
              <a:gd name="connsiteX0" fmla="*/ 0 w 1532041"/>
              <a:gd name="connsiteY0" fmla="*/ 766021 h 1532041"/>
              <a:gd name="connsiteX1" fmla="*/ 766021 w 1532041"/>
              <a:gd name="connsiteY1" fmla="*/ 0 h 1532041"/>
              <a:gd name="connsiteX2" fmla="*/ 1532042 w 1532041"/>
              <a:gd name="connsiteY2" fmla="*/ 766021 h 1532041"/>
              <a:gd name="connsiteX3" fmla="*/ 766021 w 1532041"/>
              <a:gd name="connsiteY3" fmla="*/ 1532042 h 1532041"/>
              <a:gd name="connsiteX4" fmla="*/ 0 w 1532041"/>
              <a:gd name="connsiteY4" fmla="*/ 766021 h 153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041" h="1532041">
                <a:moveTo>
                  <a:pt x="0" y="766021"/>
                </a:moveTo>
                <a:cubicBezTo>
                  <a:pt x="0" y="342959"/>
                  <a:pt x="342959" y="0"/>
                  <a:pt x="766021" y="0"/>
                </a:cubicBezTo>
                <a:cubicBezTo>
                  <a:pt x="1189083" y="0"/>
                  <a:pt x="1532042" y="342959"/>
                  <a:pt x="1532042" y="766021"/>
                </a:cubicBezTo>
                <a:cubicBezTo>
                  <a:pt x="1532042" y="1189083"/>
                  <a:pt x="1189083" y="1532042"/>
                  <a:pt x="766021" y="1532042"/>
                </a:cubicBezTo>
                <a:cubicBezTo>
                  <a:pt x="342959" y="1532042"/>
                  <a:pt x="0" y="1189083"/>
                  <a:pt x="0" y="766021"/>
                </a:cubicBezTo>
                <a:close/>
              </a:path>
            </a:pathLst>
          </a:custGeom>
          <a:gradFill>
            <a:gsLst>
              <a:gs pos="54000">
                <a:srgbClr val="05B4EB"/>
              </a:gs>
              <a:gs pos="0">
                <a:srgbClr val="05B4EB">
                  <a:lumMod val="60000"/>
                  <a:lumOff val="40000"/>
                </a:srgbClr>
              </a:gs>
              <a:gs pos="81000">
                <a:srgbClr val="05B4EB"/>
              </a:gs>
              <a:gs pos="100000">
                <a:srgbClr val="05B4EB"/>
              </a:gs>
            </a:gsLst>
            <a:lin ang="5400000" scaled="0"/>
          </a:gradFill>
          <a:ln w="12700" cap="flat" cmpd="sng" algn="ctr">
            <a:gradFill>
              <a:gsLst>
                <a:gs pos="37000">
                  <a:srgbClr val="FFFFFF"/>
                </a:gs>
                <a:gs pos="0">
                  <a:srgbClr val="05B4EB">
                    <a:lumMod val="45000"/>
                    <a:lumOff val="55000"/>
                  </a:srgbClr>
                </a:gs>
                <a:gs pos="100000">
                  <a:srgbClr val="FFFFFF"/>
                </a:gs>
                <a:gs pos="71000">
                  <a:srgbClr val="05B4EB">
                    <a:lumMod val="30000"/>
                    <a:lumOff val="70000"/>
                  </a:srgbClr>
                </a:gs>
              </a:gsLst>
              <a:lin ang="16200000" scaled="0"/>
            </a:gradFill>
            <a:prstDash val="solid"/>
            <a:miter lim="800000"/>
          </a:ln>
          <a:effectLst>
            <a:outerShdw blurRad="342900" sx="106000" sy="106000" algn="ctr" rotWithShape="0">
              <a:srgbClr val="05B4EB">
                <a:alpha val="30000"/>
              </a:srgbClr>
            </a:outerShdw>
          </a:effectLst>
        </p:spPr>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3" name="任意多边形: 形状 41"/>
          <p:cNvSpPr/>
          <p:nvPr>
            <p:custDataLst>
              <p:tags r:id="rId10"/>
            </p:custDataLst>
          </p:nvPr>
        </p:nvSpPr>
        <p:spPr>
          <a:xfrm>
            <a:off x="7784248" y="3936257"/>
            <a:ext cx="576439" cy="576439"/>
          </a:xfrm>
          <a:custGeom>
            <a:avLst/>
            <a:gdLst>
              <a:gd name="connsiteX0" fmla="*/ 0 w 1532041"/>
              <a:gd name="connsiteY0" fmla="*/ 766021 h 1532041"/>
              <a:gd name="connsiteX1" fmla="*/ 766021 w 1532041"/>
              <a:gd name="connsiteY1" fmla="*/ 0 h 1532041"/>
              <a:gd name="connsiteX2" fmla="*/ 1532042 w 1532041"/>
              <a:gd name="connsiteY2" fmla="*/ 766021 h 1532041"/>
              <a:gd name="connsiteX3" fmla="*/ 766021 w 1532041"/>
              <a:gd name="connsiteY3" fmla="*/ 1532042 h 1532041"/>
              <a:gd name="connsiteX4" fmla="*/ 0 w 1532041"/>
              <a:gd name="connsiteY4" fmla="*/ 766021 h 153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041" h="1532041">
                <a:moveTo>
                  <a:pt x="0" y="766021"/>
                </a:moveTo>
                <a:cubicBezTo>
                  <a:pt x="0" y="342959"/>
                  <a:pt x="342959" y="0"/>
                  <a:pt x="766021" y="0"/>
                </a:cubicBezTo>
                <a:cubicBezTo>
                  <a:pt x="1189083" y="0"/>
                  <a:pt x="1532042" y="342959"/>
                  <a:pt x="1532042" y="766021"/>
                </a:cubicBezTo>
                <a:cubicBezTo>
                  <a:pt x="1532042" y="1189083"/>
                  <a:pt x="1189083" y="1532042"/>
                  <a:pt x="766021" y="1532042"/>
                </a:cubicBezTo>
                <a:cubicBezTo>
                  <a:pt x="342959" y="1532042"/>
                  <a:pt x="0" y="1189083"/>
                  <a:pt x="0" y="766021"/>
                </a:cubicBezTo>
                <a:close/>
              </a:path>
            </a:pathLst>
          </a:custGeom>
          <a:gradFill>
            <a:gsLst>
              <a:gs pos="54000">
                <a:srgbClr val="05B4EB"/>
              </a:gs>
              <a:gs pos="0">
                <a:srgbClr val="05B4EB">
                  <a:lumMod val="60000"/>
                  <a:lumOff val="40000"/>
                </a:srgbClr>
              </a:gs>
              <a:gs pos="81000">
                <a:srgbClr val="05B4EB"/>
              </a:gs>
              <a:gs pos="100000">
                <a:srgbClr val="05B4EB"/>
              </a:gs>
            </a:gsLst>
            <a:lin ang="5400000" scaled="0"/>
          </a:gradFill>
          <a:ln w="12700" cap="flat" cmpd="sng" algn="ctr">
            <a:gradFill>
              <a:gsLst>
                <a:gs pos="37000">
                  <a:srgbClr val="FFFFFF"/>
                </a:gs>
                <a:gs pos="0">
                  <a:srgbClr val="05B4EB">
                    <a:lumMod val="45000"/>
                    <a:lumOff val="55000"/>
                  </a:srgbClr>
                </a:gs>
                <a:gs pos="100000">
                  <a:srgbClr val="FFFFFF"/>
                </a:gs>
                <a:gs pos="71000">
                  <a:srgbClr val="05B4EB">
                    <a:lumMod val="30000"/>
                    <a:lumOff val="70000"/>
                  </a:srgbClr>
                </a:gs>
              </a:gsLst>
              <a:lin ang="16200000" scaled="0"/>
            </a:gradFill>
            <a:prstDash val="solid"/>
            <a:miter lim="800000"/>
          </a:ln>
          <a:effectLst>
            <a:outerShdw blurRad="342900" sx="106000" sy="106000" algn="ctr" rotWithShape="0">
              <a:srgbClr val="05B4EB">
                <a:alpha val="30000"/>
              </a:srgbClr>
            </a:outerShdw>
          </a:effectLst>
        </p:spPr>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6" name="任意多边形: 形状 43"/>
          <p:cNvSpPr/>
          <p:nvPr>
            <p:custDataLst>
              <p:tags r:id="rId11"/>
            </p:custDataLst>
          </p:nvPr>
        </p:nvSpPr>
        <p:spPr>
          <a:xfrm>
            <a:off x="3773546" y="3771157"/>
            <a:ext cx="576439" cy="576439"/>
          </a:xfrm>
          <a:custGeom>
            <a:avLst/>
            <a:gdLst>
              <a:gd name="connsiteX0" fmla="*/ 0 w 1532041"/>
              <a:gd name="connsiteY0" fmla="*/ 766021 h 1532041"/>
              <a:gd name="connsiteX1" fmla="*/ 766021 w 1532041"/>
              <a:gd name="connsiteY1" fmla="*/ 0 h 1532041"/>
              <a:gd name="connsiteX2" fmla="*/ 1532042 w 1532041"/>
              <a:gd name="connsiteY2" fmla="*/ 766021 h 1532041"/>
              <a:gd name="connsiteX3" fmla="*/ 766021 w 1532041"/>
              <a:gd name="connsiteY3" fmla="*/ 1532042 h 1532041"/>
              <a:gd name="connsiteX4" fmla="*/ 0 w 1532041"/>
              <a:gd name="connsiteY4" fmla="*/ 766021 h 153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041" h="1532041">
                <a:moveTo>
                  <a:pt x="0" y="766021"/>
                </a:moveTo>
                <a:cubicBezTo>
                  <a:pt x="0" y="342959"/>
                  <a:pt x="342959" y="0"/>
                  <a:pt x="766021" y="0"/>
                </a:cubicBezTo>
                <a:cubicBezTo>
                  <a:pt x="1189083" y="0"/>
                  <a:pt x="1532042" y="342959"/>
                  <a:pt x="1532042" y="766021"/>
                </a:cubicBezTo>
                <a:cubicBezTo>
                  <a:pt x="1532042" y="1189083"/>
                  <a:pt x="1189083" y="1532042"/>
                  <a:pt x="766021" y="1532042"/>
                </a:cubicBezTo>
                <a:cubicBezTo>
                  <a:pt x="342959" y="1532042"/>
                  <a:pt x="0" y="1189083"/>
                  <a:pt x="0" y="766021"/>
                </a:cubicBezTo>
                <a:close/>
              </a:path>
            </a:pathLst>
          </a:custGeom>
          <a:gradFill>
            <a:gsLst>
              <a:gs pos="54000">
                <a:srgbClr val="05B4EB"/>
              </a:gs>
              <a:gs pos="0">
                <a:srgbClr val="05B4EB">
                  <a:lumMod val="60000"/>
                  <a:lumOff val="40000"/>
                </a:srgbClr>
              </a:gs>
              <a:gs pos="81000">
                <a:srgbClr val="05B4EB"/>
              </a:gs>
              <a:gs pos="100000">
                <a:srgbClr val="05B4EB"/>
              </a:gs>
            </a:gsLst>
            <a:lin ang="5400000" scaled="0"/>
          </a:gradFill>
          <a:ln w="12700" cap="flat" cmpd="sng" algn="ctr">
            <a:gradFill>
              <a:gsLst>
                <a:gs pos="37000">
                  <a:srgbClr val="FFFFFF"/>
                </a:gs>
                <a:gs pos="0">
                  <a:srgbClr val="05B4EB">
                    <a:lumMod val="45000"/>
                    <a:lumOff val="55000"/>
                  </a:srgbClr>
                </a:gs>
                <a:gs pos="100000">
                  <a:srgbClr val="FFFFFF"/>
                </a:gs>
                <a:gs pos="71000">
                  <a:srgbClr val="05B4EB">
                    <a:lumMod val="30000"/>
                    <a:lumOff val="70000"/>
                  </a:srgbClr>
                </a:gs>
              </a:gsLst>
              <a:lin ang="16200000" scaled="0"/>
            </a:gradFill>
            <a:prstDash val="solid"/>
            <a:miter lim="800000"/>
          </a:ln>
          <a:effectLst>
            <a:outerShdw blurRad="342900" sx="106000" sy="106000" algn="ctr" rotWithShape="0">
              <a:srgbClr val="05B4EB">
                <a:alpha val="30000"/>
              </a:srgbClr>
            </a:outerShdw>
          </a:effectLst>
        </p:spPr>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任意多边形: 形状 44"/>
          <p:cNvSpPr/>
          <p:nvPr>
            <p:custDataLst>
              <p:tags r:id="rId12"/>
            </p:custDataLst>
          </p:nvPr>
        </p:nvSpPr>
        <p:spPr>
          <a:xfrm>
            <a:off x="4425691" y="1890585"/>
            <a:ext cx="576439" cy="576439"/>
          </a:xfrm>
          <a:custGeom>
            <a:avLst/>
            <a:gdLst>
              <a:gd name="connsiteX0" fmla="*/ 0 w 1532041"/>
              <a:gd name="connsiteY0" fmla="*/ 766021 h 1532041"/>
              <a:gd name="connsiteX1" fmla="*/ 766021 w 1532041"/>
              <a:gd name="connsiteY1" fmla="*/ 0 h 1532041"/>
              <a:gd name="connsiteX2" fmla="*/ 1532042 w 1532041"/>
              <a:gd name="connsiteY2" fmla="*/ 766021 h 1532041"/>
              <a:gd name="connsiteX3" fmla="*/ 766021 w 1532041"/>
              <a:gd name="connsiteY3" fmla="*/ 1532042 h 1532041"/>
              <a:gd name="connsiteX4" fmla="*/ 0 w 1532041"/>
              <a:gd name="connsiteY4" fmla="*/ 766021 h 15320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32041" h="1532041">
                <a:moveTo>
                  <a:pt x="0" y="766021"/>
                </a:moveTo>
                <a:cubicBezTo>
                  <a:pt x="0" y="342959"/>
                  <a:pt x="342959" y="0"/>
                  <a:pt x="766021" y="0"/>
                </a:cubicBezTo>
                <a:cubicBezTo>
                  <a:pt x="1189083" y="0"/>
                  <a:pt x="1532042" y="342959"/>
                  <a:pt x="1532042" y="766021"/>
                </a:cubicBezTo>
                <a:cubicBezTo>
                  <a:pt x="1532042" y="1189083"/>
                  <a:pt x="1189083" y="1532042"/>
                  <a:pt x="766021" y="1532042"/>
                </a:cubicBezTo>
                <a:cubicBezTo>
                  <a:pt x="342959" y="1532042"/>
                  <a:pt x="0" y="1189083"/>
                  <a:pt x="0" y="766021"/>
                </a:cubicBezTo>
                <a:close/>
              </a:path>
            </a:pathLst>
          </a:custGeom>
          <a:gradFill>
            <a:gsLst>
              <a:gs pos="54000">
                <a:srgbClr val="05B4EB"/>
              </a:gs>
              <a:gs pos="0">
                <a:srgbClr val="05B4EB">
                  <a:lumMod val="60000"/>
                  <a:lumOff val="40000"/>
                </a:srgbClr>
              </a:gs>
              <a:gs pos="81000">
                <a:srgbClr val="05B4EB"/>
              </a:gs>
              <a:gs pos="100000">
                <a:srgbClr val="05B4EB"/>
              </a:gs>
            </a:gsLst>
            <a:lin ang="5400000" scaled="0"/>
          </a:gradFill>
          <a:ln w="12700" cap="flat" cmpd="sng" algn="ctr">
            <a:gradFill>
              <a:gsLst>
                <a:gs pos="37000">
                  <a:srgbClr val="FFFFFF"/>
                </a:gs>
                <a:gs pos="0">
                  <a:srgbClr val="05B4EB">
                    <a:lumMod val="45000"/>
                    <a:lumOff val="55000"/>
                  </a:srgbClr>
                </a:gs>
                <a:gs pos="100000">
                  <a:srgbClr val="FFFFFF"/>
                </a:gs>
                <a:gs pos="71000">
                  <a:srgbClr val="05B4EB">
                    <a:lumMod val="30000"/>
                    <a:lumOff val="70000"/>
                  </a:srgbClr>
                </a:gs>
              </a:gsLst>
              <a:lin ang="16200000" scaled="0"/>
            </a:gradFill>
            <a:prstDash val="solid"/>
            <a:miter lim="800000"/>
          </a:ln>
          <a:effectLst>
            <a:outerShdw blurRad="342900" sx="106000" sy="106000" algn="ctr" rotWithShape="0">
              <a:srgbClr val="05B4EB">
                <a:alpha val="30000"/>
              </a:srgbClr>
            </a:outerShdw>
          </a:effectLst>
        </p:spPr>
        <p:txBody>
          <a:bodyPr vertOverflow="overflow" horzOverflow="overflow" vert="horz" wrap="square" numCol="1" spcCol="0" rtlCol="0" fromWordArt="0" anchor="ctr" anchorCtr="0" forceAA="0" compatLnSpc="1">
            <a:norm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48" name="直接连接符 47"/>
          <p:cNvCxnSpPr/>
          <p:nvPr>
            <p:custDataLst>
              <p:tags r:id="rId13"/>
            </p:custDataLst>
          </p:nvPr>
        </p:nvCxnSpPr>
        <p:spPr>
          <a:xfrm>
            <a:off x="1247945" y="2716768"/>
            <a:ext cx="2293056" cy="0"/>
          </a:xfrm>
          <a:prstGeom prst="line">
            <a:avLst/>
          </a:prstGeom>
          <a:noFill/>
          <a:ln w="6350" cap="flat" cmpd="sng" algn="ctr">
            <a:gradFill>
              <a:gsLst>
                <a:gs pos="0">
                  <a:srgbClr val="05B4EB">
                    <a:lumMod val="20000"/>
                    <a:lumOff val="80000"/>
                    <a:alpha val="0"/>
                  </a:srgbClr>
                </a:gs>
                <a:gs pos="95000">
                  <a:srgbClr val="05B4EB"/>
                </a:gs>
              </a:gsLst>
              <a:lin ang="0" scaled="0"/>
            </a:gradFill>
            <a:prstDash val="solid"/>
            <a:miter lim="800000"/>
            <a:headEnd type="none"/>
            <a:tailEnd type="oval"/>
          </a:ln>
          <a:effectLst/>
        </p:spPr>
      </p:cxnSp>
      <p:sp>
        <p:nvSpPr>
          <p:cNvPr id="49" name="矩形 48"/>
          <p:cNvSpPr/>
          <p:nvPr>
            <p:custDataLst>
              <p:tags r:id="rId14"/>
            </p:custDataLst>
          </p:nvPr>
        </p:nvSpPr>
        <p:spPr>
          <a:xfrm>
            <a:off x="287020" y="1988820"/>
            <a:ext cx="3737610" cy="1537335"/>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将科技助残纳入科技强国行动，聚焦智能辅具研发、远程康复、无障碍信息终端等领域，鼓励产学研合作，加快科技成果转化。例如，支持</a:t>
            </a:r>
            <a:r>
              <a:rPr lang="en-US" altLang="zh-CN"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3D</a:t>
            </a:r>
            <a:r>
              <a:rPr lang="zh-CN" altLang="en-US"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打印、可穿戴设备等技术在康复领域的应用。</a:t>
            </a:r>
            <a:endParaRPr lang="zh-CN" altLang="en-US" sz="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endParaRPr>
          </a:p>
        </p:txBody>
      </p:sp>
      <p:sp>
        <p:nvSpPr>
          <p:cNvPr id="50" name="矩形 49"/>
          <p:cNvSpPr/>
          <p:nvPr>
            <p:custDataLst>
              <p:tags r:id="rId15"/>
            </p:custDataLst>
          </p:nvPr>
        </p:nvSpPr>
        <p:spPr>
          <a:xfrm>
            <a:off x="191135" y="1566545"/>
            <a:ext cx="4208780" cy="417830"/>
          </a:xfrm>
          <a:prstGeom prst="rect">
            <a:avLst/>
          </a:prstGeom>
          <a:noFill/>
        </p:spPr>
        <p:txBody>
          <a:bodyPr wrap="square" lIns="0" tIns="0" rIns="0" bIns="0" rtlCol="0" anchor="b" anchorCtr="0">
            <a:noAutofit/>
          </a:bodyPr>
          <a:lstStyle/>
          <a:p>
            <a:pPr algn="r">
              <a:spcBef>
                <a:spcPct val="0"/>
              </a:spcBef>
              <a:spcAft>
                <a:spcPct val="0"/>
              </a:spcAft>
            </a:pPr>
            <a:r>
              <a:rPr lang="zh-CN" altLang="en-US" b="1">
                <a:solidFill>
                  <a:srgbClr val="05B4EB"/>
                </a:solidFill>
                <a:latin typeface="微软雅黑" panose="020B0503020204020204" charset="-122"/>
                <a:cs typeface="微软雅黑" panose="020B0503020204020204" charset="-122"/>
              </a:rPr>
              <a:t>《</a:t>
            </a:r>
            <a:r>
              <a:rPr lang="en-US" altLang="zh-CN" b="1">
                <a:solidFill>
                  <a:srgbClr val="05B4EB"/>
                </a:solidFill>
                <a:latin typeface="微软雅黑" panose="020B0503020204020204" charset="-122"/>
                <a:cs typeface="微软雅黑" panose="020B0503020204020204" charset="-122"/>
              </a:rPr>
              <a:t>“</a:t>
            </a:r>
            <a:r>
              <a:rPr lang="zh-CN" altLang="en-US" b="1">
                <a:solidFill>
                  <a:srgbClr val="05B4EB"/>
                </a:solidFill>
                <a:latin typeface="微软雅黑" panose="020B0503020204020204" charset="-122"/>
                <a:cs typeface="微软雅黑" panose="020B0503020204020204" charset="-122"/>
              </a:rPr>
              <a:t>十四五</a:t>
            </a:r>
            <a:r>
              <a:rPr lang="en-US" altLang="zh-CN" b="1">
                <a:solidFill>
                  <a:srgbClr val="05B4EB"/>
                </a:solidFill>
                <a:latin typeface="微软雅黑" panose="020B0503020204020204" charset="-122"/>
                <a:cs typeface="微软雅黑" panose="020B0503020204020204" charset="-122"/>
              </a:rPr>
              <a:t>”</a:t>
            </a:r>
            <a:r>
              <a:rPr lang="zh-CN" altLang="en-US" b="1">
                <a:solidFill>
                  <a:srgbClr val="05B4EB"/>
                </a:solidFill>
                <a:latin typeface="微软雅黑" panose="020B0503020204020204" charset="-122"/>
                <a:cs typeface="微软雅黑" panose="020B0503020204020204" charset="-122"/>
              </a:rPr>
              <a:t>残疾人保障和发展规划》</a:t>
            </a:r>
            <a:endParaRPr lang="zh-CN" altLang="en-US" b="1">
              <a:solidFill>
                <a:srgbClr val="05B4EB"/>
              </a:solidFill>
              <a:latin typeface="微软雅黑" panose="020B0503020204020204" charset="-122"/>
              <a:cs typeface="微软雅黑" panose="020B0503020204020204" charset="-122"/>
            </a:endParaRPr>
          </a:p>
        </p:txBody>
      </p:sp>
      <p:sp>
        <p:nvSpPr>
          <p:cNvPr id="51" name="矩形 50"/>
          <p:cNvSpPr/>
          <p:nvPr>
            <p:custDataLst>
              <p:tags r:id="rId16"/>
            </p:custDataLst>
          </p:nvPr>
        </p:nvSpPr>
        <p:spPr>
          <a:xfrm>
            <a:off x="275590" y="4387215"/>
            <a:ext cx="3748405" cy="2451735"/>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600">
                <a:ln>
                  <a:noFill/>
                  <a:prstDash val="sysDot"/>
                </a:ln>
                <a:solidFill>
                  <a:sysClr val="window" lastClr="FFFFFF">
                    <a:lumMod val="85000"/>
                    <a:lumOff val="15000"/>
                  </a:sysClr>
                </a:solidFill>
                <a:latin typeface="微软雅黑" panose="020B0503020204020204" charset="-122"/>
                <a:cs typeface="微软雅黑" panose="020B0503020204020204" charset="-122"/>
              </a:rPr>
              <a:t>中国残联等</a:t>
            </a:r>
            <a:r>
              <a:rPr lang="en-US" altLang="zh-CN" sz="1600">
                <a:ln>
                  <a:noFill/>
                  <a:prstDash val="sysDot"/>
                </a:ln>
                <a:solidFill>
                  <a:sysClr val="window" lastClr="FFFFFF">
                    <a:lumMod val="85000"/>
                    <a:lumOff val="15000"/>
                  </a:sysClr>
                </a:solidFill>
                <a:latin typeface="微软雅黑" panose="020B0503020204020204" charset="-122"/>
                <a:cs typeface="微软雅黑" panose="020B0503020204020204" charset="-122"/>
              </a:rPr>
              <a:t>9</a:t>
            </a:r>
            <a:r>
              <a:rPr lang="zh-CN" altLang="en-US" sz="1600">
                <a:ln>
                  <a:noFill/>
                  <a:prstDash val="sysDot"/>
                </a:ln>
                <a:solidFill>
                  <a:sysClr val="window" lastClr="FFFFFF">
                    <a:lumMod val="85000"/>
                    <a:lumOff val="15000"/>
                  </a:sysClr>
                </a:solidFill>
                <a:latin typeface="微软雅黑" panose="020B0503020204020204" charset="-122"/>
                <a:cs typeface="微软雅黑" panose="020B0503020204020204" charset="-122"/>
              </a:rPr>
              <a:t>部门联合印发该文件，明确科技助残的战略目标：到</a:t>
            </a:r>
            <a:r>
              <a:rPr lang="en-US" altLang="zh-CN" sz="1600">
                <a:ln>
                  <a:noFill/>
                  <a:prstDash val="sysDot"/>
                </a:ln>
                <a:solidFill>
                  <a:sysClr val="window" lastClr="FFFFFF">
                    <a:lumMod val="85000"/>
                    <a:lumOff val="15000"/>
                  </a:sysClr>
                </a:solidFill>
                <a:latin typeface="微软雅黑" panose="020B0503020204020204" charset="-122"/>
                <a:cs typeface="微软雅黑" panose="020B0503020204020204" charset="-122"/>
              </a:rPr>
              <a:t>2030</a:t>
            </a:r>
            <a:r>
              <a:rPr lang="zh-CN" altLang="en-US" sz="1600">
                <a:ln>
                  <a:noFill/>
                  <a:prstDash val="sysDot"/>
                </a:ln>
                <a:solidFill>
                  <a:sysClr val="window" lastClr="FFFFFF">
                    <a:lumMod val="85000"/>
                    <a:lumOff val="15000"/>
                  </a:sysClr>
                </a:solidFill>
                <a:latin typeface="微软雅黑" panose="020B0503020204020204" charset="-122"/>
                <a:cs typeface="微软雅黑" panose="020B0503020204020204" charset="-122"/>
              </a:rPr>
              <a:t>年实现助残科技研发能力显著增强，成果转化水平提升；到</a:t>
            </a:r>
            <a:r>
              <a:rPr lang="en-US" altLang="zh-CN" sz="1600">
                <a:ln>
                  <a:noFill/>
                  <a:prstDash val="sysDot"/>
                </a:ln>
                <a:solidFill>
                  <a:sysClr val="window" lastClr="FFFFFF">
                    <a:lumMod val="85000"/>
                    <a:lumOff val="15000"/>
                  </a:sysClr>
                </a:solidFill>
                <a:latin typeface="微软雅黑" panose="020B0503020204020204" charset="-122"/>
                <a:cs typeface="微软雅黑" panose="020B0503020204020204" charset="-122"/>
              </a:rPr>
              <a:t>2035</a:t>
            </a:r>
            <a:r>
              <a:rPr lang="zh-CN" altLang="en-US" sz="1600">
                <a:ln>
                  <a:noFill/>
                  <a:prstDash val="sysDot"/>
                </a:ln>
                <a:solidFill>
                  <a:sysClr val="window" lastClr="FFFFFF">
                    <a:lumMod val="85000"/>
                    <a:lumOff val="15000"/>
                  </a:sysClr>
                </a:solidFill>
                <a:latin typeface="微软雅黑" panose="020B0503020204020204" charset="-122"/>
                <a:cs typeface="微软雅黑" panose="020B0503020204020204" charset="-122"/>
              </a:rPr>
              <a:t>年形成与科技强国相匹配的助残科技创新体系。重点支持人工智能、康复机器人、脑机接口等技术应用，并推动助残科技产业规模化发展。</a:t>
            </a:r>
            <a:endParaRPr lang="zh-CN" altLang="en-US" sz="1600">
              <a:ln>
                <a:noFill/>
                <a:prstDash val="sysDot"/>
              </a:ln>
              <a:solidFill>
                <a:sysClr val="window" lastClr="FFFFFF">
                  <a:lumMod val="85000"/>
                  <a:lumOff val="15000"/>
                </a:sysClr>
              </a:solidFill>
              <a:latin typeface="微软雅黑" panose="020B0503020204020204" charset="-122"/>
              <a:cs typeface="微软雅黑" panose="020B0503020204020204" charset="-122"/>
            </a:endParaRPr>
          </a:p>
        </p:txBody>
      </p:sp>
      <p:cxnSp>
        <p:nvCxnSpPr>
          <p:cNvPr id="52" name="直接连接符 51"/>
          <p:cNvCxnSpPr/>
          <p:nvPr>
            <p:custDataLst>
              <p:tags r:id="rId17"/>
            </p:custDataLst>
          </p:nvPr>
        </p:nvCxnSpPr>
        <p:spPr>
          <a:xfrm>
            <a:off x="1247945" y="5057647"/>
            <a:ext cx="2293056" cy="0"/>
          </a:xfrm>
          <a:prstGeom prst="line">
            <a:avLst/>
          </a:prstGeom>
          <a:noFill/>
          <a:ln w="6350" cap="flat" cmpd="sng" algn="ctr">
            <a:gradFill>
              <a:gsLst>
                <a:gs pos="0">
                  <a:srgbClr val="05B4EB">
                    <a:lumMod val="20000"/>
                    <a:lumOff val="80000"/>
                    <a:alpha val="0"/>
                  </a:srgbClr>
                </a:gs>
                <a:gs pos="95000">
                  <a:srgbClr val="05B4EB"/>
                </a:gs>
              </a:gsLst>
              <a:lin ang="0" scaled="0"/>
            </a:gradFill>
            <a:prstDash val="solid"/>
            <a:miter lim="800000"/>
            <a:headEnd type="none"/>
            <a:tailEnd type="oval"/>
          </a:ln>
          <a:effectLst/>
        </p:spPr>
      </p:cxnSp>
      <p:sp>
        <p:nvSpPr>
          <p:cNvPr id="53" name="矩形 52"/>
          <p:cNvSpPr/>
          <p:nvPr>
            <p:custDataLst>
              <p:tags r:id="rId18"/>
            </p:custDataLst>
          </p:nvPr>
        </p:nvSpPr>
        <p:spPr>
          <a:xfrm>
            <a:off x="275590" y="3676650"/>
            <a:ext cx="3479800" cy="520700"/>
          </a:xfrm>
          <a:prstGeom prst="rect">
            <a:avLst/>
          </a:prstGeom>
          <a:noFill/>
        </p:spPr>
        <p:txBody>
          <a:bodyPr wrap="square" lIns="0" tIns="0" rIns="0" bIns="0" rtlCol="0" anchor="b" anchorCtr="0">
            <a:noAutofit/>
          </a:bodyPr>
          <a:lstStyle/>
          <a:p>
            <a:pPr algn="r">
              <a:spcBef>
                <a:spcPct val="0"/>
              </a:spcBef>
              <a:spcAft>
                <a:spcPct val="0"/>
              </a:spcAft>
            </a:pPr>
            <a:r>
              <a:rPr lang="zh-CN" altLang="en-US" b="1">
                <a:solidFill>
                  <a:srgbClr val="05B4EB"/>
                </a:solidFill>
                <a:latin typeface="微软雅黑" panose="020B0503020204020204" charset="-122"/>
                <a:cs typeface="微软雅黑" panose="020B0503020204020204" charset="-122"/>
              </a:rPr>
              <a:t>《关于推进科技助残的指导意见》</a:t>
            </a:r>
            <a:endParaRPr lang="zh-CN" altLang="en-US" b="1">
              <a:solidFill>
                <a:srgbClr val="05B4EB"/>
              </a:solidFill>
              <a:latin typeface="微软雅黑" panose="020B0503020204020204" charset="-122"/>
              <a:cs typeface="微软雅黑" panose="020B0503020204020204" charset="-122"/>
            </a:endParaRPr>
          </a:p>
        </p:txBody>
      </p:sp>
      <p:cxnSp>
        <p:nvCxnSpPr>
          <p:cNvPr id="54" name="直接连接符 53"/>
          <p:cNvCxnSpPr/>
          <p:nvPr>
            <p:custDataLst>
              <p:tags r:id="rId19"/>
            </p:custDataLst>
          </p:nvPr>
        </p:nvCxnSpPr>
        <p:spPr>
          <a:xfrm>
            <a:off x="8532214" y="2716768"/>
            <a:ext cx="2293056" cy="0"/>
          </a:xfrm>
          <a:prstGeom prst="line">
            <a:avLst/>
          </a:prstGeom>
          <a:noFill/>
          <a:ln w="6350" cap="flat" cmpd="sng" algn="ctr">
            <a:gradFill>
              <a:gsLst>
                <a:gs pos="0">
                  <a:srgbClr val="AFC6FF">
                    <a:alpha val="0"/>
                  </a:srgbClr>
                </a:gs>
                <a:gs pos="95000">
                  <a:srgbClr val="05B4EB"/>
                </a:gs>
              </a:gsLst>
              <a:lin ang="10800000" scaled="1"/>
            </a:gradFill>
            <a:prstDash val="solid"/>
            <a:miter lim="800000"/>
            <a:headEnd type="oval"/>
          </a:ln>
          <a:effectLst/>
        </p:spPr>
      </p:cxnSp>
      <p:sp>
        <p:nvSpPr>
          <p:cNvPr id="55" name="矩形 54"/>
          <p:cNvSpPr/>
          <p:nvPr>
            <p:custDataLst>
              <p:tags r:id="rId20"/>
            </p:custDataLst>
          </p:nvPr>
        </p:nvSpPr>
        <p:spPr>
          <a:xfrm>
            <a:off x="8281035" y="2233930"/>
            <a:ext cx="3329940" cy="1635125"/>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修订《无障碍环境建设法》配套措施，强化数据安全和隐私保护。例如，规范脑机接口等新技术的数据采集范围，加快产品审批和市场准入。</a:t>
            </a:r>
            <a:endParaRPr lang="zh-CN" altLang="en-US"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endParaRPr>
          </a:p>
        </p:txBody>
      </p:sp>
      <p:sp>
        <p:nvSpPr>
          <p:cNvPr id="56" name="矩形 55"/>
          <p:cNvSpPr/>
          <p:nvPr>
            <p:custDataLst>
              <p:tags r:id="rId21"/>
            </p:custDataLst>
          </p:nvPr>
        </p:nvSpPr>
        <p:spPr>
          <a:xfrm>
            <a:off x="8111844" y="1452316"/>
            <a:ext cx="2809285" cy="686464"/>
          </a:xfrm>
          <a:prstGeom prst="rect">
            <a:avLst/>
          </a:prstGeom>
          <a:noFill/>
        </p:spPr>
        <p:txBody>
          <a:bodyPr wrap="square" lIns="0" tIns="0" rIns="0" bIns="0" rtlCol="0" anchor="b" anchorCtr="0">
            <a:noAutofit/>
          </a:bodyPr>
          <a:lstStyle/>
          <a:p>
            <a:pPr>
              <a:spcBef>
                <a:spcPct val="0"/>
              </a:spcBef>
              <a:spcAft>
                <a:spcPct val="0"/>
              </a:spcAft>
            </a:pPr>
            <a:r>
              <a:rPr lang="zh-CN" altLang="en-US" b="1">
                <a:solidFill>
                  <a:srgbClr val="05B4EB"/>
                </a:solidFill>
                <a:latin typeface="微软雅黑" panose="020B0503020204020204" charset="-122"/>
                <a:cs typeface="微软雅黑" panose="020B0503020204020204" charset="-122"/>
              </a:rPr>
              <a:t>《无障碍环境建设法》</a:t>
            </a:r>
            <a:endParaRPr lang="zh-CN" altLang="en-US" b="1">
              <a:solidFill>
                <a:srgbClr val="05B4EB"/>
              </a:solidFill>
              <a:latin typeface="微软雅黑" panose="020B0503020204020204" charset="-122"/>
              <a:cs typeface="微软雅黑" panose="020B0503020204020204" charset="-122"/>
            </a:endParaRPr>
          </a:p>
        </p:txBody>
      </p:sp>
      <p:cxnSp>
        <p:nvCxnSpPr>
          <p:cNvPr id="57" name="直接连接符 56"/>
          <p:cNvCxnSpPr/>
          <p:nvPr>
            <p:custDataLst>
              <p:tags r:id="rId22"/>
            </p:custDataLst>
          </p:nvPr>
        </p:nvCxnSpPr>
        <p:spPr>
          <a:xfrm>
            <a:off x="8532214" y="5022536"/>
            <a:ext cx="2293056" cy="0"/>
          </a:xfrm>
          <a:prstGeom prst="line">
            <a:avLst/>
          </a:prstGeom>
          <a:noFill/>
          <a:ln w="6350" cap="flat" cmpd="sng" algn="ctr">
            <a:gradFill>
              <a:gsLst>
                <a:gs pos="0">
                  <a:srgbClr val="AFC6FF">
                    <a:alpha val="0"/>
                  </a:srgbClr>
                </a:gs>
                <a:gs pos="95000">
                  <a:srgbClr val="05B4EB"/>
                </a:gs>
              </a:gsLst>
              <a:lin ang="10800000" scaled="1"/>
            </a:gradFill>
            <a:prstDash val="solid"/>
            <a:miter lim="800000"/>
            <a:headEnd type="oval"/>
          </a:ln>
          <a:effectLst/>
        </p:spPr>
      </p:cxnSp>
      <p:pic>
        <p:nvPicPr>
          <p:cNvPr id="58" name="图片 6" descr="32313538333630393b32313538333731313bd0cbc8a4c6abbac3"/>
          <p:cNvPicPr>
            <a:picLocks noChangeAspect="1"/>
          </p:cNvPicPr>
          <p:nvPr>
            <p:custDataLst>
              <p:tags r:id="rId23"/>
            </p:custDataLst>
          </p:nvPr>
        </p:nvPicPr>
        <p:blipFill>
          <a:blip r:embed="rId24">
            <a:extLst>
              <a:ext uri="{96DAC541-7B7A-43D3-8B79-37D633B846F1}">
                <asvg:svgBlip xmlns:asvg="http://schemas.microsoft.com/office/drawing/2016/SVG/main" r:embed="rId25"/>
              </a:ext>
            </a:extLst>
          </a:blip>
          <a:stretch>
            <a:fillRect/>
          </a:stretch>
        </p:blipFill>
        <p:spPr>
          <a:xfrm>
            <a:off x="4584311" y="2049205"/>
            <a:ext cx="252000" cy="252000"/>
          </a:xfrm>
          <a:prstGeom prst="rect">
            <a:avLst/>
          </a:prstGeom>
        </p:spPr>
      </p:pic>
      <p:pic>
        <p:nvPicPr>
          <p:cNvPr id="59" name="图片 17" descr="32313538333630393b32313538333732343bbfceb3ccb2a5b7c5"/>
          <p:cNvPicPr>
            <a:picLocks noChangeAspect="1"/>
          </p:cNvPicPr>
          <p:nvPr>
            <p:custDataLst>
              <p:tags r:id="rId26"/>
            </p:custDataLst>
          </p:nvPr>
        </p:nvPicPr>
        <p:blipFill>
          <a:blip r:embed="rId27">
            <a:extLst>
              <a:ext uri="{96DAC541-7B7A-43D3-8B79-37D633B846F1}">
                <asvg:svgBlip xmlns:asvg="http://schemas.microsoft.com/office/drawing/2016/SVG/main" r:embed="rId28"/>
              </a:ext>
            </a:extLst>
          </a:blip>
          <a:stretch>
            <a:fillRect/>
          </a:stretch>
        </p:blipFill>
        <p:spPr>
          <a:xfrm>
            <a:off x="7366712" y="2132814"/>
            <a:ext cx="252000" cy="252000"/>
          </a:xfrm>
          <a:prstGeom prst="rect">
            <a:avLst/>
          </a:prstGeom>
        </p:spPr>
      </p:pic>
      <p:sp>
        <p:nvSpPr>
          <p:cNvPr id="60" name="矩形 59"/>
          <p:cNvSpPr/>
          <p:nvPr>
            <p:custDataLst>
              <p:tags r:id="rId29"/>
            </p:custDataLst>
          </p:nvPr>
        </p:nvSpPr>
        <p:spPr>
          <a:xfrm>
            <a:off x="8360410" y="4565015"/>
            <a:ext cx="3387090" cy="1488440"/>
          </a:xfrm>
          <a:prstGeom prst="rect">
            <a:avLst/>
          </a:prstGeom>
          <a:noFill/>
        </p:spPr>
        <p:txBody>
          <a:bodyPr wrap="square" lIns="0" tIns="0" rIns="0" bIns="0" rtlCol="0" anchor="t" anchorCtr="0">
            <a:noAutofit/>
          </a:bodyPr>
          <a:lstStyle/>
          <a:p>
            <a:pPr>
              <a:lnSpc>
                <a:spcPct val="130000"/>
              </a:lnSpc>
              <a:spcBef>
                <a:spcPct val="0"/>
              </a:spcBef>
              <a:spcAft>
                <a:spcPct val="0"/>
              </a:spcAft>
            </a:pPr>
            <a:r>
              <a:rPr lang="zh-CN" altLang="en-US"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多地推动智能辅具纳入《残疾人辅助器具适配补贴目录》，并探索设备租赁、购买服务等模式。例如，横州市对困难重度残疾人家庭提供</a:t>
            </a:r>
            <a:r>
              <a:rPr lang="en-US" altLang="zh-CN"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4000</a:t>
            </a:r>
            <a:r>
              <a:rPr lang="zh-CN" altLang="en-US"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元</a:t>
            </a:r>
            <a:r>
              <a:rPr lang="en-US" altLang="zh-CN"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a:t>
            </a:r>
            <a:r>
              <a:rPr lang="zh-CN" altLang="en-US"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户的无障碍改造补贴，涵盖智能家居设备适配。</a:t>
            </a:r>
            <a:endParaRPr lang="zh-CN" altLang="en-US" sz="1600" kern="0" dirty="0">
              <a:ln>
                <a:noFill/>
                <a:prstDash val="sysDot"/>
              </a:ln>
              <a:solidFill>
                <a:sysClr val="window" lastClr="FFFFFF">
                  <a:lumMod val="85000"/>
                  <a:lumOff val="15000"/>
                </a:sysClr>
              </a:solidFill>
              <a:latin typeface="微软雅黑" panose="020B0503020204020204" charset="-122"/>
              <a:sym typeface="微软雅黑" panose="020B0503020204020204" charset="-122"/>
            </a:endParaRPr>
          </a:p>
        </p:txBody>
      </p:sp>
      <p:sp>
        <p:nvSpPr>
          <p:cNvPr id="61" name="矩形 60"/>
          <p:cNvSpPr/>
          <p:nvPr>
            <p:custDataLst>
              <p:tags r:id="rId30"/>
            </p:custDataLst>
          </p:nvPr>
        </p:nvSpPr>
        <p:spPr>
          <a:xfrm>
            <a:off x="8403590" y="3933190"/>
            <a:ext cx="3392170" cy="527685"/>
          </a:xfrm>
          <a:prstGeom prst="rect">
            <a:avLst/>
          </a:prstGeom>
          <a:noFill/>
        </p:spPr>
        <p:txBody>
          <a:bodyPr wrap="square" lIns="0" tIns="0" rIns="0" bIns="0" rtlCol="0" anchor="b" anchorCtr="0">
            <a:noAutofit/>
          </a:bodyPr>
          <a:lstStyle/>
          <a:p>
            <a:pPr>
              <a:spcBef>
                <a:spcPct val="0"/>
              </a:spcBef>
              <a:spcAft>
                <a:spcPct val="0"/>
              </a:spcAft>
            </a:pPr>
            <a:r>
              <a:rPr lang="zh-CN" altLang="en-US" b="1">
                <a:solidFill>
                  <a:srgbClr val="05B4EB"/>
                </a:solidFill>
                <a:latin typeface="微软雅黑" panose="020B0503020204020204" charset="-122"/>
                <a:cs typeface="微软雅黑" panose="020B0503020204020204" charset="-122"/>
              </a:rPr>
              <a:t>《残疾人辅助器具适配补贴目录》</a:t>
            </a:r>
            <a:endParaRPr lang="zh-CN" altLang="en-US" b="1">
              <a:solidFill>
                <a:srgbClr val="05B4EB"/>
              </a:solidFill>
              <a:latin typeface="微软雅黑" panose="020B0503020204020204" charset="-122"/>
              <a:cs typeface="微软雅黑" panose="020B0503020204020204" charset="-122"/>
            </a:endParaRPr>
          </a:p>
        </p:txBody>
      </p:sp>
      <p:pic>
        <p:nvPicPr>
          <p:cNvPr id="64" name="图片 18" descr="333438303937363b333438313038303bd7e9d6afbcdcb9b9"/>
          <p:cNvPicPr>
            <a:picLocks noChangeAspect="1"/>
          </p:cNvPicPr>
          <p:nvPr>
            <p:custDataLst>
              <p:tags r:id="rId31"/>
            </p:custDataLst>
          </p:nvPr>
        </p:nvPicPr>
        <p:blipFill>
          <a:blip r:embed="rId32">
            <a:extLst>
              <a:ext uri="{96DAC541-7B7A-43D3-8B79-37D633B846F1}">
                <asvg:svgBlip xmlns:asvg="http://schemas.microsoft.com/office/drawing/2016/SVG/main" r:embed="rId33"/>
              </a:ext>
            </a:extLst>
          </a:blip>
          <a:stretch>
            <a:fillRect/>
          </a:stretch>
        </p:blipFill>
        <p:spPr>
          <a:xfrm>
            <a:off x="7943934" y="4095943"/>
            <a:ext cx="252000" cy="252000"/>
          </a:xfrm>
          <a:prstGeom prst="rect">
            <a:avLst/>
          </a:prstGeom>
        </p:spPr>
      </p:pic>
      <p:pic>
        <p:nvPicPr>
          <p:cNvPr id="65" name="图片 17" descr="333438303937363b333438313037383bcafdbeddb7d6cef6"/>
          <p:cNvPicPr>
            <a:picLocks noChangeAspect="1"/>
          </p:cNvPicPr>
          <p:nvPr>
            <p:custDataLst>
              <p:tags r:id="rId34"/>
            </p:custDataLst>
          </p:nvPr>
        </p:nvPicPr>
        <p:blipFill>
          <a:blip r:embed="rId35">
            <a:extLst>
              <a:ext uri="{96DAC541-7B7A-43D3-8B79-37D633B846F1}">
                <asvg:svgBlip xmlns:asvg="http://schemas.microsoft.com/office/drawing/2016/SVG/main" r:embed="rId36"/>
              </a:ext>
            </a:extLst>
          </a:blip>
          <a:stretch>
            <a:fillRect/>
          </a:stretch>
        </p:blipFill>
        <p:spPr>
          <a:xfrm>
            <a:off x="3935765" y="3933376"/>
            <a:ext cx="252000" cy="252000"/>
          </a:xfrm>
          <a:prstGeom prst="rect">
            <a:avLst/>
          </a:prstGeom>
        </p:spPr>
      </p:pic>
      <p:sp>
        <p:nvSpPr>
          <p:cNvPr id="67" name="文本框 66"/>
          <p:cNvSpPr txBox="1"/>
          <p:nvPr/>
        </p:nvSpPr>
        <p:spPr>
          <a:xfrm>
            <a:off x="2999740" y="240665"/>
            <a:ext cx="6096000" cy="583565"/>
          </a:xfrm>
          <a:prstGeom prst="rect">
            <a:avLst/>
          </a:prstGeom>
          <a:noFill/>
        </p:spPr>
        <p:txBody>
          <a:bodyPr wrap="square" rtlCol="0" anchor="t">
            <a:spAutoFit/>
          </a:bodyPr>
          <a:p>
            <a:r>
              <a:rPr lang="zh-CN" altLang="en-US" sz="3200" b="1">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方正苏新诗柳楷简体" panose="02000000000000000000" charset="-122"/>
                <a:ea typeface="方正苏新诗柳楷简体" panose="02000000000000000000" charset="-122"/>
                <a:cs typeface="方正苏新诗柳楷简体" panose="02000000000000000000" charset="-122"/>
                <a:sym typeface="微软雅黑" panose="020B0503020204020204" charset="-122"/>
              </a:rPr>
              <a:t>┃</a:t>
            </a:r>
            <a:r>
              <a:rPr lang="en-US" altLang="zh-CN" sz="3200" b="1">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方正苏新诗柳楷简体" panose="02000000000000000000" charset="-122"/>
                <a:ea typeface="方正苏新诗柳楷简体" panose="02000000000000000000" charset="-122"/>
                <a:cs typeface="方正苏新诗柳楷简体" panose="02000000000000000000" charset="-122"/>
                <a:sym typeface="微软雅黑" panose="020B0503020204020204" charset="-122"/>
              </a:rPr>
              <a:t> </a:t>
            </a:r>
            <a:r>
              <a:rPr lang="zh-CN" altLang="en-US" sz="3200" b="1">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方正苏新诗柳楷简体" panose="02000000000000000000" charset="-122"/>
                <a:ea typeface="方正苏新诗柳楷简体" panose="02000000000000000000" charset="-122"/>
                <a:cs typeface="方正苏新诗柳楷简体" panose="02000000000000000000" charset="-122"/>
                <a:sym typeface="微软雅黑" panose="020B0503020204020204" charset="-122"/>
              </a:rPr>
              <a:t>国家政策</a:t>
            </a:r>
            <a:endParaRPr lang="zh-CN" altLang="en-US" sz="3200" b="1">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方正苏新诗柳楷简体" panose="02000000000000000000" charset="-122"/>
              <a:ea typeface="方正苏新诗柳楷简体" panose="02000000000000000000" charset="-122"/>
              <a:cs typeface="方正苏新诗柳楷简体" panose="02000000000000000000" charset="-122"/>
              <a:sym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2"/>
          <p:cNvPicPr>
            <a:picLocks noChangeAspect="1"/>
          </p:cNvPicPr>
          <p:nvPr/>
        </p:nvPicPr>
        <p:blipFill>
          <a:blip r:embed="rId1"/>
          <a:stretch>
            <a:fillRect/>
          </a:stretch>
        </p:blipFill>
        <p:spPr>
          <a:xfrm rot="21600000">
            <a:off x="152" y="0"/>
            <a:ext cx="12191695" cy="6858000"/>
          </a:xfrm>
          <a:prstGeom prst="rect">
            <a:avLst/>
          </a:prstGeom>
        </p:spPr>
      </p:pic>
      <p:pic>
        <p:nvPicPr>
          <p:cNvPr id="26" name="picture 26"/>
          <p:cNvPicPr>
            <a:picLocks noChangeAspect="1"/>
          </p:cNvPicPr>
          <p:nvPr/>
        </p:nvPicPr>
        <p:blipFill>
          <a:blip r:embed="rId2"/>
          <a:stretch>
            <a:fillRect/>
          </a:stretch>
        </p:blipFill>
        <p:spPr>
          <a:xfrm rot="21600000">
            <a:off x="63317" y="267465"/>
            <a:ext cx="3320081" cy="489015"/>
          </a:xfrm>
          <a:prstGeom prst="rect">
            <a:avLst/>
          </a:prstGeom>
        </p:spPr>
      </p:pic>
      <p:sp>
        <p:nvSpPr>
          <p:cNvPr id="3" name="标题 1"/>
          <p:cNvSpPr>
            <a:spLocks noGrp="1"/>
          </p:cNvSpPr>
          <p:nvPr>
            <p:custDataLst>
              <p:tags r:id="rId3"/>
            </p:custDataLst>
          </p:nvPr>
        </p:nvSpPr>
        <p:spPr>
          <a:xfrm>
            <a:off x="4062095" y="151765"/>
            <a:ext cx="3664585" cy="72009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gradFill>
                  <a:gsLst>
                    <a:gs pos="33000">
                      <a:srgbClr val="FFFFFF"/>
                    </a:gs>
                    <a:gs pos="100000">
                      <a:srgbClr val="05B4EB"/>
                    </a:gs>
                  </a:gsLst>
                  <a:lin ang="2700000" scaled="0"/>
                </a:gradFill>
                <a:latin typeface="Arial" panose="020B0604020202020204" pitchFamily="34" charset="0"/>
                <a:ea typeface="微软雅黑" panose="020B0503020204020204" charset="-122"/>
                <a:cs typeface="+mn-ea"/>
              </a:defRPr>
            </a:lvl1pPr>
          </a:lstStyle>
          <a:p>
            <a:r>
              <a:rPr lang="zh-CN" altLang="en-US"/>
              <a:t>系统总体设计方案</a:t>
            </a:r>
            <a:endParaRPr lang="zh-CN" altLang="en-US"/>
          </a:p>
        </p:txBody>
      </p:sp>
      <p:sp>
        <p:nvSpPr>
          <p:cNvPr id="4" name="圆角矩形 3"/>
          <p:cNvSpPr/>
          <p:nvPr>
            <p:custDataLst>
              <p:tags r:id="rId4"/>
            </p:custDataLst>
          </p:nvPr>
        </p:nvSpPr>
        <p:spPr>
          <a:xfrm>
            <a:off x="695325" y="1080135"/>
            <a:ext cx="4568190" cy="573214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rgbClr val="05B4EB"/>
          </a:solidFill>
          <a:ln w="12700" cap="flat" cmpd="sng" algn="ctr">
            <a:noFill/>
            <a:prstDash val="solid"/>
            <a:miter lim="800000"/>
          </a:ln>
          <a:effectLst/>
        </p:spPr>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endParaRPr lang="zh-CN" altLang="zh-CN" sz="1400" dirty="0">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useBgFill="1">
        <p:nvSpPr>
          <p:cNvPr id="7" name="圆角矩形 3"/>
          <p:cNvSpPr/>
          <p:nvPr>
            <p:custDataLst>
              <p:tags r:id="rId5"/>
            </p:custDataLst>
          </p:nvPr>
        </p:nvSpPr>
        <p:spPr>
          <a:xfrm>
            <a:off x="479425" y="1124585"/>
            <a:ext cx="4629150" cy="5574030"/>
          </a:xfrm>
          <a:prstGeom prst="roundRect">
            <a:avLst>
              <a:gd name="adj" fmla="val 6621"/>
            </a:avLst>
          </a:prstGeom>
          <a:solidFill>
            <a:sysClr val="window" lastClr="FFFFFF">
              <a:lumMod val="100000"/>
              <a:alpha val="10000"/>
            </a:sysClr>
          </a:solidFill>
          <a:ln w="12700" cap="flat" cmpd="sng" algn="ctr">
            <a:solidFill>
              <a:srgbClr val="05B4EB"/>
            </a:solidFill>
            <a:prstDash val="solid"/>
            <a:miter lim="800000"/>
          </a:ln>
          <a:effectLst/>
        </p:spPr>
        <p:txBody>
          <a:bodyPr vertOverflow="overflow" horzOverflow="overflow" vert="horz" wrap="square" lIns="288290" tIns="252095" rIns="288290" bIns="698500" numCol="1" spcCol="0" rtlCol="0" fromWordArt="0" anchor="t" anchorCtr="0" forceAA="0" compatLnSpc="1">
            <a:noAutofit/>
          </a:bodyPr>
          <a:lstStyle/>
          <a:p>
            <a:pPr marL="171450" indent="-171450" algn="l">
              <a:lnSpc>
                <a:spcPct val="150000"/>
              </a:lnSpc>
              <a:buFont typeface="Wingdings" panose="05000000000000000000" charset="0"/>
              <a:buChar char="u"/>
            </a:pPr>
            <a:r>
              <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STM32主控模块作为核心大脑，连接各传感器模块，如超声波、红外、温度、心率传感器等，实时采集数据。</a:t>
            </a:r>
            <a:endPar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endParaRPr>
          </a:p>
          <a:p>
            <a:pPr marL="171450" indent="-171450" algn="l">
              <a:lnSpc>
                <a:spcPct val="150000"/>
              </a:lnSpc>
              <a:buFont typeface="Wingdings" panose="05000000000000000000" charset="0"/>
              <a:buChar char="u"/>
            </a:pPr>
            <a:r>
              <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通信模块</a:t>
            </a:r>
            <a:r>
              <a:rPr kumimoji="1" lang="zh-CN" altLang="en-US">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包括</a:t>
            </a:r>
            <a:r>
              <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、ATGM336H</a:t>
            </a:r>
            <a:r>
              <a:rPr kumimoji="1" lang="zh-CN" altLang="en-US">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a:t>
            </a:r>
            <a:r>
              <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SIM900A，分别负责定位、数据上传与短信报警，实现信息交互。</a:t>
            </a:r>
            <a:endPar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endParaRPr>
          </a:p>
          <a:p>
            <a:pPr marL="285750" indent="-285750" algn="l">
              <a:lnSpc>
                <a:spcPct val="150000"/>
              </a:lnSpc>
              <a:buFont typeface="Wingdings" panose="05000000000000000000" charset="0"/>
              <a:buChar char="u"/>
            </a:pPr>
            <a:r>
              <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传感器采集数据后，经主控模块处理分析，将结果发送至显示与交互模块，同时通过通信模块上传至云平台。</a:t>
            </a:r>
            <a:endPar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endParaRPr>
          </a:p>
          <a:p>
            <a:pPr marL="285750" indent="-285750" algn="l">
              <a:lnSpc>
                <a:spcPct val="150000"/>
              </a:lnSpc>
              <a:buFont typeface="Wingdings" panose="05000000000000000000" charset="0"/>
              <a:buChar char="u"/>
            </a:pPr>
            <a:r>
              <a:rPr kumimoji="1" lang="en-US" altLang="zh-CN">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云平台接收数据后，可进行远程监控与分析。</a:t>
            </a:r>
            <a:endPar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endParaRPr>
          </a:p>
        </p:txBody>
      </p:sp>
      <p:sp useBgFill="1">
        <p:nvSpPr>
          <p:cNvPr id="8" name="圆角矩形 7"/>
          <p:cNvSpPr/>
          <p:nvPr>
            <p:custDataLst>
              <p:tags r:id="rId6"/>
            </p:custDataLst>
          </p:nvPr>
        </p:nvSpPr>
        <p:spPr>
          <a:xfrm>
            <a:off x="6240145" y="1124585"/>
            <a:ext cx="4629150" cy="5574030"/>
          </a:xfrm>
          <a:prstGeom prst="roundRect">
            <a:avLst>
              <a:gd name="adj" fmla="val 6621"/>
            </a:avLst>
          </a:prstGeom>
          <a:solidFill>
            <a:sysClr val="window" lastClr="FFFFFF">
              <a:lumMod val="100000"/>
              <a:alpha val="10000"/>
            </a:sysClr>
          </a:solidFill>
          <a:ln w="12700" cap="flat" cmpd="sng" algn="ctr">
            <a:solidFill>
              <a:srgbClr val="05B4EB"/>
            </a:solidFill>
            <a:prstDash val="solid"/>
            <a:miter lim="800000"/>
          </a:ln>
          <a:effectLst/>
        </p:spPr>
        <p:txBody>
          <a:bodyPr vertOverflow="overflow" horzOverflow="overflow" vert="horz" wrap="square" lIns="288290" tIns="252095" rIns="288290" bIns="698500" numCol="1" spcCol="0" rtlCol="0" fromWordArt="0" anchor="t" anchorCtr="0" forceAA="0" compatLnSpc="1">
            <a:noAutofit/>
          </a:bodyPr>
          <a:lstStyle/>
          <a:p>
            <a:pPr marL="171450" indent="-171450" algn="l">
              <a:lnSpc>
                <a:spcPct val="150000"/>
              </a:lnSpc>
              <a:buFont typeface="Wingdings" panose="05000000000000000000" charset="0"/>
              <a:buChar char="u"/>
            </a:pP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协处理器由</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ESP32-S3</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担任；</a:t>
            </a:r>
            <a:endPar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endParaRPr>
          </a:p>
          <a:p>
            <a:pPr marL="171450" indent="-171450" algn="l">
              <a:lnSpc>
                <a:spcPct val="150000"/>
              </a:lnSpc>
              <a:buFont typeface="Wingdings" panose="05000000000000000000" charset="0"/>
              <a:buChar char="u"/>
            </a:pP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图像采集模块：</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GC2145 </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高清摄像头</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30fps </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帧率，</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VGA </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分辨率适配物体图像实时采集。</a:t>
            </a:r>
            <a:endPar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endParaRPr>
          </a:p>
          <a:p>
            <a:pPr marL="171450" indent="-171450" algn="l">
              <a:lnSpc>
                <a:spcPct val="150000"/>
              </a:lnSpc>
              <a:buFont typeface="Wingdings" panose="05000000000000000000" charset="0"/>
              <a:buChar char="u"/>
            </a:pP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语音交互模块：</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AI-Thinker LD3320</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支持本地唤醒与指令识别。</a:t>
            </a:r>
            <a:endPar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endParaRPr>
          </a:p>
          <a:p>
            <a:pPr marL="171450" indent="-171450" algn="l">
              <a:lnSpc>
                <a:spcPct val="150000"/>
              </a:lnSpc>
              <a:buFont typeface="Wingdings" panose="05000000000000000000" charset="0"/>
              <a:buChar char="u"/>
            </a:pP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核心算法：基于</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 YOLOv8-nano </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的轻量化目标检测</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 + </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卡尔曼滤波追踪</a:t>
            </a:r>
            <a:endPar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endParaRPr>
          </a:p>
          <a:p>
            <a:pPr marL="171450" indent="-171450" algn="l">
              <a:lnSpc>
                <a:spcPct val="150000"/>
              </a:lnSpc>
              <a:buFont typeface="Wingdings" panose="05000000000000000000" charset="0"/>
              <a:buChar char="u"/>
            </a:pP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多任务调度：使用</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 ESP-IDF </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的</a:t>
            </a:r>
            <a:r>
              <a:rPr kumimoji="1" lang="en-US" altLang="zh-CN"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FreeRTOS</a:t>
            </a:r>
            <a:r>
              <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创建独立任务（图像采集、模型推理、指令生成），通过队列传递数据，避免阻塞。</a:t>
            </a:r>
            <a:endParaRPr kumimoji="1" lang="zh-CN" altLang="en-US" dirty="0">
              <a:ln w="12700">
                <a:noFill/>
              </a:ln>
              <a:gradFill>
                <a:gsLst>
                  <a:gs pos="50000">
                    <a:sysClr val="window" lastClr="FFFFFF"/>
                  </a:gs>
                  <a:gs pos="0">
                    <a:sysClr val="window" lastClr="FFFFFF">
                      <a:lumMod val="25000"/>
                      <a:lumOff val="75000"/>
                    </a:sysClr>
                  </a:gs>
                  <a:gs pos="100000">
                    <a:sysClr val="window" lastClr="FFFFFF">
                      <a:lumMod val="85000"/>
                    </a:sysClr>
                  </a:gs>
                </a:gsLst>
                <a:lin ang="5400000" scaled="1"/>
              </a:gradFill>
              <a:latin typeface="Franklin Gothic Medium" panose="020B0603020102020204" charset="0"/>
              <a:ea typeface="微软雅黑" panose="020B0503020204020204" charset="-122"/>
              <a:cs typeface="Source Han Sans" panose="020B0500000000000000" charset="-122"/>
              <a:sym typeface="微软雅黑" panose="020B0503020204020204" charset="-122"/>
            </a:endParaRPr>
          </a:p>
        </p:txBody>
      </p:sp>
      <p:sp>
        <p:nvSpPr>
          <p:cNvPr id="9" name="圆角矩形 3"/>
          <p:cNvSpPr/>
          <p:nvPr>
            <p:custDataLst>
              <p:tags r:id="rId7"/>
            </p:custDataLst>
          </p:nvPr>
        </p:nvSpPr>
        <p:spPr>
          <a:xfrm>
            <a:off x="6456045" y="1080135"/>
            <a:ext cx="4568190" cy="5732145"/>
          </a:xfrm>
          <a:custGeom>
            <a:avLst/>
            <a:gdLst>
              <a:gd name="adj" fmla="val 6621"/>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5239" h="6687">
                <a:moveTo>
                  <a:pt x="5035" y="0"/>
                </a:moveTo>
                <a:lnTo>
                  <a:pt x="5041" y="3"/>
                </a:lnTo>
                <a:cubicBezTo>
                  <a:pt x="5158" y="59"/>
                  <a:pt x="5239" y="179"/>
                  <a:pt x="5239" y="318"/>
                </a:cubicBezTo>
                <a:lnTo>
                  <a:pt x="5239" y="6337"/>
                </a:lnTo>
                <a:cubicBezTo>
                  <a:pt x="5239" y="6531"/>
                  <a:pt x="5083" y="6687"/>
                  <a:pt x="4889" y="6687"/>
                </a:cubicBezTo>
                <a:lnTo>
                  <a:pt x="307" y="6687"/>
                </a:lnTo>
                <a:cubicBezTo>
                  <a:pt x="180" y="6687"/>
                  <a:pt x="69" y="6620"/>
                  <a:pt x="8" y="6519"/>
                </a:cubicBezTo>
                <a:lnTo>
                  <a:pt x="0" y="6505"/>
                </a:lnTo>
                <a:lnTo>
                  <a:pt x="10" y="6510"/>
                </a:lnTo>
                <a:cubicBezTo>
                  <a:pt x="52" y="6527"/>
                  <a:pt x="98" y="6537"/>
                  <a:pt x="146" y="6537"/>
                </a:cubicBezTo>
                <a:lnTo>
                  <a:pt x="4728" y="6537"/>
                </a:lnTo>
                <a:cubicBezTo>
                  <a:pt x="4922" y="6537"/>
                  <a:pt x="5078" y="6381"/>
                  <a:pt x="5078" y="6187"/>
                </a:cubicBezTo>
                <a:lnTo>
                  <a:pt x="5078" y="168"/>
                </a:lnTo>
                <a:cubicBezTo>
                  <a:pt x="5078" y="107"/>
                  <a:pt x="5063" y="51"/>
                  <a:pt x="5036" y="1"/>
                </a:cubicBezTo>
                <a:lnTo>
                  <a:pt x="5035" y="0"/>
                </a:lnTo>
                <a:close/>
              </a:path>
            </a:pathLst>
          </a:custGeom>
          <a:solidFill>
            <a:srgbClr val="05B4EB"/>
          </a:solidFill>
          <a:ln w="12700" cap="flat" cmpd="sng" algn="ctr">
            <a:noFill/>
            <a:prstDash val="solid"/>
            <a:miter lim="800000"/>
          </a:ln>
          <a:effectLst/>
        </p:spPr>
        <p:txBody>
          <a:bodyPr vertOverflow="overflow" horzOverflow="overflow" vert="horz" wrap="square" lIns="323850" tIns="215900" rIns="179705" bIns="698500" numCol="1" spcCol="0" rtlCol="0" fromWordArt="0" anchor="t" anchorCtr="0" forceAA="0" compatLnSpc="1">
            <a:noAutofit/>
          </a:bodyPr>
          <a:lstStyle/>
          <a:p>
            <a:pPr lvl="0" algn="l">
              <a:lnSpc>
                <a:spcPct val="140000"/>
              </a:lnSpc>
              <a:buClrTx/>
              <a:buSzTx/>
              <a:buFontTx/>
            </a:pPr>
            <a:endParaRPr lang="zh-CN" altLang="zh-CN" sz="1400" dirty="0">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2"/>
          <p:cNvPicPr>
            <a:picLocks noChangeAspect="1"/>
          </p:cNvPicPr>
          <p:nvPr/>
        </p:nvPicPr>
        <p:blipFill>
          <a:blip r:embed="rId1"/>
          <a:stretch>
            <a:fillRect/>
          </a:stretch>
        </p:blipFill>
        <p:spPr>
          <a:xfrm rot="21600000">
            <a:off x="152" y="0"/>
            <a:ext cx="12191695" cy="6858000"/>
          </a:xfrm>
          <a:prstGeom prst="rect">
            <a:avLst/>
          </a:prstGeom>
        </p:spPr>
      </p:pic>
      <p:pic>
        <p:nvPicPr>
          <p:cNvPr id="26" name="picture 26"/>
          <p:cNvPicPr>
            <a:picLocks noChangeAspect="1"/>
          </p:cNvPicPr>
          <p:nvPr/>
        </p:nvPicPr>
        <p:blipFill>
          <a:blip r:embed="rId2"/>
          <a:stretch>
            <a:fillRect/>
          </a:stretch>
        </p:blipFill>
        <p:spPr>
          <a:xfrm rot="21600000">
            <a:off x="63317" y="267465"/>
            <a:ext cx="3320081" cy="489015"/>
          </a:xfrm>
          <a:prstGeom prst="rect">
            <a:avLst/>
          </a:prstGeom>
        </p:spPr>
      </p:pic>
      <p:sp>
        <p:nvSpPr>
          <p:cNvPr id="6" name="标题 16"/>
          <p:cNvSpPr>
            <a:spLocks noGrp="1"/>
          </p:cNvSpPr>
          <p:nvPr>
            <p:custDataLst>
              <p:tags r:id="rId3"/>
            </p:custDataLst>
          </p:nvPr>
        </p:nvSpPr>
        <p:spPr>
          <a:xfrm>
            <a:off x="4864735" y="327660"/>
            <a:ext cx="2757805" cy="72009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gradFill>
                  <a:gsLst>
                    <a:gs pos="33000">
                      <a:srgbClr val="FFFFFF"/>
                    </a:gs>
                    <a:gs pos="100000">
                      <a:srgbClr val="05B4EB"/>
                    </a:gs>
                  </a:gsLst>
                  <a:lin ang="2700000" scaled="0"/>
                </a:gradFill>
                <a:latin typeface="Arial" panose="020B0604020202020204" pitchFamily="34" charset="0"/>
                <a:ea typeface="微软雅黑" panose="020B0503020204020204" charset="-122"/>
                <a:cs typeface="+mn-ea"/>
              </a:defRPr>
            </a:lvl1pPr>
          </a:lstStyle>
          <a:p>
            <a:r>
              <a:rPr lang="zh-CN" altLang="en-US"/>
              <a:t>功能概述</a:t>
            </a:r>
            <a:endParaRPr lang="zh-CN" altLang="en-US"/>
          </a:p>
        </p:txBody>
      </p:sp>
      <p:sp>
        <p:nvSpPr>
          <p:cNvPr id="10" name="圆角矩形 9"/>
          <p:cNvSpPr/>
          <p:nvPr>
            <p:custDataLst>
              <p:tags r:id="rId4"/>
            </p:custDataLst>
          </p:nvPr>
        </p:nvSpPr>
        <p:spPr>
          <a:xfrm>
            <a:off x="726440" y="1453515"/>
            <a:ext cx="1986280" cy="4401185"/>
          </a:xfrm>
          <a:prstGeom prst="roundRect">
            <a:avLst>
              <a:gd name="adj" fmla="val 6556"/>
            </a:avLst>
          </a:prstGeom>
          <a:gradFill>
            <a:gsLst>
              <a:gs pos="0">
                <a:srgbClr val="05B4EB">
                  <a:alpha val="40000"/>
                </a:srgbClr>
              </a:gs>
              <a:gs pos="100000">
                <a:srgbClr val="FFFFFF">
                  <a:alpha val="0"/>
                </a:srgbClr>
              </a:gs>
            </a:gsLst>
            <a:lin ang="16200000" scaled="0"/>
          </a:gradFill>
          <a:ln w="9525" cap="flat" cmpd="sng" algn="ctr">
            <a:solidFill>
              <a:srgbClr val="05B4EB">
                <a:alpha val="20000"/>
              </a:srgbClr>
            </a:solid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11" name="标题"/>
          <p:cNvSpPr txBox="1"/>
          <p:nvPr>
            <p:custDataLst>
              <p:tags r:id="rId5"/>
            </p:custDataLst>
          </p:nvPr>
        </p:nvSpPr>
        <p:spPr>
          <a:xfrm>
            <a:off x="691515" y="1804670"/>
            <a:ext cx="1967865" cy="548640"/>
          </a:xfrm>
          <a:prstGeom prst="rect">
            <a:avLst/>
          </a:prstGeom>
          <a:noFill/>
        </p:spPr>
        <p:txBody>
          <a:bodyPr wrap="square" lIns="0" tIns="0" rIns="0" bIns="0" rtlCol="0" anchor="ctr">
            <a:noAutofit/>
          </a:bodyPr>
          <a:lstStyle/>
          <a:p>
            <a:pPr algn="ctr"/>
            <a:r>
              <a:rPr lang="zh-CN" altLang="en-US" sz="2400" b="1" spc="300" dirty="0">
                <a:solidFill>
                  <a:sysClr val="window" lastClr="FFFFFF">
                    <a:lumMod val="85000"/>
                    <a:lumOff val="15000"/>
                  </a:sysClr>
                </a:solidFill>
                <a:latin typeface="微软雅黑" panose="020B0503020204020204" charset="-122"/>
              </a:rPr>
              <a:t>抓取引导与路径规划</a:t>
            </a:r>
            <a:endParaRPr lang="zh-CN" altLang="en-US" sz="2400" b="1" spc="300" dirty="0">
              <a:solidFill>
                <a:sysClr val="window" lastClr="FFFFFF">
                  <a:lumMod val="85000"/>
                  <a:lumOff val="15000"/>
                </a:sysClr>
              </a:solidFill>
              <a:latin typeface="微软雅黑" panose="020B0503020204020204" charset="-122"/>
            </a:endParaRPr>
          </a:p>
        </p:txBody>
      </p:sp>
      <p:sp>
        <p:nvSpPr>
          <p:cNvPr id="13" name="圆角矩形 12"/>
          <p:cNvSpPr/>
          <p:nvPr>
            <p:custDataLst>
              <p:tags r:id="rId6"/>
            </p:custDataLst>
          </p:nvPr>
        </p:nvSpPr>
        <p:spPr>
          <a:xfrm>
            <a:off x="3010535" y="1484630"/>
            <a:ext cx="1986280" cy="4401185"/>
          </a:xfrm>
          <a:prstGeom prst="roundRect">
            <a:avLst>
              <a:gd name="adj" fmla="val 6556"/>
            </a:avLst>
          </a:prstGeom>
          <a:gradFill>
            <a:gsLst>
              <a:gs pos="0">
                <a:srgbClr val="05B4EB">
                  <a:alpha val="40000"/>
                </a:srgbClr>
              </a:gs>
              <a:gs pos="100000">
                <a:srgbClr val="FFFFFF">
                  <a:alpha val="0"/>
                </a:srgbClr>
              </a:gs>
            </a:gsLst>
            <a:lin ang="16200000" scaled="0"/>
          </a:gradFill>
          <a:ln w="9525" cap="flat" cmpd="sng" algn="ctr">
            <a:solidFill>
              <a:srgbClr val="05B4EB">
                <a:alpha val="20000"/>
              </a:srgbClr>
            </a:solid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14" name="标题"/>
          <p:cNvSpPr txBox="1"/>
          <p:nvPr>
            <p:custDataLst>
              <p:tags r:id="rId7"/>
            </p:custDataLst>
          </p:nvPr>
        </p:nvSpPr>
        <p:spPr>
          <a:xfrm>
            <a:off x="3060700" y="1654810"/>
            <a:ext cx="1875790" cy="653415"/>
          </a:xfrm>
          <a:prstGeom prst="rect">
            <a:avLst/>
          </a:prstGeom>
          <a:noFill/>
        </p:spPr>
        <p:txBody>
          <a:bodyPr wrap="square" lIns="0" tIns="0" rIns="0" bIns="0" rtlCol="0" anchor="ctr">
            <a:noAutofit/>
          </a:bodyPr>
          <a:lstStyle/>
          <a:p>
            <a:pPr algn="ctr"/>
            <a:r>
              <a:rPr lang="zh-CN" altLang="en-US" sz="2400" b="1" spc="300" dirty="0">
                <a:solidFill>
                  <a:sysClr val="window" lastClr="FFFFFF"/>
                </a:solidFill>
                <a:latin typeface="微软雅黑" panose="020B0503020204020204" charset="-122"/>
              </a:rPr>
              <a:t>健康监测</a:t>
            </a:r>
            <a:endParaRPr lang="zh-CN" altLang="en-US" sz="2400" b="1" spc="300" dirty="0">
              <a:solidFill>
                <a:sysClr val="window" lastClr="FFFFFF"/>
              </a:solidFill>
              <a:latin typeface="微软雅黑" panose="020B0503020204020204" charset="-122"/>
            </a:endParaRPr>
          </a:p>
        </p:txBody>
      </p:sp>
      <p:sp>
        <p:nvSpPr>
          <p:cNvPr id="15" name="圆角矩形 14"/>
          <p:cNvSpPr/>
          <p:nvPr>
            <p:custDataLst>
              <p:tags r:id="rId8"/>
            </p:custDataLst>
          </p:nvPr>
        </p:nvSpPr>
        <p:spPr>
          <a:xfrm>
            <a:off x="5124450" y="1453515"/>
            <a:ext cx="1986280" cy="4401185"/>
          </a:xfrm>
          <a:prstGeom prst="roundRect">
            <a:avLst>
              <a:gd name="adj" fmla="val 6556"/>
            </a:avLst>
          </a:prstGeom>
          <a:gradFill>
            <a:gsLst>
              <a:gs pos="0">
                <a:srgbClr val="05B4EB">
                  <a:alpha val="40000"/>
                </a:srgbClr>
              </a:gs>
              <a:gs pos="100000">
                <a:srgbClr val="FFFFFF">
                  <a:alpha val="0"/>
                </a:srgbClr>
              </a:gs>
            </a:gsLst>
            <a:lin ang="16200000" scaled="0"/>
          </a:gradFill>
          <a:ln w="9525" cap="flat" cmpd="sng" algn="ctr">
            <a:solidFill>
              <a:srgbClr val="05B4EB">
                <a:alpha val="20000"/>
              </a:srgbClr>
            </a:solid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16" name="标题"/>
          <p:cNvSpPr txBox="1"/>
          <p:nvPr>
            <p:custDataLst>
              <p:tags r:id="rId9"/>
            </p:custDataLst>
          </p:nvPr>
        </p:nvSpPr>
        <p:spPr>
          <a:xfrm>
            <a:off x="5154295" y="1877060"/>
            <a:ext cx="1925955" cy="476250"/>
          </a:xfrm>
          <a:prstGeom prst="rect">
            <a:avLst/>
          </a:prstGeom>
          <a:noFill/>
        </p:spPr>
        <p:txBody>
          <a:bodyPr wrap="square" lIns="0" tIns="0" rIns="0" bIns="0" rtlCol="0" anchor="ctr">
            <a:noAutofit/>
          </a:bodyPr>
          <a:lstStyle/>
          <a:p>
            <a:pPr algn="ctr"/>
            <a:r>
              <a:rPr lang="zh-CN" altLang="en-US" sz="2400" b="1" spc="300" dirty="0">
                <a:solidFill>
                  <a:sysClr val="window" lastClr="FFFFFF">
                    <a:lumMod val="85000"/>
                    <a:lumOff val="15000"/>
                  </a:sysClr>
                </a:solidFill>
                <a:latin typeface="微软雅黑" panose="020B0503020204020204" charset="-122"/>
              </a:rPr>
              <a:t>物体深度识别与语音交互</a:t>
            </a:r>
            <a:endParaRPr lang="zh-CN" altLang="en-US" sz="2400" b="1" spc="300" dirty="0">
              <a:solidFill>
                <a:sysClr val="window" lastClr="FFFFFF">
                  <a:lumMod val="85000"/>
                  <a:lumOff val="15000"/>
                </a:sysClr>
              </a:solidFill>
              <a:latin typeface="微软雅黑" panose="020B0503020204020204" charset="-122"/>
            </a:endParaRPr>
          </a:p>
        </p:txBody>
      </p:sp>
      <p:sp>
        <p:nvSpPr>
          <p:cNvPr id="19" name="圆角矩形 18"/>
          <p:cNvSpPr/>
          <p:nvPr>
            <p:custDataLst>
              <p:tags r:id="rId10"/>
            </p:custDataLst>
          </p:nvPr>
        </p:nvSpPr>
        <p:spPr>
          <a:xfrm>
            <a:off x="7323455" y="1453515"/>
            <a:ext cx="1986280" cy="4401185"/>
          </a:xfrm>
          <a:prstGeom prst="roundRect">
            <a:avLst>
              <a:gd name="adj" fmla="val 6556"/>
            </a:avLst>
          </a:prstGeom>
          <a:gradFill>
            <a:gsLst>
              <a:gs pos="0">
                <a:srgbClr val="05B4EB">
                  <a:alpha val="40000"/>
                </a:srgbClr>
              </a:gs>
              <a:gs pos="100000">
                <a:srgbClr val="FFFFFF">
                  <a:alpha val="0"/>
                </a:srgbClr>
              </a:gs>
            </a:gsLst>
            <a:lin ang="16200000" scaled="0"/>
          </a:gradFill>
          <a:ln w="9525" cap="flat" cmpd="sng" algn="ctr">
            <a:solidFill>
              <a:srgbClr val="05B4EB">
                <a:alpha val="20000"/>
              </a:srgbClr>
            </a:solid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20" name="标题"/>
          <p:cNvSpPr txBox="1"/>
          <p:nvPr>
            <p:custDataLst>
              <p:tags r:id="rId11"/>
            </p:custDataLst>
          </p:nvPr>
        </p:nvSpPr>
        <p:spPr>
          <a:xfrm>
            <a:off x="7348220" y="1804670"/>
            <a:ext cx="1947545" cy="648970"/>
          </a:xfrm>
          <a:prstGeom prst="rect">
            <a:avLst/>
          </a:prstGeom>
          <a:noFill/>
        </p:spPr>
        <p:txBody>
          <a:bodyPr wrap="square" lIns="0" tIns="0" rIns="0" bIns="0" rtlCol="0" anchor="ctr">
            <a:noAutofit/>
          </a:bodyPr>
          <a:lstStyle/>
          <a:p>
            <a:pPr algn="ctr">
              <a:lnSpc>
                <a:spcPct val="120000"/>
              </a:lnSpc>
            </a:pPr>
            <a:r>
              <a:rPr kumimoji="1" lang="zh-CN" altLang="en-US" sz="2400" b="1">
                <a:ln w="12700">
                  <a:noFill/>
                </a:ln>
                <a:solidFill>
                  <a:sysClr val="window" lastClr="FFFFFF">
                    <a:alpha val="100000"/>
                  </a:sysClr>
                </a:solidFill>
                <a:latin typeface="Franklin Gothic Medium" panose="020B0603020102020204" charset="0"/>
                <a:ea typeface="微软雅黑" panose="020B0503020204020204" charset="-122"/>
                <a:cs typeface="Source Han Sans CN Bold" panose="020B0800000000000000" charset="-122"/>
                <a:sym typeface="微软雅黑" panose="020B0503020204020204" charset="-122"/>
              </a:rPr>
              <a:t>定位与安全保障</a:t>
            </a:r>
            <a:endParaRPr lang="zh-CN" altLang="en-US" sz="2400" b="1" spc="300" dirty="0">
              <a:solidFill>
                <a:sysClr val="window" lastClr="FFFFFF">
                  <a:lumMod val="85000"/>
                  <a:lumOff val="15000"/>
                </a:sysClr>
              </a:solidFill>
              <a:latin typeface="微软雅黑" panose="020B0503020204020204" charset="-122"/>
            </a:endParaRPr>
          </a:p>
        </p:txBody>
      </p:sp>
      <p:sp>
        <p:nvSpPr>
          <p:cNvPr id="21" name="圆角矩形 20"/>
          <p:cNvSpPr/>
          <p:nvPr>
            <p:custDataLst>
              <p:tags r:id="rId12"/>
            </p:custDataLst>
          </p:nvPr>
        </p:nvSpPr>
        <p:spPr>
          <a:xfrm>
            <a:off x="9522460" y="1453515"/>
            <a:ext cx="1986280" cy="4401185"/>
          </a:xfrm>
          <a:prstGeom prst="roundRect">
            <a:avLst>
              <a:gd name="adj" fmla="val 6556"/>
            </a:avLst>
          </a:prstGeom>
          <a:gradFill>
            <a:gsLst>
              <a:gs pos="0">
                <a:srgbClr val="05B4EB">
                  <a:alpha val="40000"/>
                </a:srgbClr>
              </a:gs>
              <a:gs pos="100000">
                <a:srgbClr val="FFFFFF">
                  <a:alpha val="0"/>
                </a:srgbClr>
              </a:gs>
            </a:gsLst>
            <a:lin ang="16200000" scaled="0"/>
          </a:gradFill>
          <a:ln w="9525" cap="flat" cmpd="sng" algn="ctr">
            <a:solidFill>
              <a:srgbClr val="05B4EB">
                <a:alpha val="20000"/>
              </a:srgbClr>
            </a:solid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23" name="标题"/>
          <p:cNvSpPr txBox="1"/>
          <p:nvPr>
            <p:custDataLst>
              <p:tags r:id="rId13"/>
            </p:custDataLst>
          </p:nvPr>
        </p:nvSpPr>
        <p:spPr>
          <a:xfrm>
            <a:off x="9575800" y="1804670"/>
            <a:ext cx="1872615" cy="533400"/>
          </a:xfrm>
          <a:prstGeom prst="rect">
            <a:avLst/>
          </a:prstGeom>
          <a:noFill/>
        </p:spPr>
        <p:txBody>
          <a:bodyPr wrap="square" lIns="0" tIns="0" rIns="0" bIns="0" rtlCol="0" anchor="ctr">
            <a:noAutofit/>
          </a:bodyPr>
          <a:lstStyle/>
          <a:p>
            <a:pPr algn="ctr"/>
            <a:r>
              <a:rPr lang="zh-CN" altLang="en-US" sz="2400" b="1" spc="300" dirty="0">
                <a:solidFill>
                  <a:sysClr val="window" lastClr="FFFFFF">
                    <a:lumMod val="85000"/>
                    <a:lumOff val="15000"/>
                  </a:sysClr>
                </a:solidFill>
                <a:latin typeface="微软雅黑" panose="020B0503020204020204" charset="-122"/>
              </a:rPr>
              <a:t>云平台管理</a:t>
            </a:r>
            <a:endParaRPr lang="zh-CN" altLang="en-US" sz="2400" b="1" spc="300" dirty="0">
              <a:solidFill>
                <a:sysClr val="window" lastClr="FFFFFF">
                  <a:lumMod val="85000"/>
                  <a:lumOff val="15000"/>
                </a:sysClr>
              </a:solidFill>
              <a:latin typeface="微软雅黑" panose="020B0503020204020204" charset="-122"/>
            </a:endParaRPr>
          </a:p>
        </p:txBody>
      </p:sp>
      <p:sp>
        <p:nvSpPr>
          <p:cNvPr id="24" name="正文"/>
          <p:cNvSpPr txBox="1"/>
          <p:nvPr>
            <p:custDataLst>
              <p:tags r:id="rId14"/>
            </p:custDataLst>
          </p:nvPr>
        </p:nvSpPr>
        <p:spPr>
          <a:xfrm>
            <a:off x="770255" y="2637155"/>
            <a:ext cx="1939925" cy="3120390"/>
          </a:xfrm>
          <a:prstGeom prst="rect">
            <a:avLst/>
          </a:prstGeom>
          <a:noFill/>
        </p:spPr>
        <p:txBody>
          <a:bodyPr wrap="square" lIns="0" tIns="0" rIns="0" bIns="0" rtlCol="0" anchor="t" anchorCtr="0">
            <a:noAutofit/>
          </a:bodyPr>
          <a:lstStyle/>
          <a:p>
            <a:pPr indent="0" algn="l">
              <a:lnSpc>
                <a:spcPct val="150000"/>
              </a:lnSpc>
              <a:buNone/>
            </a:pPr>
            <a:r>
              <a:rPr kumimoji="1" lang="zh-CN" altLang="en-US"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实时跟踪手部位置，语音持续提示</a:t>
            </a:r>
            <a:r>
              <a:rPr kumimoji="1" lang="en-US" altLang="zh-CN"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 “</a:t>
            </a:r>
            <a:r>
              <a:rPr kumimoji="1" lang="zh-CN" altLang="en-US"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向左</a:t>
            </a:r>
            <a:r>
              <a:rPr kumimoji="1" lang="en-US" altLang="zh-CN"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a:t>
            </a:r>
            <a:r>
              <a:rPr kumimoji="1" lang="zh-CN" altLang="en-US"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向右</a:t>
            </a:r>
            <a:r>
              <a:rPr kumimoji="1" lang="en-US" altLang="zh-CN"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a:t>
            </a:r>
            <a:r>
              <a:rPr kumimoji="1" lang="zh-CN" altLang="en-US"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。至成功抓取目标。</a:t>
            </a:r>
            <a:endParaRPr kumimoji="1" lang="zh-CN" altLang="en-US"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endParaRPr>
          </a:p>
          <a:p>
            <a:pPr indent="0" algn="l">
              <a:lnSpc>
                <a:spcPct val="150000"/>
              </a:lnSpc>
              <a:buNone/>
            </a:pPr>
            <a:r>
              <a:rPr kumimoji="1" lang="zh-CN" altLang="en-US"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实时分析视障用户周边障碍分布、行进方向及目标位置，自动生成最优安全行进路线，并以语音实时指引的方式，帮助用户避开障碍。</a:t>
            </a:r>
            <a:endParaRPr kumimoji="1" lang="zh-CN" altLang="en-US" sz="1400" kern="0" dirty="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endParaRPr>
          </a:p>
        </p:txBody>
      </p:sp>
      <p:cxnSp>
        <p:nvCxnSpPr>
          <p:cNvPr id="25" name="直接连接符 24"/>
          <p:cNvCxnSpPr/>
          <p:nvPr>
            <p:custDataLst>
              <p:tags r:id="rId15"/>
            </p:custDataLst>
          </p:nvPr>
        </p:nvCxnSpPr>
        <p:spPr>
          <a:xfrm>
            <a:off x="938530" y="2611120"/>
            <a:ext cx="1562100" cy="0"/>
          </a:xfrm>
          <a:prstGeom prst="line">
            <a:avLst/>
          </a:prstGeom>
          <a:noFill/>
          <a:ln w="12700" cap="flat" cmpd="sng" algn="ctr">
            <a:gradFill>
              <a:gsLst>
                <a:gs pos="100000">
                  <a:srgbClr val="05B4EB">
                    <a:alpha val="0"/>
                  </a:srgbClr>
                </a:gs>
                <a:gs pos="0">
                  <a:srgbClr val="05B4EB">
                    <a:alpha val="44000"/>
                  </a:srgbClr>
                </a:gs>
              </a:gsLst>
              <a:path path="circle">
                <a:fillToRect l="50000" t="50000" r="50000" b="50000"/>
              </a:path>
              <a:tileRect/>
            </a:gradFill>
            <a:prstDash val="solid"/>
            <a:miter lim="800000"/>
          </a:ln>
          <a:effectLst>
            <a:outerShdw blurRad="50800" dist="25400" dir="5400000" algn="t" rotWithShape="0">
              <a:srgbClr val="05B4EB">
                <a:lumMod val="75000"/>
                <a:alpha val="16000"/>
              </a:srgbClr>
            </a:outerShdw>
          </a:effectLst>
        </p:spPr>
      </p:cxnSp>
      <p:sp>
        <p:nvSpPr>
          <p:cNvPr id="29" name="正文"/>
          <p:cNvSpPr txBox="1"/>
          <p:nvPr>
            <p:custDataLst>
              <p:tags r:id="rId16"/>
            </p:custDataLst>
          </p:nvPr>
        </p:nvSpPr>
        <p:spPr>
          <a:xfrm>
            <a:off x="3079750" y="2637155"/>
            <a:ext cx="1847215" cy="2364105"/>
          </a:xfrm>
          <a:prstGeom prst="rect">
            <a:avLst/>
          </a:prstGeom>
          <a:noFill/>
        </p:spPr>
        <p:txBody>
          <a:bodyPr wrap="square" lIns="0" tIns="0" rIns="0" bIns="0" rtlCol="0" anchor="t" anchorCtr="0">
            <a:noAutofit/>
          </a:bodyPr>
          <a:lstStyle/>
          <a:p>
            <a:pPr indent="0" algn="l">
              <a:lnSpc>
                <a:spcPct val="150000"/>
              </a:lnSpc>
              <a:buNone/>
            </a:pPr>
            <a:r>
              <a:rPr kumimoji="1" lang="en-US" altLang="zh-CN"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温度传感器实时监测盲人温度</a:t>
            </a:r>
            <a:r>
              <a:rPr kumimoji="1" lang="zh-CN" altLang="en-US"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a:t>
            </a:r>
            <a:r>
              <a:rPr kumimoji="1" lang="en-US" altLang="zh-CN"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心率传感器检测心率变化，</a:t>
            </a:r>
            <a:r>
              <a:rPr kumimoji="1" lang="zh-CN" altLang="en-US"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采集到的数据通过</a:t>
            </a:r>
            <a:r>
              <a:rPr kumimoji="1" lang="en-US" altLang="zh-CN"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WiFi</a:t>
            </a:r>
            <a:r>
              <a:rPr kumimoji="1" lang="zh-CN" altLang="en-US"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模块实时上传到云平台，可</a:t>
            </a:r>
            <a:r>
              <a:rPr kumimoji="1" lang="en-US" altLang="zh-CN"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及时发现异常情况。</a:t>
            </a:r>
            <a:endParaRPr kumimoji="1" lang="en-US" altLang="zh-CN"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endParaRPr>
          </a:p>
          <a:p>
            <a:pPr indent="0" algn="l">
              <a:lnSpc>
                <a:spcPct val="150000"/>
              </a:lnSpc>
              <a:buNone/>
            </a:pPr>
            <a:r>
              <a:rPr kumimoji="1" lang="en-US" altLang="zh-CN"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一旦健康数据超出正常范围，通过短信报警模块通知家属或医护人员。</a:t>
            </a:r>
            <a:endParaRPr lang="zh-CN" altLang="en-US" sz="1400" kern="0" dirty="0">
              <a:ln>
                <a:noFill/>
                <a:prstDash val="sysDot"/>
              </a:ln>
              <a:solidFill>
                <a:sysClr val="window" lastClr="FFFFFF">
                  <a:lumMod val="85000"/>
                  <a:lumOff val="15000"/>
                </a:sysClr>
              </a:solidFill>
              <a:latin typeface="微软雅黑" panose="020B0503020204020204" charset="-122"/>
              <a:sym typeface="微软雅黑" panose="020B0503020204020204" charset="-122"/>
            </a:endParaRPr>
          </a:p>
        </p:txBody>
      </p:sp>
      <p:cxnSp>
        <p:nvCxnSpPr>
          <p:cNvPr id="30" name="直接连接符 29"/>
          <p:cNvCxnSpPr/>
          <p:nvPr>
            <p:custDataLst>
              <p:tags r:id="rId17"/>
            </p:custDataLst>
          </p:nvPr>
        </p:nvCxnSpPr>
        <p:spPr>
          <a:xfrm>
            <a:off x="3137535" y="2611120"/>
            <a:ext cx="1562100" cy="0"/>
          </a:xfrm>
          <a:prstGeom prst="line">
            <a:avLst/>
          </a:prstGeom>
          <a:noFill/>
          <a:ln w="12700" cap="flat" cmpd="sng" algn="ctr">
            <a:gradFill>
              <a:gsLst>
                <a:gs pos="100000">
                  <a:srgbClr val="05B4EB">
                    <a:alpha val="0"/>
                  </a:srgbClr>
                </a:gs>
                <a:gs pos="0">
                  <a:srgbClr val="05B4EB">
                    <a:alpha val="44000"/>
                  </a:srgbClr>
                </a:gs>
              </a:gsLst>
              <a:path path="circle">
                <a:fillToRect l="50000" t="50000" r="50000" b="50000"/>
              </a:path>
              <a:tileRect/>
            </a:gradFill>
            <a:prstDash val="solid"/>
            <a:miter lim="800000"/>
          </a:ln>
          <a:effectLst>
            <a:outerShdw blurRad="50800" dist="25400" dir="5400000" algn="t" rotWithShape="0">
              <a:srgbClr val="05B4EB">
                <a:lumMod val="75000"/>
                <a:alpha val="16000"/>
              </a:srgbClr>
            </a:outerShdw>
          </a:effectLst>
        </p:spPr>
      </p:cxnSp>
      <p:sp>
        <p:nvSpPr>
          <p:cNvPr id="32" name="正文"/>
          <p:cNvSpPr txBox="1"/>
          <p:nvPr>
            <p:custDataLst>
              <p:tags r:id="rId18"/>
            </p:custDataLst>
          </p:nvPr>
        </p:nvSpPr>
        <p:spPr>
          <a:xfrm>
            <a:off x="5293995" y="2637155"/>
            <a:ext cx="1647825" cy="2361565"/>
          </a:xfrm>
          <a:prstGeom prst="rect">
            <a:avLst/>
          </a:prstGeom>
          <a:noFill/>
        </p:spPr>
        <p:txBody>
          <a:bodyPr wrap="square" lIns="0" tIns="0" rIns="0" bIns="0" rtlCol="0" anchor="t" anchorCtr="0">
            <a:noAutofit/>
          </a:bodyPr>
          <a:lstStyle/>
          <a:p>
            <a:pPr indent="0" algn="l" fontAlgn="auto">
              <a:lnSpc>
                <a:spcPct val="150000"/>
              </a:lnSpc>
              <a:spcAft>
                <a:spcPts val="1000"/>
              </a:spcAft>
            </a:pPr>
            <a:r>
              <a:rPr lang="zh-CN" altLang="en-US" sz="1400" b="1"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摄像头采集图像，</a:t>
            </a:r>
            <a:r>
              <a:rPr lang="en-US" altLang="zh-CN" sz="1400" b="1"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AI </a:t>
            </a:r>
            <a:r>
              <a:rPr lang="zh-CN" altLang="en-US" sz="1400" b="1"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模型精准识别</a:t>
            </a:r>
            <a:r>
              <a:rPr lang="en-US" altLang="zh-CN" sz="1400" b="1"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 1500 + </a:t>
            </a:r>
            <a:r>
              <a:rPr lang="zh-CN" altLang="en-US" sz="1400" b="1"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常见物体，支持品牌与属性解析。能实现自然语言对话聊天，语音点歌（本地曲库）、天气播报（实时获取温度、降雨概率）</a:t>
            </a:r>
            <a:endParaRPr lang="zh-CN" altLang="en-US" sz="1400" b="1" kern="0" dirty="0">
              <a:ln>
                <a:noFill/>
                <a:prstDash val="sysDot"/>
              </a:ln>
              <a:solidFill>
                <a:sysClr val="window" lastClr="FFFFFF">
                  <a:lumMod val="85000"/>
                  <a:lumOff val="15000"/>
                </a:sysClr>
              </a:solidFill>
              <a:latin typeface="微软雅黑" panose="020B0503020204020204" charset="-122"/>
              <a:sym typeface="微软雅黑" panose="020B0503020204020204" charset="-122"/>
            </a:endParaRPr>
          </a:p>
        </p:txBody>
      </p:sp>
      <p:cxnSp>
        <p:nvCxnSpPr>
          <p:cNvPr id="33" name="直接连接符 32"/>
          <p:cNvCxnSpPr/>
          <p:nvPr>
            <p:custDataLst>
              <p:tags r:id="rId19"/>
            </p:custDataLst>
          </p:nvPr>
        </p:nvCxnSpPr>
        <p:spPr>
          <a:xfrm>
            <a:off x="5336540" y="2611120"/>
            <a:ext cx="1562100" cy="0"/>
          </a:xfrm>
          <a:prstGeom prst="line">
            <a:avLst/>
          </a:prstGeom>
          <a:noFill/>
          <a:ln w="12700" cap="flat" cmpd="sng" algn="ctr">
            <a:gradFill>
              <a:gsLst>
                <a:gs pos="100000">
                  <a:srgbClr val="05B4EB">
                    <a:alpha val="0"/>
                  </a:srgbClr>
                </a:gs>
                <a:gs pos="0">
                  <a:srgbClr val="05B4EB">
                    <a:alpha val="44000"/>
                  </a:srgbClr>
                </a:gs>
              </a:gsLst>
              <a:path path="circle">
                <a:fillToRect l="50000" t="50000" r="50000" b="50000"/>
              </a:path>
              <a:tileRect/>
            </a:gradFill>
            <a:prstDash val="solid"/>
            <a:miter lim="800000"/>
          </a:ln>
          <a:effectLst>
            <a:outerShdw blurRad="50800" dist="25400" dir="5400000" algn="t" rotWithShape="0">
              <a:srgbClr val="05B4EB">
                <a:lumMod val="75000"/>
                <a:alpha val="16000"/>
              </a:srgbClr>
            </a:outerShdw>
          </a:effectLst>
        </p:spPr>
      </p:cxnSp>
      <p:sp>
        <p:nvSpPr>
          <p:cNvPr id="35" name="正文"/>
          <p:cNvSpPr txBox="1"/>
          <p:nvPr>
            <p:custDataLst>
              <p:tags r:id="rId20"/>
            </p:custDataLst>
          </p:nvPr>
        </p:nvSpPr>
        <p:spPr>
          <a:xfrm>
            <a:off x="7360285" y="2636520"/>
            <a:ext cx="1898015" cy="2362200"/>
          </a:xfrm>
          <a:prstGeom prst="rect">
            <a:avLst/>
          </a:prstGeom>
          <a:noFill/>
        </p:spPr>
        <p:txBody>
          <a:bodyPr wrap="square" lIns="0" tIns="0" rIns="0" bIns="0" rtlCol="0" anchor="t" anchorCtr="0">
            <a:noAutofit/>
          </a:bodyPr>
          <a:lstStyle/>
          <a:p>
            <a:pPr indent="0" algn="l">
              <a:lnSpc>
                <a:spcPct val="150000"/>
              </a:lnSpc>
              <a:buNone/>
            </a:pPr>
            <a:r>
              <a:rPr kumimoji="1" lang="zh-CN" altLang="en-US"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盲人位置信息实时上传至云平台。</a:t>
            </a:r>
            <a:endParaRPr kumimoji="1" lang="en-US" altLang="zh-CN"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endParaRPr>
          </a:p>
          <a:p>
            <a:pPr indent="0" algn="l">
              <a:lnSpc>
                <a:spcPct val="150000"/>
              </a:lnSpc>
              <a:buNone/>
            </a:pPr>
            <a:r>
              <a:rPr kumimoji="1" lang="zh-CN" altLang="en-US"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当处于昏暗环境时</a:t>
            </a:r>
            <a:r>
              <a:rPr kumimoji="1" lang="en-US" altLang="zh-CN"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,LED</a:t>
            </a:r>
            <a:r>
              <a:rPr kumimoji="1" lang="zh-CN" altLang="en-US" sz="1400">
                <a:ln w="12700">
                  <a:noFill/>
                </a:ln>
                <a:solidFill>
                  <a:sysClr val="window" lastClr="FFFFFF">
                    <a:alpha val="100000"/>
                  </a:sysClr>
                </a:solidFill>
                <a:latin typeface="Franklin Gothic Medium" panose="020B0603020102020204" charset="0"/>
                <a:ea typeface="微软雅黑" panose="020B0503020204020204" charset="-122"/>
                <a:cs typeface="Source Han Sans" panose="020B0500000000000000" charset="-122"/>
                <a:sym typeface="微软雅黑" panose="020B0503020204020204" charset="-122"/>
              </a:rPr>
              <a:t>灯带亮起，以提醒路人。</a:t>
            </a:r>
            <a:r>
              <a:rPr lang="zh-CN" altLang="en-US" sz="1400" b="1" kern="0" dirty="0">
                <a:ln>
                  <a:noFill/>
                  <a:prstDash val="sysDot"/>
                </a:ln>
                <a:solidFill>
                  <a:sysClr val="window" lastClr="FFFFFF">
                    <a:lumMod val="85000"/>
                    <a:lumOff val="15000"/>
                  </a:sysClr>
                </a:solidFill>
                <a:latin typeface="微软雅黑" panose="020B0503020204020204" charset="-122"/>
                <a:sym typeface="微软雅黑" panose="020B0503020204020204" charset="-122"/>
              </a:rPr>
              <a:t>按下一键报警按钮，带有当前经纬度信息的求救短信会立刻发送至紧急联系人或医务人员</a:t>
            </a:r>
            <a:endParaRPr lang="zh-CN" altLang="en-US" sz="1400" kern="0" dirty="0">
              <a:ln>
                <a:noFill/>
                <a:prstDash val="sysDot"/>
              </a:ln>
              <a:solidFill>
                <a:sysClr val="window" lastClr="FFFFFF">
                  <a:lumMod val="85000"/>
                  <a:lumOff val="15000"/>
                </a:sysClr>
              </a:solidFill>
              <a:latin typeface="微软雅黑" panose="020B0503020204020204" charset="-122"/>
              <a:sym typeface="微软雅黑" panose="020B0503020204020204" charset="-122"/>
            </a:endParaRPr>
          </a:p>
          <a:p>
            <a:pPr indent="0" algn="l">
              <a:lnSpc>
                <a:spcPct val="150000"/>
              </a:lnSpc>
              <a:buNone/>
            </a:pPr>
            <a:endParaRPr lang="zh-CN" altLang="en-US" sz="1400" kern="0" dirty="0">
              <a:ln>
                <a:noFill/>
                <a:prstDash val="sysDot"/>
              </a:ln>
              <a:solidFill>
                <a:sysClr val="window" lastClr="FFFFFF">
                  <a:lumMod val="85000"/>
                  <a:lumOff val="15000"/>
                </a:sysClr>
              </a:solidFill>
              <a:uFillTx/>
              <a:latin typeface="微软雅黑" panose="020B0503020204020204" charset="-122"/>
              <a:cs typeface="MiSans Normal" panose="00000500000000000000" charset="-122"/>
              <a:sym typeface="微软雅黑" panose="020B0503020204020204" charset="-122"/>
            </a:endParaRPr>
          </a:p>
        </p:txBody>
      </p:sp>
      <p:cxnSp>
        <p:nvCxnSpPr>
          <p:cNvPr id="36" name="直接连接符 35"/>
          <p:cNvCxnSpPr/>
          <p:nvPr>
            <p:custDataLst>
              <p:tags r:id="rId21"/>
            </p:custDataLst>
          </p:nvPr>
        </p:nvCxnSpPr>
        <p:spPr>
          <a:xfrm>
            <a:off x="7535545" y="2611120"/>
            <a:ext cx="1562100" cy="0"/>
          </a:xfrm>
          <a:prstGeom prst="line">
            <a:avLst/>
          </a:prstGeom>
          <a:noFill/>
          <a:ln w="12700" cap="flat" cmpd="sng" algn="ctr">
            <a:gradFill>
              <a:gsLst>
                <a:gs pos="100000">
                  <a:srgbClr val="05B4EB">
                    <a:alpha val="0"/>
                  </a:srgbClr>
                </a:gs>
                <a:gs pos="0">
                  <a:srgbClr val="05B4EB">
                    <a:alpha val="44000"/>
                  </a:srgbClr>
                </a:gs>
              </a:gsLst>
              <a:path path="circle">
                <a:fillToRect l="50000" t="50000" r="50000" b="50000"/>
              </a:path>
              <a:tileRect/>
            </a:gradFill>
            <a:prstDash val="solid"/>
            <a:miter lim="800000"/>
          </a:ln>
          <a:effectLst>
            <a:outerShdw blurRad="50800" dist="25400" dir="5400000" algn="t" rotWithShape="0">
              <a:srgbClr val="05B4EB">
                <a:lumMod val="75000"/>
                <a:alpha val="16000"/>
              </a:srgbClr>
            </a:outerShdw>
          </a:effectLst>
        </p:spPr>
      </p:cxnSp>
      <p:sp>
        <p:nvSpPr>
          <p:cNvPr id="38" name="正文"/>
          <p:cNvSpPr txBox="1"/>
          <p:nvPr>
            <p:custDataLst>
              <p:tags r:id="rId22"/>
            </p:custDataLst>
          </p:nvPr>
        </p:nvSpPr>
        <p:spPr>
          <a:xfrm>
            <a:off x="9692005" y="2633980"/>
            <a:ext cx="1647825" cy="2364740"/>
          </a:xfrm>
          <a:prstGeom prst="rect">
            <a:avLst/>
          </a:prstGeom>
          <a:noFill/>
        </p:spPr>
        <p:txBody>
          <a:bodyPr wrap="square" lIns="0" tIns="0" rIns="0" bIns="0" rtlCol="0" anchor="t" anchorCtr="0">
            <a:noAutofit/>
          </a:bodyPr>
          <a:lstStyle/>
          <a:p>
            <a:pPr indent="0" algn="l" fontAlgn="auto">
              <a:lnSpc>
                <a:spcPct val="150000"/>
              </a:lnSpc>
              <a:spcAft>
                <a:spcPts val="1000"/>
              </a:spcAft>
            </a:pPr>
            <a:r>
              <a:rPr lang="zh-CN" altLang="en-US" sz="1400" b="1" kern="0" dirty="0">
                <a:ln>
                  <a:noFill/>
                  <a:prstDash val="sysDot"/>
                </a:ln>
                <a:solidFill>
                  <a:sysClr val="window" lastClr="FFFFFF">
                    <a:lumMod val="85000"/>
                    <a:lumOff val="15000"/>
                  </a:sysClr>
                </a:solidFill>
                <a:uFillTx/>
                <a:latin typeface="微软雅黑" panose="020B0503020204020204" charset="-122"/>
                <a:cs typeface="MiSans Normal" panose="00000500000000000000" charset="-122"/>
                <a:sym typeface="微软雅黑" panose="020B0503020204020204" charset="-122"/>
              </a:rPr>
              <a:t>传感器采集的数据实时上传至云平台，家属或医护人员可通过用户界面随时随地查看盲人位置、健康状况等信息。实现对盲人的远程监护，及时发现潜在危险，为盲人提供更全面的安全保障。</a:t>
            </a:r>
            <a:endParaRPr lang="zh-CN" altLang="en-US" sz="1400" b="1" kern="0" dirty="0">
              <a:ln>
                <a:noFill/>
                <a:prstDash val="sysDot"/>
              </a:ln>
              <a:solidFill>
                <a:sysClr val="window" lastClr="FFFFFF">
                  <a:lumMod val="85000"/>
                  <a:lumOff val="15000"/>
                </a:sysClr>
              </a:solidFill>
              <a:uFillTx/>
              <a:latin typeface="微软雅黑" panose="020B0503020204020204" charset="-122"/>
              <a:cs typeface="MiSans Normal" panose="00000500000000000000" charset="-122"/>
              <a:sym typeface="微软雅黑" panose="020B0503020204020204" charset="-122"/>
            </a:endParaRPr>
          </a:p>
        </p:txBody>
      </p:sp>
      <p:cxnSp>
        <p:nvCxnSpPr>
          <p:cNvPr id="39" name="直接连接符 38"/>
          <p:cNvCxnSpPr/>
          <p:nvPr>
            <p:custDataLst>
              <p:tags r:id="rId23"/>
            </p:custDataLst>
          </p:nvPr>
        </p:nvCxnSpPr>
        <p:spPr>
          <a:xfrm>
            <a:off x="9734550" y="2611120"/>
            <a:ext cx="1562100" cy="0"/>
          </a:xfrm>
          <a:prstGeom prst="line">
            <a:avLst/>
          </a:prstGeom>
          <a:noFill/>
          <a:ln w="12700" cap="flat" cmpd="sng" algn="ctr">
            <a:gradFill>
              <a:gsLst>
                <a:gs pos="100000">
                  <a:srgbClr val="05B4EB">
                    <a:alpha val="0"/>
                  </a:srgbClr>
                </a:gs>
                <a:gs pos="0">
                  <a:srgbClr val="05B4EB">
                    <a:alpha val="44000"/>
                  </a:srgbClr>
                </a:gs>
              </a:gsLst>
              <a:path path="circle">
                <a:fillToRect l="50000" t="50000" r="50000" b="50000"/>
              </a:path>
              <a:tileRect/>
            </a:gradFill>
            <a:prstDash val="solid"/>
            <a:miter lim="800000"/>
          </a:ln>
          <a:effectLst>
            <a:outerShdw blurRad="50800" dist="25400" dir="5400000" algn="t" rotWithShape="0">
              <a:srgbClr val="05B4EB">
                <a:lumMod val="75000"/>
                <a:alpha val="16000"/>
              </a:srgbClr>
            </a:outerShdw>
          </a:effectLst>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5.演示视频">
            <a:hlinkClick r:id="" action="ppaction://media"/>
          </p:cNvPr>
          <p:cNvPicPr/>
          <p:nvPr>
            <a:videoFile r:link="rId1"/>
            <p:extLst>
              <p:ext uri="{DAA4B4D4-6D71-4841-9C94-3DE7FCFB9230}">
                <p14:media xmlns:p14="http://schemas.microsoft.com/office/powerpoint/2010/main" r:embed="rId2"/>
              </p:ext>
            </p:extLst>
            <p:custDataLst>
              <p:tags r:id="rId3"/>
            </p:custData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additive="base">
                                        <p:cTn id="6" dur="9111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0">
              <p:cMediaNode>
                <p:cTn id="7" fill="hold" display="1">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additive="base">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8"/>
          <p:cNvPicPr>
            <a:picLocks noChangeAspect="1"/>
          </p:cNvPicPr>
          <p:nvPr/>
        </p:nvPicPr>
        <p:blipFill>
          <a:blip r:embed="rId1"/>
          <a:stretch>
            <a:fillRect/>
          </a:stretch>
        </p:blipFill>
        <p:spPr>
          <a:xfrm rot="21600000">
            <a:off x="152" y="0"/>
            <a:ext cx="12191695" cy="6858000"/>
          </a:xfrm>
          <a:prstGeom prst="rect">
            <a:avLst/>
          </a:prstGeom>
        </p:spPr>
      </p:pic>
      <p:sp>
        <p:nvSpPr>
          <p:cNvPr id="30" name="textbox 30"/>
          <p:cNvSpPr/>
          <p:nvPr/>
        </p:nvSpPr>
        <p:spPr>
          <a:xfrm>
            <a:off x="341788" y="1036098"/>
            <a:ext cx="11322050" cy="802640"/>
          </a:xfrm>
          <a:prstGeom prst="rect">
            <a:avLst/>
          </a:prstGeom>
          <a:noFill/>
          <a:ln w="0" cap="flat">
            <a:noFill/>
            <a:prstDash val="solid"/>
            <a:miter lim="0"/>
          </a:ln>
        </p:spPr>
        <p:txBody>
          <a:bodyPr vert="horz" wrap="square" lIns="0" tIns="0" rIns="0" bIns="0"/>
          <a:lstStyle/>
          <a:p>
            <a:pPr algn="l" rtl="0" eaLnBrk="0">
              <a:lnSpc>
                <a:spcPct val="91000"/>
              </a:lnSpc>
            </a:pPr>
            <a:endParaRPr sz="100" dirty="0">
              <a:latin typeface="Arial" panose="020B0604020202020204"/>
              <a:ea typeface="Arial" panose="020B0604020202020204"/>
              <a:cs typeface="Arial" panose="020B0604020202020204"/>
            </a:endParaRPr>
          </a:p>
          <a:p>
            <a:pPr algn="r" rtl="0" eaLnBrk="0">
              <a:lnSpc>
                <a:spcPct val="87000"/>
              </a:lnSpc>
            </a:pPr>
            <a:r>
              <a:rPr sz="2400" b="1" kern="0" spc="0" dirty="0">
                <a:solidFill>
                  <a:srgbClr val="FFFFFF">
                    <a:alpha val="100000"/>
                  </a:srgbClr>
                </a:solidFill>
                <a:latin typeface="微软雅黑" panose="020B0503020204020204" charset="-122"/>
                <a:ea typeface="微软雅黑" panose="020B0503020204020204" charset="-122"/>
                <a:cs typeface="微软雅黑" panose="020B0503020204020204" charset="-122"/>
              </a:rPr>
              <a:t>说</a:t>
            </a:r>
            <a:endParaRPr sz="2400" dirty="0">
              <a:latin typeface="微软雅黑" panose="020B0503020204020204" charset="-122"/>
              <a:ea typeface="微软雅黑" panose="020B0503020204020204" charset="-122"/>
              <a:cs typeface="微软雅黑" panose="020B0503020204020204" charset="-122"/>
            </a:endParaRPr>
          </a:p>
        </p:txBody>
      </p:sp>
      <p:pic>
        <p:nvPicPr>
          <p:cNvPr id="32" name="picture 32"/>
          <p:cNvPicPr>
            <a:picLocks noChangeAspect="1"/>
          </p:cNvPicPr>
          <p:nvPr/>
        </p:nvPicPr>
        <p:blipFill>
          <a:blip r:embed="rId2"/>
          <a:stretch>
            <a:fillRect/>
          </a:stretch>
        </p:blipFill>
        <p:spPr>
          <a:xfrm rot="21600000">
            <a:off x="63317" y="268049"/>
            <a:ext cx="3320081" cy="488431"/>
          </a:xfrm>
          <a:prstGeom prst="rect">
            <a:avLst/>
          </a:prstGeom>
        </p:spPr>
      </p:pic>
      <p:sp>
        <p:nvSpPr>
          <p:cNvPr id="6" name="标题 6"/>
          <p:cNvSpPr>
            <a:spLocks noGrp="1"/>
          </p:cNvSpPr>
          <p:nvPr>
            <p:custDataLst>
              <p:tags r:id="rId3"/>
            </p:custDataLst>
          </p:nvPr>
        </p:nvSpPr>
        <p:spPr>
          <a:xfrm>
            <a:off x="3990340" y="203200"/>
            <a:ext cx="3936365" cy="72009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gradFill>
                  <a:gsLst>
                    <a:gs pos="33000">
                      <a:srgbClr val="FFFFFF"/>
                    </a:gs>
                    <a:gs pos="100000">
                      <a:srgbClr val="05B4EB"/>
                    </a:gs>
                  </a:gsLst>
                  <a:lin ang="2700000" scaled="0"/>
                </a:gradFill>
                <a:latin typeface="Arial" panose="020B0604020202020204" pitchFamily="34" charset="0"/>
                <a:ea typeface="微软雅黑" panose="020B0503020204020204" charset="-122"/>
                <a:cs typeface="+mn-ea"/>
              </a:defRPr>
            </a:lvl1pPr>
          </a:lstStyle>
          <a:p>
            <a:r>
              <a:rPr lang="zh-CN" altLang="en-US">
                <a:gradFill>
                  <a:gsLst>
                    <a:gs pos="50000">
                      <a:schemeClr val="accent6"/>
                    </a:gs>
                    <a:gs pos="0">
                      <a:schemeClr val="accent6">
                        <a:lumMod val="25000"/>
                        <a:lumOff val="75000"/>
                      </a:schemeClr>
                    </a:gs>
                    <a:gs pos="100000">
                      <a:schemeClr val="accent6">
                        <a:lumMod val="85000"/>
                      </a:schemeClr>
                    </a:gs>
                  </a:gsLst>
                  <a:lin ang="5400000" scaled="1"/>
                </a:gradFill>
              </a:rPr>
              <a:t> 取物引导与路径规划</a:t>
            </a:r>
            <a:endParaRPr lang="zh-CN" altLang="en-US">
              <a:gradFill>
                <a:gsLst>
                  <a:gs pos="50000">
                    <a:schemeClr val="accent6"/>
                  </a:gs>
                  <a:gs pos="0">
                    <a:schemeClr val="accent6">
                      <a:lumMod val="25000"/>
                      <a:lumOff val="75000"/>
                    </a:schemeClr>
                  </a:gs>
                  <a:gs pos="100000">
                    <a:schemeClr val="accent6">
                      <a:lumMod val="85000"/>
                    </a:schemeClr>
                  </a:gs>
                </a:gsLst>
                <a:lin ang="5400000" scaled="1"/>
              </a:gradFill>
            </a:endParaRPr>
          </a:p>
        </p:txBody>
      </p:sp>
      <p:sp>
        <p:nvSpPr>
          <p:cNvPr id="8" name="矩形 7"/>
          <p:cNvSpPr/>
          <p:nvPr>
            <p:custDataLst>
              <p:tags r:id="rId4"/>
            </p:custDataLst>
          </p:nvPr>
        </p:nvSpPr>
        <p:spPr>
          <a:xfrm>
            <a:off x="722630" y="1557020"/>
            <a:ext cx="11515090" cy="1022350"/>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000">
                <a:solidFill>
                  <a:sysClr val="window" lastClr="FFFFFF">
                    <a:lumMod val="85000"/>
                    <a:lumOff val="15000"/>
                  </a:sysClr>
                </a:solidFill>
                <a:latin typeface="微软雅黑" panose="020B0503020204020204" charset="-122"/>
                <a:cs typeface="微软雅黑" panose="020B0503020204020204" charset="-122"/>
                <a:sym typeface="微软雅黑" panose="020B0503020204020204" charset="-122"/>
              </a:rPr>
              <a:t>通过摄像头实时检测物体并语音分析，手部抓取时持续提供方向指引（左</a:t>
            </a:r>
            <a:r>
              <a:rPr lang="en-US" altLang="zh-CN" sz="2000">
                <a:solidFill>
                  <a:sysClr val="window" lastClr="FFFFFF">
                    <a:lumMod val="85000"/>
                    <a:lumOff val="15000"/>
                  </a:sysClr>
                </a:solidFill>
                <a:latin typeface="微软雅黑" panose="020B0503020204020204" charset="-122"/>
                <a:cs typeface="微软雅黑" panose="020B0503020204020204" charset="-122"/>
                <a:sym typeface="微软雅黑" panose="020B0503020204020204" charset="-122"/>
              </a:rPr>
              <a:t> / </a:t>
            </a:r>
            <a:r>
              <a:rPr lang="zh-CN" altLang="en-US" sz="2000">
                <a:solidFill>
                  <a:sysClr val="window" lastClr="FFFFFF">
                    <a:lumMod val="85000"/>
                    <a:lumOff val="15000"/>
                  </a:sysClr>
                </a:solidFill>
                <a:latin typeface="微软雅黑" panose="020B0503020204020204" charset="-122"/>
                <a:cs typeface="微软雅黑" panose="020B0503020204020204" charset="-122"/>
                <a:sym typeface="微软雅黑" panose="020B0503020204020204" charset="-122"/>
              </a:rPr>
              <a:t>右调整），直至成功抓取</a:t>
            </a:r>
            <a:r>
              <a:rPr lang="zh-CN" altLang="en-US">
                <a:solidFill>
                  <a:sysClr val="window" lastClr="FFFFFF">
                    <a:lumMod val="85000"/>
                    <a:lumOff val="15000"/>
                  </a:sysClr>
                </a:solidFill>
                <a:latin typeface="微软雅黑" panose="020B0503020204020204" charset="-122"/>
                <a:cs typeface="微软雅黑" panose="020B0503020204020204" charset="-122"/>
                <a:sym typeface="微软雅黑" panose="020B0503020204020204" charset="-122"/>
              </a:rPr>
              <a:t>。</a:t>
            </a:r>
            <a:endParaRPr lang="zh-CN" altLang="en-US">
              <a:solidFill>
                <a:sysClr val="window" lastClr="FFFFFF">
                  <a:lumMod val="85000"/>
                  <a:lumOff val="15000"/>
                </a:sysClr>
              </a:solidFill>
              <a:latin typeface="微软雅黑" panose="020B0503020204020204" charset="-122"/>
              <a:cs typeface="微软雅黑" panose="020B0503020204020204" charset="-122"/>
              <a:sym typeface="微软雅黑" panose="020B0503020204020204" charset="-122"/>
            </a:endParaRPr>
          </a:p>
        </p:txBody>
      </p:sp>
      <p:sp>
        <p:nvSpPr>
          <p:cNvPr id="9" name="矩形 8"/>
          <p:cNvSpPr/>
          <p:nvPr>
            <p:custDataLst>
              <p:tags r:id="rId5"/>
            </p:custDataLst>
          </p:nvPr>
        </p:nvSpPr>
        <p:spPr>
          <a:xfrm>
            <a:off x="748126" y="1196956"/>
            <a:ext cx="8999549" cy="461719"/>
          </a:xfrm>
          <a:prstGeom prst="rect">
            <a:avLst/>
          </a:prstGeom>
          <a:noFill/>
        </p:spPr>
        <p:txBody>
          <a:bodyPr wrap="square" lIns="0" tIns="0" rIns="0" bIns="0" rtlCol="0" anchor="ctr" anchorCtr="0">
            <a:noAutofit/>
          </a:bodyPr>
          <a:p>
            <a:pPr algn="just">
              <a:spcBef>
                <a:spcPct val="0"/>
              </a:spcBef>
              <a:spcAft>
                <a:spcPct val="0"/>
              </a:spcAft>
            </a:pPr>
            <a:r>
              <a:rPr lang="zh-CN" altLang="en-US" sz="2200" b="1">
                <a:solidFill>
                  <a:srgbClr val="05B4EB"/>
                </a:solidFill>
                <a:latin typeface="微软雅黑" panose="020B0503020204020204" charset="-122"/>
                <a:cs typeface="微软雅黑" panose="020B0503020204020204" charset="-122"/>
                <a:sym typeface="微软雅黑" panose="020B0503020204020204" charset="-122"/>
              </a:rPr>
              <a:t>物体识别与引导、智能避障与路径规划：</a:t>
            </a:r>
            <a:endParaRPr lang="zh-CN" altLang="en-US" sz="2200" b="1">
              <a:solidFill>
                <a:srgbClr val="05B4EB"/>
              </a:solidFill>
              <a:latin typeface="微软雅黑" panose="020B0503020204020204" charset="-122"/>
              <a:cs typeface="微软雅黑" panose="020B0503020204020204" charset="-122"/>
              <a:sym typeface="微软雅黑" panose="020B0503020204020204" charset="-122"/>
            </a:endParaRPr>
          </a:p>
        </p:txBody>
      </p:sp>
      <p:sp>
        <p:nvSpPr>
          <p:cNvPr id="10" name="矩形 4"/>
          <p:cNvSpPr/>
          <p:nvPr>
            <p:custDataLst>
              <p:tags r:id="rId6"/>
            </p:custDataLst>
          </p:nvPr>
        </p:nvSpPr>
        <p:spPr>
          <a:xfrm>
            <a:off x="721995" y="1988820"/>
            <a:ext cx="10504170" cy="734695"/>
          </a:xfrm>
          <a:prstGeom prst="rect">
            <a:avLst/>
          </a:prstGeom>
          <a:noFill/>
        </p:spPr>
        <p:txBody>
          <a:bodyPr wrap="square" lIns="0" tIns="0" rIns="0" bIns="0" rtlCol="0" anchor="t" anchorCtr="0">
            <a:noAutofit/>
          </a:bodyPr>
          <a:p>
            <a:pPr algn="just">
              <a:lnSpc>
                <a:spcPct val="150000"/>
              </a:lnSpc>
              <a:spcBef>
                <a:spcPct val="0"/>
              </a:spcBef>
              <a:spcAft>
                <a:spcPct val="0"/>
              </a:spcAft>
            </a:pPr>
            <a:r>
              <a:rPr lang="zh-CN" altLang="en-US" sz="2000">
                <a:solidFill>
                  <a:sysClr val="window" lastClr="FFFFFF">
                    <a:lumMod val="85000"/>
                    <a:lumOff val="15000"/>
                  </a:sysClr>
                </a:solidFill>
                <a:latin typeface="微软雅黑" panose="020B0503020204020204" charset="-122"/>
                <a:cs typeface="微软雅黑" panose="020B0503020204020204" charset="-122"/>
                <a:sym typeface="微软雅黑" panose="020B0503020204020204" charset="-122"/>
              </a:rPr>
              <a:t>结合环境障碍物检测结果，实时生成最优行进路线，语音提示方向调整</a:t>
            </a:r>
            <a:r>
              <a:rPr lang="zh-CN" altLang="en-US" sz="2400">
                <a:solidFill>
                  <a:sysClr val="window" lastClr="FFFFFF">
                    <a:lumMod val="85000"/>
                    <a:lumOff val="15000"/>
                  </a:sysClr>
                </a:solidFill>
                <a:latin typeface="微软雅黑" panose="020B0503020204020204" charset="-122"/>
                <a:cs typeface="微软雅黑" panose="020B0503020204020204" charset="-122"/>
                <a:sym typeface="微软雅黑" panose="020B0503020204020204" charset="-122"/>
              </a:rPr>
              <a:t>。</a:t>
            </a:r>
            <a:endParaRPr lang="zh-CN" altLang="en-US" sz="2400">
              <a:solidFill>
                <a:sysClr val="window" lastClr="FFFFFF">
                  <a:lumMod val="85000"/>
                  <a:lumOff val="15000"/>
                </a:sysClr>
              </a:solidFill>
              <a:latin typeface="微软雅黑" panose="020B0503020204020204" charset="-122"/>
              <a:cs typeface="微软雅黑" panose="020B0503020204020204" charset="-122"/>
              <a:sym typeface="微软雅黑" panose="020B0503020204020204" charset="-122"/>
            </a:endParaRPr>
          </a:p>
        </p:txBody>
      </p:sp>
      <p:pic>
        <p:nvPicPr>
          <p:cNvPr id="11" name="图片 10" descr="屏幕截图 2025-12-02 154819"/>
          <p:cNvPicPr>
            <a:picLocks noChangeAspect="1"/>
          </p:cNvPicPr>
          <p:nvPr/>
        </p:nvPicPr>
        <p:blipFill>
          <a:blip r:embed="rId7"/>
          <a:stretch>
            <a:fillRect/>
          </a:stretch>
        </p:blipFill>
        <p:spPr>
          <a:xfrm>
            <a:off x="-23495" y="2593975"/>
            <a:ext cx="5880100" cy="4264025"/>
          </a:xfrm>
          <a:prstGeom prst="rect">
            <a:avLst/>
          </a:prstGeom>
        </p:spPr>
      </p:pic>
      <p:pic>
        <p:nvPicPr>
          <p:cNvPr id="12" name="图片 11" descr="屏幕截图 2025-12-02 155700"/>
          <p:cNvPicPr>
            <a:picLocks noChangeAspect="1"/>
          </p:cNvPicPr>
          <p:nvPr/>
        </p:nvPicPr>
        <p:blipFill>
          <a:blip r:embed="rId8"/>
          <a:stretch>
            <a:fillRect/>
          </a:stretch>
        </p:blipFill>
        <p:spPr>
          <a:xfrm>
            <a:off x="5881370" y="2579370"/>
            <a:ext cx="6295390" cy="42805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8"/>
          <p:cNvPicPr>
            <a:picLocks noChangeAspect="1"/>
          </p:cNvPicPr>
          <p:nvPr/>
        </p:nvPicPr>
        <p:blipFill>
          <a:blip r:embed="rId1"/>
          <a:stretch>
            <a:fillRect/>
          </a:stretch>
        </p:blipFill>
        <p:spPr>
          <a:xfrm rot="21600000">
            <a:off x="152" y="0"/>
            <a:ext cx="12191695" cy="6858000"/>
          </a:xfrm>
          <a:prstGeom prst="rect">
            <a:avLst/>
          </a:prstGeom>
        </p:spPr>
      </p:pic>
      <p:pic>
        <p:nvPicPr>
          <p:cNvPr id="32" name="picture 32"/>
          <p:cNvPicPr>
            <a:picLocks noChangeAspect="1"/>
          </p:cNvPicPr>
          <p:nvPr/>
        </p:nvPicPr>
        <p:blipFill>
          <a:blip r:embed="rId2"/>
          <a:stretch>
            <a:fillRect/>
          </a:stretch>
        </p:blipFill>
        <p:spPr>
          <a:xfrm rot="21600000">
            <a:off x="63317" y="268049"/>
            <a:ext cx="3320081" cy="488431"/>
          </a:xfrm>
          <a:prstGeom prst="rect">
            <a:avLst/>
          </a:prstGeom>
        </p:spPr>
      </p:pic>
      <p:sp>
        <p:nvSpPr>
          <p:cNvPr id="7" name="标题 1"/>
          <p:cNvSpPr txBox="1"/>
          <p:nvPr>
            <p:custDataLst>
              <p:tags r:id="rId3"/>
            </p:custDataLst>
          </p:nvPr>
        </p:nvSpPr>
        <p:spPr>
          <a:xfrm>
            <a:off x="1267460" y="959485"/>
            <a:ext cx="3117850" cy="532130"/>
          </a:xfrm>
          <a:prstGeom prst="rect">
            <a:avLst/>
          </a:prstGeom>
          <a:noFill/>
          <a:ln cap="sq">
            <a:noFill/>
          </a:ln>
          <a:effectLst/>
        </p:spPr>
        <p:txBody>
          <a:bodyPr vert="horz" wrap="square" lIns="0" tIns="0" rIns="0" bIns="0" rtlCol="0" anchor="b">
            <a:normAutofit/>
          </a:bodyPr>
          <a:lstStyle/>
          <a:p>
            <a:pPr algn="ctr">
              <a:lnSpc>
                <a:spcPct val="130000"/>
              </a:lnSpc>
            </a:pPr>
            <a:r>
              <a:rPr kumimoji="1" lang="en-US" altLang="zh-CN" sz="2400" b="1">
                <a:ln w="12700">
                  <a:noFill/>
                </a:ln>
                <a:gradFill>
                  <a:gsLst>
                    <a:gs pos="50000">
                      <a:schemeClr val="accent2"/>
                    </a:gs>
                    <a:gs pos="0">
                      <a:schemeClr val="accent2">
                        <a:lumMod val="25000"/>
                        <a:lumOff val="75000"/>
                      </a:schemeClr>
                    </a:gs>
                    <a:gs pos="100000">
                      <a:schemeClr val="accent2">
                        <a:lumMod val="85000"/>
                      </a:schemeClr>
                    </a:gs>
                  </a:gsLst>
                  <a:lin ang="5400000" scaled="1"/>
                </a:gradFill>
                <a:cs typeface="Source Han Sans CN Bold" panose="020B0800000000000000" charset="-122"/>
              </a:rPr>
              <a:t>集成多种实用功能</a:t>
            </a:r>
            <a:endParaRPr kumimoji="1" lang="en-US" altLang="zh-CN" sz="2400" b="1">
              <a:ln w="12700">
                <a:noFill/>
              </a:ln>
              <a:gradFill>
                <a:gsLst>
                  <a:gs pos="50000">
                    <a:schemeClr val="accent2"/>
                  </a:gs>
                  <a:gs pos="0">
                    <a:schemeClr val="accent2">
                      <a:lumMod val="25000"/>
                      <a:lumOff val="75000"/>
                    </a:schemeClr>
                  </a:gs>
                  <a:gs pos="100000">
                    <a:schemeClr val="accent2">
                      <a:lumMod val="85000"/>
                    </a:schemeClr>
                  </a:gs>
                </a:gsLst>
                <a:lin ang="5400000" scaled="1"/>
              </a:gradFill>
              <a:cs typeface="Source Han Sans CN Bold" panose="020B0800000000000000" charset="-122"/>
            </a:endParaRPr>
          </a:p>
        </p:txBody>
      </p:sp>
      <p:sp>
        <p:nvSpPr>
          <p:cNvPr id="14" name="标题 1"/>
          <p:cNvSpPr txBox="1"/>
          <p:nvPr>
            <p:custDataLst>
              <p:tags r:id="rId4"/>
            </p:custDataLst>
          </p:nvPr>
        </p:nvSpPr>
        <p:spPr>
          <a:xfrm>
            <a:off x="765810" y="1628775"/>
            <a:ext cx="4070985" cy="3048635"/>
          </a:xfrm>
          <a:prstGeom prst="rect">
            <a:avLst/>
          </a:prstGeom>
          <a:noFill/>
          <a:ln>
            <a:noFill/>
          </a:ln>
        </p:spPr>
        <p:txBody>
          <a:bodyPr vert="horz" wrap="square" lIns="0" tIns="0" rIns="0" bIns="0" rtlCol="0" anchor="t">
            <a:normAutofit/>
          </a:bodyPr>
          <a:lstStyle/>
          <a:p>
            <a:pPr marL="285750" indent="-285750" algn="l">
              <a:lnSpc>
                <a:spcPct val="150000"/>
              </a:lnSpc>
              <a:buFont typeface="Wingdings" panose="05000000000000000000" charset="0"/>
              <a:buChar char="u"/>
            </a:pPr>
            <a:r>
              <a:rPr kumimoji="1" lang="en-US" altLang="zh-CN">
                <a:ln w="12700">
                  <a:noFill/>
                </a:ln>
                <a:solidFill>
                  <a:sysClr val="window" lastClr="FFFFFF"/>
                </a:solidFill>
                <a:cs typeface="Source Han Sans" panose="020B0500000000000000" charset="-122"/>
              </a:rPr>
              <a:t>集成</a:t>
            </a:r>
            <a:r>
              <a:rPr kumimoji="1" lang="zh-CN" altLang="en-US">
                <a:ln w="12700">
                  <a:noFill/>
                </a:ln>
                <a:solidFill>
                  <a:sysClr val="window" lastClr="FFFFFF"/>
                </a:solidFill>
                <a:cs typeface="Source Han Sans" panose="020B0500000000000000" charset="-122"/>
              </a:rPr>
              <a:t>定位</a:t>
            </a:r>
            <a:r>
              <a:rPr kumimoji="1" lang="en-US" altLang="zh-CN">
                <a:ln w="12700">
                  <a:noFill/>
                </a:ln>
                <a:solidFill>
                  <a:sysClr val="window" lastClr="FFFFFF"/>
                </a:solidFill>
                <a:cs typeface="Source Han Sans" panose="020B0500000000000000" charset="-122"/>
              </a:rPr>
              <a:t>、健康监测、报警、光照检测等多种功能于一体，满足盲人在不同场   景下的多样化需求。 </a:t>
            </a:r>
            <a:endParaRPr kumimoji="1" lang="en-US" altLang="zh-CN">
              <a:ln w="12700">
                <a:noFill/>
              </a:ln>
              <a:solidFill>
                <a:sysClr val="window" lastClr="FFFFFF"/>
              </a:solidFill>
              <a:cs typeface="Source Han Sans" panose="020B0500000000000000" charset="-122"/>
            </a:endParaRPr>
          </a:p>
          <a:p>
            <a:pPr marL="285750" indent="-285750" algn="l">
              <a:lnSpc>
                <a:spcPct val="150000"/>
              </a:lnSpc>
              <a:buFont typeface="Wingdings" panose="05000000000000000000" charset="0"/>
              <a:buChar char="u"/>
            </a:pPr>
            <a:r>
              <a:rPr kumimoji="1" lang="en-US" altLang="zh-CN">
                <a:ln w="12700">
                  <a:noFill/>
                </a:ln>
                <a:solidFill>
                  <a:sysClr val="window" lastClr="FFFFFF"/>
                </a:solidFill>
                <a:cs typeface="Source Han Sans" panose="020B0500000000000000" charset="-122"/>
              </a:rPr>
              <a:t>通过一个头盔即可实现多种功能，避免盲人携带多个设备，减轻负担，提高使用便捷性。</a:t>
            </a:r>
            <a:endParaRPr kumimoji="1" lang="en-US" altLang="zh-CN">
              <a:ln w="12700">
                <a:noFill/>
              </a:ln>
              <a:solidFill>
                <a:sysClr val="window" lastClr="FFFFFF"/>
              </a:solidFill>
              <a:cs typeface="Source Han Sans" panose="020B0500000000000000" charset="-122"/>
            </a:endParaRPr>
          </a:p>
        </p:txBody>
      </p:sp>
      <p:cxnSp>
        <p:nvCxnSpPr>
          <p:cNvPr id="15" name="标题 1"/>
          <p:cNvCxnSpPr/>
          <p:nvPr>
            <p:custDataLst>
              <p:tags r:id="rId5"/>
            </p:custDataLst>
          </p:nvPr>
        </p:nvCxnSpPr>
        <p:spPr>
          <a:xfrm>
            <a:off x="8213546" y="2200462"/>
            <a:ext cx="382622" cy="0"/>
          </a:xfrm>
          <a:prstGeom prst="line">
            <a:avLst/>
          </a:prstGeom>
          <a:noFill/>
          <a:ln w="12700" cap="rnd">
            <a:solidFill>
              <a:sysClr val="windowText" lastClr="000000"/>
            </a:solidFill>
            <a:round/>
          </a:ln>
        </p:spPr>
      </p:cxnSp>
      <p:sp>
        <p:nvSpPr>
          <p:cNvPr id="16" name="标题 1"/>
          <p:cNvSpPr txBox="1"/>
          <p:nvPr>
            <p:custDataLst>
              <p:tags r:id="rId6"/>
            </p:custDataLst>
          </p:nvPr>
        </p:nvSpPr>
        <p:spPr>
          <a:xfrm>
            <a:off x="6310630" y="887730"/>
            <a:ext cx="3941445" cy="609600"/>
          </a:xfrm>
          <a:prstGeom prst="rect">
            <a:avLst/>
          </a:prstGeom>
          <a:noFill/>
          <a:ln cap="sq">
            <a:noFill/>
          </a:ln>
          <a:effectLst/>
        </p:spPr>
        <p:txBody>
          <a:bodyPr vert="horz" wrap="square" lIns="0" tIns="0" rIns="0" bIns="0" rtlCol="0" anchor="b">
            <a:normAutofit lnSpcReduction="20000"/>
          </a:bodyPr>
          <a:lstStyle/>
          <a:p>
            <a:pPr algn="ctr">
              <a:lnSpc>
                <a:spcPct val="130000"/>
              </a:lnSpc>
            </a:pPr>
            <a:r>
              <a:rPr kumimoji="1" lang="zh-CN" altLang="en-US" sz="2400" b="1">
                <a:ln w="12700">
                  <a:noFill/>
                </a:ln>
                <a:gradFill>
                  <a:gsLst>
                    <a:gs pos="50000">
                      <a:schemeClr val="accent2"/>
                    </a:gs>
                    <a:gs pos="0">
                      <a:schemeClr val="accent2">
                        <a:lumMod val="25000"/>
                        <a:lumOff val="75000"/>
                      </a:schemeClr>
                    </a:gs>
                    <a:gs pos="100000">
                      <a:schemeClr val="accent2">
                        <a:lumMod val="85000"/>
                      </a:schemeClr>
                    </a:gs>
                  </a:gsLst>
                  <a:lin ang="5400000" scaled="1"/>
                </a:gradFill>
                <a:cs typeface="Source Han Sans CN Bold" panose="020B0800000000000000" charset="-122"/>
              </a:rPr>
              <a:t>使用</a:t>
            </a:r>
            <a:r>
              <a:rPr kumimoji="1" lang="en-US" altLang="zh-CN" sz="2400" b="1">
                <a:ln w="12700">
                  <a:noFill/>
                </a:ln>
                <a:gradFill>
                  <a:gsLst>
                    <a:gs pos="50000">
                      <a:schemeClr val="accent2"/>
                    </a:gs>
                    <a:gs pos="0">
                      <a:schemeClr val="accent2">
                        <a:lumMod val="25000"/>
                        <a:lumOff val="75000"/>
                      </a:schemeClr>
                    </a:gs>
                    <a:gs pos="100000">
                      <a:schemeClr val="accent2">
                        <a:lumMod val="85000"/>
                      </a:schemeClr>
                    </a:gs>
                  </a:gsLst>
                  <a:lin ang="5400000" scaled="1"/>
                </a:gradFill>
                <a:cs typeface="Source Han Sans CN Bold" panose="020B0800000000000000" charset="-122"/>
              </a:rPr>
              <a:t>PCB</a:t>
            </a:r>
            <a:r>
              <a:rPr kumimoji="1" lang="zh-CN" altLang="en-US" sz="2400" b="1">
                <a:ln w="12700">
                  <a:noFill/>
                </a:ln>
                <a:gradFill>
                  <a:gsLst>
                    <a:gs pos="50000">
                      <a:schemeClr val="accent2"/>
                    </a:gs>
                    <a:gs pos="0">
                      <a:schemeClr val="accent2">
                        <a:lumMod val="25000"/>
                        <a:lumOff val="75000"/>
                      </a:schemeClr>
                    </a:gs>
                    <a:gs pos="100000">
                      <a:schemeClr val="accent2">
                        <a:lumMod val="85000"/>
                      </a:schemeClr>
                    </a:gs>
                  </a:gsLst>
                  <a:lin ang="5400000" scaled="1"/>
                </a:gradFill>
                <a:cs typeface="Source Han Sans CN Bold" panose="020B0800000000000000" charset="-122"/>
              </a:rPr>
              <a:t>板优化布局和布线</a:t>
            </a:r>
            <a:endParaRPr kumimoji="1" lang="zh-CN" altLang="en-US" sz="2400" b="1">
              <a:ln w="12700">
                <a:noFill/>
              </a:ln>
              <a:gradFill>
                <a:gsLst>
                  <a:gs pos="50000">
                    <a:schemeClr val="accent2"/>
                  </a:gs>
                  <a:gs pos="0">
                    <a:schemeClr val="accent2">
                      <a:lumMod val="25000"/>
                      <a:lumOff val="75000"/>
                    </a:schemeClr>
                  </a:gs>
                  <a:gs pos="100000">
                    <a:schemeClr val="accent2">
                      <a:lumMod val="85000"/>
                    </a:schemeClr>
                  </a:gs>
                </a:gsLst>
                <a:lin ang="5400000" scaled="1"/>
              </a:gradFill>
              <a:cs typeface="Source Han Sans CN Bold" panose="020B0800000000000000" charset="-122"/>
            </a:endParaRPr>
          </a:p>
        </p:txBody>
      </p:sp>
      <p:sp>
        <p:nvSpPr>
          <p:cNvPr id="17" name="标题 1"/>
          <p:cNvSpPr txBox="1"/>
          <p:nvPr>
            <p:custDataLst>
              <p:tags r:id="rId7"/>
            </p:custDataLst>
          </p:nvPr>
        </p:nvSpPr>
        <p:spPr>
          <a:xfrm>
            <a:off x="6023610" y="1697990"/>
            <a:ext cx="4520565" cy="3462020"/>
          </a:xfrm>
          <a:prstGeom prst="rect">
            <a:avLst/>
          </a:prstGeom>
          <a:noFill/>
          <a:ln>
            <a:noFill/>
          </a:ln>
        </p:spPr>
        <p:txBody>
          <a:bodyPr vert="horz" wrap="square" lIns="0" tIns="0" rIns="0" bIns="0" rtlCol="0" anchor="t"/>
          <a:lstStyle/>
          <a:p>
            <a:pPr marL="285750" indent="-285750" algn="l">
              <a:lnSpc>
                <a:spcPct val="150000"/>
              </a:lnSpc>
              <a:buFont typeface="Wingdings" panose="05000000000000000000" charset="0"/>
              <a:buChar char="u"/>
            </a:pPr>
            <a:r>
              <a:rPr kumimoji="1" lang="zh-CN" altLang="en-US">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我们采用的</a:t>
            </a:r>
            <a:r>
              <a:rPr kumimoji="1" lang="en-US" altLang="zh-CN">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PCB</a:t>
            </a:r>
            <a:r>
              <a:rPr kumimoji="1" lang="zh-CN" altLang="en-US">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高度集成技术，通过专业电磁兼容（</a:t>
            </a:r>
            <a:r>
              <a:rPr kumimoji="1" lang="en-US" altLang="zh-CN">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EMC</a:t>
            </a:r>
            <a:r>
              <a:rPr kumimoji="1" lang="zh-CN" altLang="en-US">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）设计优化线路走向，本质是通过</a:t>
            </a:r>
            <a:r>
              <a:rPr kumimoji="1" lang="en-US" altLang="zh-CN">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a:t>
            </a:r>
            <a:r>
              <a:rPr kumimoji="1" lang="zh-CN" altLang="en-US">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空间压缩</a:t>
            </a:r>
            <a:r>
              <a:rPr kumimoji="1" lang="en-US" altLang="zh-CN">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a:t>
            </a:r>
            <a:r>
              <a:rPr kumimoji="1" lang="zh-CN" altLang="en-US">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性能优化</a:t>
            </a:r>
            <a:r>
              <a:rPr kumimoji="1" lang="en-US" altLang="zh-CN">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a:t>
            </a:r>
            <a:r>
              <a:rPr kumimoji="1" lang="zh-CN" altLang="en-US">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制造提效</a:t>
            </a:r>
            <a:r>
              <a:rPr kumimoji="1" lang="en-US" altLang="zh-CN">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a:t>
            </a:r>
            <a:r>
              <a:rPr kumimoji="1" lang="zh-CN" altLang="en-US">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rPr>
              <a:t>的三重突破，让电子设备在更小体积内实现更强功能、更高稳定性和更低成本。</a:t>
            </a:r>
            <a:endParaRPr kumimoji="1" lang="zh-CN" altLang="en-US">
              <a:ln w="12700">
                <a:noFill/>
              </a:ln>
              <a:gradFill>
                <a:gsLst>
                  <a:gs pos="0">
                    <a:sysClr val="window" lastClr="FFFFFF">
                      <a:lumMod val="25000"/>
                      <a:lumOff val="75000"/>
                    </a:sysClr>
                  </a:gs>
                  <a:gs pos="50000">
                    <a:sysClr val="window" lastClr="FFFFFF">
                      <a:lumMod val="70000"/>
                      <a:lumOff val="30000"/>
                    </a:sysClr>
                  </a:gs>
                  <a:gs pos="100000">
                    <a:sysClr val="window" lastClr="FFFFFF">
                      <a:lumMod val="85000"/>
                    </a:sysClr>
                  </a:gs>
                </a:gsLst>
                <a:lin ang="5400000"/>
              </a:gradFill>
              <a:cs typeface="Source Han Sans" panose="020B0500000000000000" charset="-122"/>
            </a:endParaRPr>
          </a:p>
        </p:txBody>
      </p:sp>
      <p:pic>
        <p:nvPicPr>
          <p:cNvPr id="18" name="图片 17" descr="嘉立创"/>
          <p:cNvPicPr>
            <a:picLocks noChangeAspect="1"/>
          </p:cNvPicPr>
          <p:nvPr>
            <p:custDataLst>
              <p:tags r:id="rId8"/>
            </p:custDataLst>
          </p:nvPr>
        </p:nvPicPr>
        <p:blipFill>
          <a:blip r:embed="rId9"/>
          <a:srcRect l="13767" t="9022" r="13269" b="7611"/>
          <a:stretch>
            <a:fillRect/>
          </a:stretch>
        </p:blipFill>
        <p:spPr>
          <a:xfrm>
            <a:off x="6240145" y="3789045"/>
            <a:ext cx="4304030" cy="3004185"/>
          </a:xfrm>
          <a:prstGeom prst="rect">
            <a:avLst/>
          </a:prstGeom>
        </p:spPr>
      </p:pic>
      <p:pic>
        <p:nvPicPr>
          <p:cNvPr id="20" name="图片 19" descr="ab7340a7721cbaed7df321a5df84c4be"/>
          <p:cNvPicPr>
            <a:picLocks noChangeAspect="1"/>
          </p:cNvPicPr>
          <p:nvPr/>
        </p:nvPicPr>
        <p:blipFill>
          <a:blip r:embed="rId10"/>
          <a:srcRect t="15787" b="27343"/>
          <a:stretch>
            <a:fillRect/>
          </a:stretch>
        </p:blipFill>
        <p:spPr>
          <a:xfrm>
            <a:off x="1903730" y="4128135"/>
            <a:ext cx="2636520" cy="266509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8"/>
          <p:cNvPicPr>
            <a:picLocks noChangeAspect="1"/>
          </p:cNvPicPr>
          <p:nvPr/>
        </p:nvPicPr>
        <p:blipFill>
          <a:blip r:embed="rId1"/>
          <a:stretch>
            <a:fillRect/>
          </a:stretch>
        </p:blipFill>
        <p:spPr>
          <a:xfrm rot="21600000">
            <a:off x="152" y="0"/>
            <a:ext cx="12191695" cy="6858000"/>
          </a:xfrm>
          <a:prstGeom prst="rect">
            <a:avLst/>
          </a:prstGeom>
        </p:spPr>
      </p:pic>
      <p:pic>
        <p:nvPicPr>
          <p:cNvPr id="32" name="picture 32"/>
          <p:cNvPicPr>
            <a:picLocks noChangeAspect="1"/>
          </p:cNvPicPr>
          <p:nvPr/>
        </p:nvPicPr>
        <p:blipFill>
          <a:blip r:embed="rId2"/>
          <a:stretch>
            <a:fillRect/>
          </a:stretch>
        </p:blipFill>
        <p:spPr>
          <a:xfrm rot="21600000">
            <a:off x="63317" y="268049"/>
            <a:ext cx="3320081" cy="488431"/>
          </a:xfrm>
          <a:prstGeom prst="rect">
            <a:avLst/>
          </a:prstGeom>
        </p:spPr>
      </p:pic>
      <p:sp>
        <p:nvSpPr>
          <p:cNvPr id="2" name="标题 1"/>
          <p:cNvSpPr txBox="1"/>
          <p:nvPr>
            <p:custDataLst>
              <p:tags r:id="rId3"/>
            </p:custDataLst>
          </p:nvPr>
        </p:nvSpPr>
        <p:spPr>
          <a:xfrm>
            <a:off x="983706" y="1268572"/>
            <a:ext cx="5321843" cy="307777"/>
          </a:xfrm>
          <a:prstGeom prst="rect">
            <a:avLst/>
          </a:prstGeom>
          <a:noFill/>
          <a:ln>
            <a:noFill/>
          </a:ln>
        </p:spPr>
        <p:txBody>
          <a:bodyPr vert="horz" wrap="square" lIns="0" tIns="0" rIns="0" bIns="0" rtlCol="0" anchor="t"/>
          <a:lstStyle/>
          <a:p>
            <a:pPr marL="342900" indent="-342900" algn="l">
              <a:lnSpc>
                <a:spcPct val="100000"/>
              </a:lnSpc>
              <a:buFont typeface="Wingdings" panose="05000000000000000000" charset="0"/>
              <a:buChar char="u"/>
            </a:pPr>
            <a:r>
              <a:rPr kumimoji="1" lang="en-US" altLang="zh-CN" sz="2400">
                <a:ln w="12700">
                  <a:noFill/>
                </a:ln>
                <a:solidFill>
                  <a:sysClr val="window" lastClr="FFFFFF"/>
                </a:solidFill>
                <a:cs typeface="Source Han Sans CN Bold" panose="020B0800000000000000" charset="-122"/>
              </a:rPr>
              <a:t>实时数据上传与远程监控</a:t>
            </a:r>
            <a:r>
              <a:rPr kumimoji="1" lang="zh-CN" altLang="en-US" sz="2400">
                <a:ln w="12700">
                  <a:noFill/>
                </a:ln>
                <a:solidFill>
                  <a:sysClr val="window" lastClr="FFFFFF"/>
                </a:solidFill>
                <a:cs typeface="Source Han Sans CN Bold" panose="020B0800000000000000" charset="-122"/>
              </a:rPr>
              <a:t>。</a:t>
            </a:r>
            <a:endParaRPr kumimoji="1" lang="zh-CN" altLang="en-US" sz="2400">
              <a:ln w="12700">
                <a:noFill/>
              </a:ln>
              <a:solidFill>
                <a:sysClr val="window" lastClr="FFFFFF"/>
              </a:solidFill>
              <a:cs typeface="Source Han Sans CN Bold" panose="020B0800000000000000" charset="-122"/>
            </a:endParaRPr>
          </a:p>
        </p:txBody>
      </p:sp>
      <p:sp>
        <p:nvSpPr>
          <p:cNvPr id="3" name="标题 1"/>
          <p:cNvSpPr txBox="1"/>
          <p:nvPr>
            <p:custDataLst>
              <p:tags r:id="rId4"/>
            </p:custDataLst>
          </p:nvPr>
        </p:nvSpPr>
        <p:spPr>
          <a:xfrm>
            <a:off x="982980" y="1628775"/>
            <a:ext cx="10328275" cy="1724660"/>
          </a:xfrm>
          <a:prstGeom prst="rect">
            <a:avLst/>
          </a:prstGeom>
          <a:noFill/>
          <a:ln>
            <a:noFill/>
          </a:ln>
        </p:spPr>
        <p:txBody>
          <a:bodyPr vert="horz" wrap="square" lIns="0" tIns="0" rIns="0" bIns="0" rtlCol="0" anchor="t">
            <a:normAutofit/>
          </a:bodyPr>
          <a:lstStyle/>
          <a:p>
            <a:pPr marL="342900" indent="-342900" algn="l">
              <a:lnSpc>
                <a:spcPct val="150000"/>
              </a:lnSpc>
              <a:buFont typeface="Wingdings" panose="05000000000000000000" charset="0"/>
              <a:buChar char="u"/>
            </a:pPr>
            <a:r>
              <a:rPr kumimoji="1" lang="en-US" altLang="zh-CN" sz="2000">
                <a:ln w="12700">
                  <a:noFill/>
                </a:ln>
                <a:solidFill>
                  <a:sysClr val="window" lastClr="FFFFFF"/>
                </a:solidFill>
                <a:cs typeface="Source Han Sans" panose="020B0500000000000000" charset="-122"/>
              </a:rPr>
              <a:t>传感器采集的数据实时上传至云平台，家属或医护人员可通过用户界面随时随地查看盲人位置、健康状况等信息。</a:t>
            </a:r>
            <a:endParaRPr kumimoji="1" lang="en-US" altLang="zh-CN" sz="2000">
              <a:ln w="12700">
                <a:noFill/>
              </a:ln>
              <a:solidFill>
                <a:sysClr val="window" lastClr="FFFFFF"/>
              </a:solidFill>
              <a:cs typeface="Source Han Sans" panose="020B0500000000000000" charset="-122"/>
            </a:endParaRPr>
          </a:p>
          <a:p>
            <a:pPr marL="342900" indent="-342900" algn="l">
              <a:lnSpc>
                <a:spcPct val="150000"/>
              </a:lnSpc>
              <a:buFont typeface="Wingdings" panose="05000000000000000000" charset="0"/>
              <a:buChar char="u"/>
            </a:pPr>
            <a:r>
              <a:rPr kumimoji="1" lang="en-US" altLang="zh-CN" sz="2000">
                <a:ln w="12700">
                  <a:noFill/>
                </a:ln>
                <a:solidFill>
                  <a:sysClr val="window" lastClr="FFFFFF"/>
                </a:solidFill>
                <a:cs typeface="Source Han Sans" panose="020B0500000000000000" charset="-122"/>
              </a:rPr>
              <a:t>实现对盲人的远程监护，及时发现潜在危险，为盲人提供更全面的安全保障。</a:t>
            </a:r>
            <a:endParaRPr kumimoji="1" lang="en-US" altLang="zh-CN" sz="2000">
              <a:ln w="12700">
                <a:noFill/>
              </a:ln>
              <a:solidFill>
                <a:sysClr val="window" lastClr="FFFFFF"/>
              </a:solidFill>
              <a:cs typeface="Source Han Sans" panose="020B0500000000000000" charset="-122"/>
            </a:endParaRPr>
          </a:p>
        </p:txBody>
      </p:sp>
      <p:pic>
        <p:nvPicPr>
          <p:cNvPr id="4" name="图片 3" descr="连接设备"/>
          <p:cNvPicPr>
            <a:picLocks noChangeAspect="1"/>
          </p:cNvPicPr>
          <p:nvPr>
            <p:custDataLst>
              <p:tags r:id="rId5"/>
            </p:custDataLst>
          </p:nvPr>
        </p:nvPicPr>
        <p:blipFill>
          <a:blip r:embed="rId6"/>
          <a:srcRect l="5759" t="7334" r="6115" b="72128"/>
          <a:stretch>
            <a:fillRect/>
          </a:stretch>
        </p:blipFill>
        <p:spPr>
          <a:xfrm>
            <a:off x="0" y="4718050"/>
            <a:ext cx="4032250" cy="2088515"/>
          </a:xfrm>
          <a:prstGeom prst="rect">
            <a:avLst/>
          </a:prstGeom>
        </p:spPr>
      </p:pic>
      <p:pic>
        <p:nvPicPr>
          <p:cNvPr id="5" name="图片 4" descr="随时监测"/>
          <p:cNvPicPr>
            <a:picLocks noChangeAspect="1"/>
          </p:cNvPicPr>
          <p:nvPr>
            <p:custDataLst>
              <p:tags r:id="rId7"/>
            </p:custDataLst>
          </p:nvPr>
        </p:nvPicPr>
        <p:blipFill>
          <a:blip r:embed="rId8"/>
          <a:srcRect l="9199" t="35949" r="8029"/>
          <a:stretch>
            <a:fillRect/>
          </a:stretch>
        </p:blipFill>
        <p:spPr>
          <a:xfrm>
            <a:off x="4511675" y="3644900"/>
            <a:ext cx="6988810" cy="3161665"/>
          </a:xfrm>
          <a:prstGeom prst="rect">
            <a:avLst/>
          </a:prstGeom>
        </p:spPr>
      </p:pic>
      <p:pic>
        <p:nvPicPr>
          <p:cNvPr id="6" name="图片 5" descr="屏幕截图 2025-03-25 205951"/>
          <p:cNvPicPr>
            <a:picLocks noChangeAspect="1"/>
          </p:cNvPicPr>
          <p:nvPr>
            <p:custDataLst>
              <p:tags r:id="rId9"/>
            </p:custDataLst>
          </p:nvPr>
        </p:nvPicPr>
        <p:blipFill>
          <a:blip r:embed="rId10"/>
          <a:srcRect l="26250" b="-3055"/>
          <a:stretch>
            <a:fillRect/>
          </a:stretch>
        </p:blipFill>
        <p:spPr>
          <a:xfrm>
            <a:off x="4511675" y="2997200"/>
            <a:ext cx="6988810" cy="699135"/>
          </a:xfrm>
          <a:prstGeom prst="rect">
            <a:avLst/>
          </a:prstGeom>
        </p:spPr>
      </p:pic>
      <p:pic>
        <p:nvPicPr>
          <p:cNvPr id="11" name="图片 10" descr="配置网络"/>
          <p:cNvPicPr>
            <a:picLocks noChangeAspect="1"/>
          </p:cNvPicPr>
          <p:nvPr>
            <p:custDataLst>
              <p:tags r:id="rId11"/>
            </p:custDataLst>
          </p:nvPr>
        </p:nvPicPr>
        <p:blipFill>
          <a:blip r:embed="rId12"/>
          <a:srcRect t="6954" r="-103" b="42648"/>
          <a:stretch>
            <a:fillRect/>
          </a:stretch>
        </p:blipFill>
        <p:spPr>
          <a:xfrm>
            <a:off x="1487170" y="3068955"/>
            <a:ext cx="3033395" cy="2682875"/>
          </a:xfrm>
          <a:prstGeom prst="rect">
            <a:avLst/>
          </a:prstGeom>
        </p:spPr>
      </p:pic>
      <p:sp>
        <p:nvSpPr>
          <p:cNvPr id="22" name="标题 6"/>
          <p:cNvSpPr>
            <a:spLocks noGrp="1"/>
          </p:cNvSpPr>
          <p:nvPr>
            <p:custDataLst>
              <p:tags r:id="rId13"/>
            </p:custDataLst>
          </p:nvPr>
        </p:nvSpPr>
        <p:spPr>
          <a:xfrm>
            <a:off x="4451350" y="152400"/>
            <a:ext cx="5451475" cy="720090"/>
          </a:xfrm>
          <a:prstGeom prst="rect">
            <a:avLst/>
          </a:prstGeom>
        </p:spPr>
        <p:txBody>
          <a:bodyPr vert="horz" wrap="square" lIns="0" tIns="0" rIns="0" bIns="0" rtlCol="0" anchor="b">
            <a:normAutofit/>
          </a:bodyPr>
          <a:lstStyle>
            <a:lvl1pPr algn="l" defTabSz="914400" rtl="0" eaLnBrk="1" latinLnBrk="0" hangingPunct="1">
              <a:lnSpc>
                <a:spcPct val="100000"/>
              </a:lnSpc>
              <a:spcBef>
                <a:spcPct val="0"/>
              </a:spcBef>
              <a:buNone/>
              <a:defRPr sz="3200" b="1" kern="1200">
                <a:gradFill>
                  <a:gsLst>
                    <a:gs pos="33000">
                      <a:srgbClr val="FFFFFF"/>
                    </a:gs>
                    <a:gs pos="100000">
                      <a:srgbClr val="05B4EB"/>
                    </a:gs>
                  </a:gsLst>
                  <a:lin ang="2700000" scaled="0"/>
                </a:gradFill>
                <a:latin typeface="Arial" panose="020B0604020202020204" pitchFamily="34" charset="0"/>
                <a:ea typeface="微软雅黑" panose="020B0503020204020204" charset="-122"/>
                <a:cs typeface="+mn-ea"/>
              </a:defRPr>
            </a:lvl1pPr>
          </a:lstStyle>
          <a:p>
            <a:pPr algn="l">
              <a:lnSpc>
                <a:spcPct val="110000"/>
              </a:lnSpc>
            </a:pPr>
            <a:r>
              <a:rPr lang="zh-CN" altLang="en-US">
                <a:solidFill>
                  <a:sysClr val="window" lastClr="FFFFFF"/>
                </a:solidFill>
              </a:rPr>
              <a:t> </a:t>
            </a:r>
            <a:r>
              <a:rPr kumimoji="1" lang="zh-CN" altLang="en-US">
                <a:ln w="12700">
                  <a:noFill/>
                </a:ln>
                <a:solidFill>
                  <a:sysClr val="window" lastClr="FFFFFF">
                    <a:alpha val="100000"/>
                  </a:sysClr>
                </a:solidFill>
                <a:latin typeface="Franklin Gothic Medium" panose="020B0603020102020204" charset="0"/>
                <a:ea typeface="微软雅黑" panose="020B0503020204020204" charset="-122"/>
                <a:cs typeface="Source Han Sans CN Bold" panose="020B0800000000000000" charset="-122"/>
                <a:sym typeface="微软雅黑" panose="020B0503020204020204" charset="-122"/>
              </a:rPr>
              <a:t>云平台数据管理</a:t>
            </a:r>
            <a:endParaRPr kumimoji="1" lang="zh-CN" altLang="en-US">
              <a:ln w="12700">
                <a:noFill/>
              </a:ln>
              <a:solidFill>
                <a:sysClr val="window" lastClr="FFFFFF">
                  <a:alpha val="100000"/>
                </a:sysClr>
              </a:solidFill>
              <a:latin typeface="Franklin Gothic Medium" panose="020B0603020102020204" charset="0"/>
              <a:ea typeface="微软雅黑" panose="020B0503020204020204" charset="-122"/>
              <a:cs typeface="Source Han Sans CN Bold" panose="020B0800000000000000" charset="-122"/>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34"/>
          <p:cNvPicPr>
            <a:picLocks noChangeAspect="1"/>
          </p:cNvPicPr>
          <p:nvPr/>
        </p:nvPicPr>
        <p:blipFill>
          <a:blip r:embed="rId1"/>
          <a:stretch>
            <a:fillRect/>
          </a:stretch>
        </p:blipFill>
        <p:spPr>
          <a:xfrm rot="21600000">
            <a:off x="152" y="0"/>
            <a:ext cx="12191695" cy="6858000"/>
          </a:xfrm>
          <a:prstGeom prst="rect">
            <a:avLst/>
          </a:prstGeom>
        </p:spPr>
      </p:pic>
      <p:pic>
        <p:nvPicPr>
          <p:cNvPr id="38" name="picture 38"/>
          <p:cNvPicPr>
            <a:picLocks noChangeAspect="1"/>
          </p:cNvPicPr>
          <p:nvPr/>
        </p:nvPicPr>
        <p:blipFill>
          <a:blip r:embed="rId2"/>
          <a:stretch>
            <a:fillRect/>
          </a:stretch>
        </p:blipFill>
        <p:spPr>
          <a:xfrm rot="21600000">
            <a:off x="63317" y="268049"/>
            <a:ext cx="3332696" cy="486158"/>
          </a:xfrm>
          <a:prstGeom prst="rect">
            <a:avLst/>
          </a:prstGeom>
        </p:spPr>
      </p:pic>
      <p:sp>
        <p:nvSpPr>
          <p:cNvPr id="3" name="文本框 2"/>
          <p:cNvSpPr txBox="1"/>
          <p:nvPr/>
        </p:nvSpPr>
        <p:spPr>
          <a:xfrm>
            <a:off x="863600" y="1145858"/>
            <a:ext cx="5080000" cy="521970"/>
          </a:xfrm>
          <a:prstGeom prst="rect">
            <a:avLst/>
          </a:prstGeom>
        </p:spPr>
        <p:txBody>
          <a:bodyPr>
            <a:spAutoFit/>
          </a:bodyPr>
          <a:p>
            <a:r>
              <a:rPr lang="zh-CN" altLang="en-US" sz="2800">
                <a:solidFill>
                  <a:schemeClr val="bg1"/>
                </a:solidFill>
              </a:rPr>
              <a:t>实验室小试</a:t>
            </a:r>
            <a:endParaRPr lang="zh-CN" altLang="en-US" sz="2800">
              <a:solidFill>
                <a:schemeClr val="bg1"/>
              </a:solidFill>
            </a:endParaRPr>
          </a:p>
        </p:txBody>
      </p:sp>
      <p:sp>
        <p:nvSpPr>
          <p:cNvPr id="4" name="文本框 3"/>
          <p:cNvSpPr txBox="1"/>
          <p:nvPr/>
        </p:nvSpPr>
        <p:spPr>
          <a:xfrm>
            <a:off x="804545" y="1864995"/>
            <a:ext cx="10356850" cy="845185"/>
          </a:xfrm>
          <a:prstGeom prst="rect">
            <a:avLst/>
          </a:prstGeom>
        </p:spPr>
        <p:txBody>
          <a:bodyPr wrap="square">
            <a:spAutoFit/>
          </a:bodyPr>
          <a:p>
            <a:r>
              <a:rPr lang="zh-CN" altLang="en-US" sz="2000">
                <a:solidFill>
                  <a:schemeClr val="bg1"/>
                </a:solidFill>
              </a:rPr>
              <a:t>基于 </a:t>
            </a:r>
            <a:r>
              <a:rPr lang="en-US" altLang="zh-CN" sz="2000">
                <a:solidFill>
                  <a:schemeClr val="bg1"/>
                </a:solidFill>
              </a:rPr>
              <a:t>STM32+ESP32‑S3 </a:t>
            </a:r>
            <a:r>
              <a:rPr lang="zh-CN" altLang="en-US" sz="2000">
                <a:solidFill>
                  <a:schemeClr val="bg1"/>
                </a:solidFill>
              </a:rPr>
              <a:t>双主控平台完成全功能原型机开发，通过</a:t>
            </a:r>
            <a:r>
              <a:rPr lang="zh-CN" altLang="en-US" sz="2000" b="1">
                <a:solidFill>
                  <a:schemeClr val="bg1"/>
                </a:solidFill>
              </a:rPr>
              <a:t>障碍物检测、物体识别、健康监测、语音交互、云端上传</a:t>
            </a:r>
            <a:r>
              <a:rPr lang="zh-CN" altLang="en-US" sz="2000">
                <a:solidFill>
                  <a:schemeClr val="bg1"/>
                </a:solidFill>
              </a:rPr>
              <a:t>五大核心模块联调测试</a:t>
            </a:r>
            <a:r>
              <a:rPr lang="zh-CN" altLang="en-US" sz="2900">
                <a:solidFill>
                  <a:schemeClr val="bg1"/>
                </a:solidFill>
              </a:rPr>
              <a:t>。</a:t>
            </a:r>
            <a:endParaRPr lang="zh-CN" altLang="en-US" sz="2900">
              <a:solidFill>
                <a:schemeClr val="bg1"/>
              </a:solidFill>
            </a:endParaRPr>
          </a:p>
        </p:txBody>
      </p:sp>
      <p:sp>
        <p:nvSpPr>
          <p:cNvPr id="5" name="文本框 4"/>
          <p:cNvSpPr txBox="1"/>
          <p:nvPr/>
        </p:nvSpPr>
        <p:spPr>
          <a:xfrm>
            <a:off x="863600" y="3429000"/>
            <a:ext cx="10830560" cy="2811780"/>
          </a:xfrm>
          <a:prstGeom prst="rect">
            <a:avLst/>
          </a:prstGeom>
        </p:spPr>
        <p:txBody>
          <a:bodyPr wrap="square">
            <a:noAutofit/>
          </a:bodyPr>
          <a:p>
            <a:pPr marL="0" indent="0">
              <a:lnSpc>
                <a:spcPts val="900"/>
              </a:lnSpc>
              <a:spcBef>
                <a:spcPct val="0"/>
              </a:spcBef>
              <a:spcAft>
                <a:spcPct val="0"/>
              </a:spcAft>
            </a:pPr>
            <a:r>
              <a:rPr lang="zh-CN" altLang="en-US" sz="2800" b="1">
                <a:solidFill>
                  <a:schemeClr val="bg1"/>
                </a:solidFill>
              </a:rPr>
              <a:t>用户应用效果</a:t>
            </a:r>
            <a:endParaRPr lang="zh-CN" altLang="en-US" sz="2800" b="1">
              <a:solidFill>
                <a:schemeClr val="bg1"/>
              </a:solidFill>
            </a:endParaRPr>
          </a:p>
          <a:p>
            <a:pPr marL="0" indent="0">
              <a:lnSpc>
                <a:spcPts val="900"/>
              </a:lnSpc>
              <a:spcBef>
                <a:spcPct val="0"/>
              </a:spcBef>
              <a:spcAft>
                <a:spcPct val="0"/>
              </a:spcAft>
            </a:pPr>
            <a:endParaRPr lang="zh-CN" altLang="en-US" sz="2400" b="1">
              <a:solidFill>
                <a:schemeClr val="bg1"/>
              </a:solidFill>
            </a:endParaRPr>
          </a:p>
          <a:p>
            <a:pPr marL="0" indent="0">
              <a:lnSpc>
                <a:spcPts val="900"/>
              </a:lnSpc>
              <a:spcBef>
                <a:spcPct val="0"/>
              </a:spcBef>
              <a:spcAft>
                <a:spcPct val="0"/>
              </a:spcAft>
            </a:pPr>
            <a:endParaRPr lang="zh-CN" altLang="en-US" sz="2400" b="1">
              <a:solidFill>
                <a:schemeClr val="bg1"/>
              </a:solidFill>
            </a:endParaRPr>
          </a:p>
          <a:p>
            <a:pPr marL="0" indent="0">
              <a:lnSpc>
                <a:spcPts val="900"/>
              </a:lnSpc>
              <a:spcBef>
                <a:spcPct val="0"/>
              </a:spcBef>
              <a:spcAft>
                <a:spcPct val="0"/>
              </a:spcAft>
            </a:pPr>
            <a:endParaRPr lang="zh-CN" altLang="en-US" sz="2000" b="1">
              <a:solidFill>
                <a:schemeClr val="bg1"/>
              </a:solidFill>
            </a:endParaRPr>
          </a:p>
          <a:p>
            <a:pPr marL="0" indent="0">
              <a:lnSpc>
                <a:spcPts val="900"/>
              </a:lnSpc>
              <a:spcBef>
                <a:spcPct val="0"/>
              </a:spcBef>
              <a:spcAft>
                <a:spcPct val="0"/>
              </a:spcAft>
              <a:buFont typeface="Arial" panose="020B0604020202020204"/>
              <a:buChar char="•"/>
            </a:pPr>
            <a:r>
              <a:rPr lang="zh-CN" altLang="en-US" sz="2000" b="0">
                <a:gradFill>
                  <a:gsLst>
                    <a:gs pos="50000">
                      <a:schemeClr val="accent4"/>
                    </a:gs>
                    <a:gs pos="0">
                      <a:schemeClr val="accent4">
                        <a:lumMod val="25000"/>
                        <a:lumOff val="75000"/>
                      </a:schemeClr>
                    </a:gs>
                    <a:gs pos="100000">
                      <a:schemeClr val="accent4">
                        <a:lumMod val="85000"/>
                      </a:schemeClr>
                    </a:gs>
                  </a:gsLst>
                  <a:lin ang="5400000" scaled="1"/>
                </a:gradFill>
              </a:rPr>
              <a:t>安全层面</a:t>
            </a:r>
            <a:r>
              <a:rPr lang="zh-CN" altLang="en-US" sz="2000" b="0">
                <a:solidFill>
                  <a:schemeClr val="bg1"/>
                </a:solidFill>
              </a:rPr>
              <a:t>：中试期间零安全事故，障碍物预警、紧急求救、健康异常报警三大防护体系有效降</a:t>
            </a: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None/>
            </a:pPr>
            <a:r>
              <a:rPr lang="zh-CN" altLang="en-US" sz="2000" b="0">
                <a:solidFill>
                  <a:schemeClr val="bg1"/>
                </a:solidFill>
              </a:rPr>
              <a:t>低出行与健康风险。</a:t>
            </a: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gradFill>
                <a:gsLst>
                  <a:gs pos="50000">
                    <a:schemeClr val="accent4"/>
                  </a:gs>
                  <a:gs pos="0">
                    <a:schemeClr val="accent4">
                      <a:lumMod val="25000"/>
                      <a:lumOff val="75000"/>
                    </a:schemeClr>
                  </a:gs>
                  <a:gs pos="100000">
                    <a:schemeClr val="accent4">
                      <a:lumMod val="85000"/>
                    </a:schemeClr>
                  </a:gs>
                </a:gsLst>
                <a:lin ang="5400000" scaled="1"/>
              </a:gradFill>
            </a:endParaRPr>
          </a:p>
          <a:p>
            <a:pPr marL="0" indent="0">
              <a:lnSpc>
                <a:spcPts val="900"/>
              </a:lnSpc>
              <a:spcBef>
                <a:spcPct val="0"/>
              </a:spcBef>
              <a:spcAft>
                <a:spcPct val="0"/>
              </a:spcAft>
              <a:buFont typeface="Arial" panose="020B0604020202020204"/>
              <a:buChar char="•"/>
            </a:pPr>
            <a:r>
              <a:rPr lang="zh-CN" altLang="en-US" sz="2000" b="0">
                <a:gradFill>
                  <a:gsLst>
                    <a:gs pos="50000">
                      <a:schemeClr val="accent4"/>
                    </a:gs>
                    <a:gs pos="0">
                      <a:schemeClr val="accent4">
                        <a:lumMod val="25000"/>
                        <a:lumOff val="75000"/>
                      </a:schemeClr>
                    </a:gs>
                    <a:gs pos="100000">
                      <a:schemeClr val="accent4">
                        <a:lumMod val="85000"/>
                      </a:schemeClr>
                    </a:gs>
                  </a:gsLst>
                  <a:lin ang="5400000" scaled="1"/>
                </a:gradFill>
              </a:rPr>
              <a:t>自理能力</a:t>
            </a:r>
            <a:r>
              <a:rPr lang="zh-CN" altLang="en-US" sz="2000" b="0">
                <a:solidFill>
                  <a:schemeClr val="bg1"/>
                </a:solidFill>
              </a:rPr>
              <a:t>：</a:t>
            </a:r>
            <a:r>
              <a:rPr lang="en-US" altLang="zh-CN" sz="2000" b="0">
                <a:solidFill>
                  <a:schemeClr val="bg1"/>
                </a:solidFill>
              </a:rPr>
              <a:t>85% </a:t>
            </a:r>
            <a:r>
              <a:rPr lang="zh-CN" altLang="en-US" sz="2000" b="0">
                <a:solidFill>
                  <a:schemeClr val="bg1"/>
                </a:solidFill>
              </a:rPr>
              <a:t>的体验者可独立完成外出购物、公共交通出行、居家自主生活，生活自理能力</a:t>
            </a: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None/>
            </a:pPr>
            <a:r>
              <a:rPr lang="zh-CN" altLang="en-US" sz="2000" b="0">
                <a:solidFill>
                  <a:schemeClr val="bg1"/>
                </a:solidFill>
              </a:rPr>
              <a:t>显著提升。</a:t>
            </a: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Char char="•"/>
            </a:pPr>
            <a:r>
              <a:rPr lang="zh-CN" altLang="en-US" sz="2000" b="0">
                <a:gradFill>
                  <a:gsLst>
                    <a:gs pos="50000">
                      <a:schemeClr val="accent4"/>
                    </a:gs>
                    <a:gs pos="0">
                      <a:schemeClr val="accent4">
                        <a:lumMod val="25000"/>
                        <a:lumOff val="75000"/>
                      </a:schemeClr>
                    </a:gs>
                    <a:gs pos="100000">
                      <a:schemeClr val="accent4">
                        <a:lumMod val="85000"/>
                      </a:schemeClr>
                    </a:gs>
                  </a:gsLst>
                  <a:lin ang="5400000" scaled="1"/>
                </a:gradFill>
              </a:rPr>
              <a:t>体验反馈</a:t>
            </a:r>
            <a:r>
              <a:rPr lang="zh-CN" altLang="en-US" sz="2000" b="0">
                <a:solidFill>
                  <a:schemeClr val="bg1"/>
                </a:solidFill>
              </a:rPr>
              <a:t>：语音交互自然流畅、佩戴轻便（</a:t>
            </a:r>
            <a:r>
              <a:rPr lang="en-US" altLang="zh-CN" sz="2000" b="0">
                <a:solidFill>
                  <a:schemeClr val="bg1"/>
                </a:solidFill>
              </a:rPr>
              <a:t>&lt;200g</a:t>
            </a:r>
            <a:r>
              <a:rPr lang="zh-CN" altLang="en-US" sz="2000" b="0">
                <a:solidFill>
                  <a:schemeClr val="bg1"/>
                </a:solidFill>
              </a:rPr>
              <a:t>）、操作简单，获视障用户</a:t>
            </a:r>
            <a:r>
              <a:rPr lang="zh-CN" altLang="en-US" sz="2000" b="1">
                <a:solidFill>
                  <a:schemeClr val="bg1"/>
                </a:solidFill>
              </a:rPr>
              <a:t>满意度 </a:t>
            </a:r>
            <a:r>
              <a:rPr lang="en-US" altLang="zh-CN" sz="2000" b="1">
                <a:solidFill>
                  <a:schemeClr val="bg1"/>
                </a:solidFill>
              </a:rPr>
              <a:t>92%</a:t>
            </a:r>
            <a:r>
              <a:rPr lang="zh-CN" altLang="en-US" sz="2000" b="0">
                <a:solidFill>
                  <a:schemeClr val="bg1"/>
                </a:solidFill>
              </a:rPr>
              <a:t>。</a:t>
            </a:r>
            <a:endParaRPr lang="zh-CN" altLang="en-US" sz="2000" b="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40"/>
          <p:cNvPicPr>
            <a:picLocks noChangeAspect="1"/>
          </p:cNvPicPr>
          <p:nvPr/>
        </p:nvPicPr>
        <p:blipFill>
          <a:blip r:embed="rId1"/>
          <a:stretch>
            <a:fillRect/>
          </a:stretch>
        </p:blipFill>
        <p:spPr>
          <a:xfrm rot="21600000">
            <a:off x="152" y="0"/>
            <a:ext cx="12191695" cy="6858000"/>
          </a:xfrm>
          <a:prstGeom prst="rect">
            <a:avLst/>
          </a:prstGeom>
        </p:spPr>
      </p:pic>
      <p:pic>
        <p:nvPicPr>
          <p:cNvPr id="44" name="picture 44"/>
          <p:cNvPicPr>
            <a:picLocks noChangeAspect="1"/>
          </p:cNvPicPr>
          <p:nvPr/>
        </p:nvPicPr>
        <p:blipFill>
          <a:blip r:embed="rId2"/>
          <a:stretch>
            <a:fillRect/>
          </a:stretch>
        </p:blipFill>
        <p:spPr>
          <a:xfrm rot="21600000">
            <a:off x="50666" y="248568"/>
            <a:ext cx="3345346" cy="505639"/>
          </a:xfrm>
          <a:prstGeom prst="rect">
            <a:avLst/>
          </a:prstGeom>
        </p:spPr>
      </p:pic>
      <p:sp>
        <p:nvSpPr>
          <p:cNvPr id="8" name="矩形: 圆角 22"/>
          <p:cNvSpPr/>
          <p:nvPr>
            <p:custDataLst>
              <p:tags r:id="rId3"/>
            </p:custDataLst>
          </p:nvPr>
        </p:nvSpPr>
        <p:spPr>
          <a:xfrm>
            <a:off x="684530" y="1735455"/>
            <a:ext cx="3323590" cy="4070985"/>
          </a:xfrm>
          <a:prstGeom prst="roundRect">
            <a:avLst>
              <a:gd name="adj" fmla="val 6347"/>
            </a:avLst>
          </a:prstGeom>
          <a:solidFill>
            <a:srgbClr val="FFFFFF">
              <a:alpha val="5000"/>
            </a:srgbClr>
          </a:solidFill>
          <a:ln w="15875" cap="flat" cmpd="sng" algn="ctr">
            <a:noFill/>
            <a:prstDash val="solid"/>
            <a:miter lim="800000"/>
          </a:ln>
          <a:effectLst>
            <a:outerShdw blurRad="279400" dist="228600" dir="2700000" algn="tl" rotWithShape="0">
              <a:srgbClr val="05B4EB">
                <a:alpha val="8000"/>
              </a:srgbClr>
            </a:outerShdw>
          </a:effectLst>
        </p:spPr>
        <p:txBody>
          <a:bodyPr wrap="square" lIns="239795" tIns="616585" rIns="239795" bIns="350520" rtlCol="0" anchor="ctr">
            <a:noAutofit/>
          </a:bodyPr>
          <a:lstStyle/>
          <a:p>
            <a:pPr algn="ctr">
              <a:lnSpc>
                <a:spcPct val="150000"/>
              </a:lnSpc>
            </a:pPr>
            <a:endParaRPr lang="zh-CN" altLang="zh-CN" sz="1600" dirty="0">
              <a:solidFill>
                <a:sysClr val="window" lastClr="FFFFFF">
                  <a:lumMod val="85000"/>
                  <a:lumOff val="15000"/>
                </a:sys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矩形: 圆角 33"/>
          <p:cNvSpPr/>
          <p:nvPr>
            <p:custDataLst>
              <p:tags r:id="rId4"/>
            </p:custDataLst>
          </p:nvPr>
        </p:nvSpPr>
        <p:spPr>
          <a:xfrm>
            <a:off x="4426585" y="1735455"/>
            <a:ext cx="3323590" cy="4070985"/>
          </a:xfrm>
          <a:prstGeom prst="roundRect">
            <a:avLst>
              <a:gd name="adj" fmla="val 6347"/>
            </a:avLst>
          </a:prstGeom>
          <a:solidFill>
            <a:srgbClr val="FFFFFF">
              <a:alpha val="5000"/>
            </a:srgbClr>
          </a:solidFill>
          <a:ln w="15875" cap="flat" cmpd="sng" algn="ctr">
            <a:noFill/>
            <a:prstDash val="solid"/>
            <a:miter lim="800000"/>
          </a:ln>
          <a:effectLst>
            <a:outerShdw blurRad="279400" dist="228600" dir="2700000" algn="tl" rotWithShape="0">
              <a:srgbClr val="FFAE37">
                <a:alpha val="8000"/>
              </a:srgbClr>
            </a:outerShdw>
          </a:effectLst>
        </p:spPr>
        <p:txBody>
          <a:bodyPr wrap="square" lIns="239795" tIns="616585" rIns="239795" bIns="350520" rtlCol="0" anchor="ctr">
            <a:noAutofit/>
          </a:bodyPr>
          <a:lstStyle/>
          <a:p>
            <a:pPr algn="ctr">
              <a:lnSpc>
                <a:spcPct val="150000"/>
              </a:lnSpc>
            </a:pPr>
            <a:endParaRPr lang="zh-CN" altLang="zh-CN" sz="1600" dirty="0">
              <a:solidFill>
                <a:sysClr val="window" lastClr="FFFFFF">
                  <a:lumMod val="85000"/>
                  <a:lumOff val="15000"/>
                </a:sys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 name="矩形: 圆角 44"/>
          <p:cNvSpPr/>
          <p:nvPr>
            <p:custDataLst>
              <p:tags r:id="rId5"/>
            </p:custDataLst>
          </p:nvPr>
        </p:nvSpPr>
        <p:spPr>
          <a:xfrm>
            <a:off x="8176260" y="1735455"/>
            <a:ext cx="3323590" cy="4070985"/>
          </a:xfrm>
          <a:prstGeom prst="roundRect">
            <a:avLst>
              <a:gd name="adj" fmla="val 6347"/>
            </a:avLst>
          </a:prstGeom>
          <a:solidFill>
            <a:srgbClr val="FFFFFF">
              <a:alpha val="5000"/>
            </a:srgbClr>
          </a:solidFill>
          <a:ln w="15875" cap="flat" cmpd="sng" algn="ctr">
            <a:noFill/>
            <a:prstDash val="solid"/>
            <a:miter lim="800000"/>
          </a:ln>
          <a:effectLst>
            <a:outerShdw blurRad="279400" dist="228600" dir="2700000" algn="tl" rotWithShape="0">
              <a:srgbClr val="05B4EB">
                <a:alpha val="8000"/>
              </a:srgbClr>
            </a:outerShdw>
          </a:effectLst>
        </p:spPr>
        <p:txBody>
          <a:bodyPr wrap="square" lIns="239795" tIns="616585" rIns="239795" bIns="350520" rtlCol="0" anchor="ctr">
            <a:noAutofit/>
          </a:bodyPr>
          <a:lstStyle/>
          <a:p>
            <a:pPr algn="ctr">
              <a:lnSpc>
                <a:spcPct val="150000"/>
              </a:lnSpc>
            </a:pPr>
            <a:endParaRPr lang="zh-CN" altLang="zh-CN" sz="1600" dirty="0">
              <a:solidFill>
                <a:sysClr val="window" lastClr="FFFFFF">
                  <a:lumMod val="85000"/>
                  <a:lumOff val="15000"/>
                </a:sys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 name="矩形: 圆角 2"/>
          <p:cNvSpPr/>
          <p:nvPr>
            <p:custDataLst>
              <p:tags r:id="rId6"/>
            </p:custDataLst>
          </p:nvPr>
        </p:nvSpPr>
        <p:spPr>
          <a:xfrm>
            <a:off x="692150" y="1734820"/>
            <a:ext cx="3323590" cy="4070985"/>
          </a:xfrm>
          <a:prstGeom prst="roundRect">
            <a:avLst>
              <a:gd name="adj" fmla="val 6347"/>
            </a:avLst>
          </a:prstGeom>
          <a:gradFill flip="none" rotWithShape="1">
            <a:gsLst>
              <a:gs pos="0">
                <a:srgbClr val="05B4EB">
                  <a:lumMod val="20000"/>
                  <a:lumOff val="80000"/>
                  <a:alpha val="20000"/>
                </a:srgbClr>
              </a:gs>
              <a:gs pos="100000">
                <a:sysClr val="windowText" lastClr="000000">
                  <a:alpha val="0"/>
                </a:sysClr>
              </a:gs>
            </a:gsLst>
            <a:path path="circle">
              <a:fillToRect l="100000" t="100000"/>
            </a:path>
            <a:tileRect r="-100000" b="-100000"/>
          </a:gradFill>
          <a:ln w="15875" cap="flat" cmpd="sng" algn="ctr">
            <a:solidFill>
              <a:srgbClr val="05B4EB">
                <a:lumMod val="40000"/>
                <a:lumOff val="60000"/>
                <a:alpha val="60000"/>
              </a:srgbClr>
            </a:solidFill>
            <a:prstDash val="solid"/>
            <a:miter lim="800000"/>
          </a:ln>
          <a:effectLst>
            <a:outerShdw blurRad="279400" dist="228600" dir="2700000" algn="tl" rotWithShape="0">
              <a:srgbClr val="05B4EB">
                <a:alpha val="8000"/>
              </a:srgbClr>
            </a:outerShdw>
          </a:effectLst>
        </p:spPr>
        <p:txBody>
          <a:bodyPr wrap="square" lIns="239795" tIns="616585" rIns="239795" bIns="350520" rtlCol="0" anchor="ctr">
            <a:noAutofit/>
          </a:bodyPr>
          <a:lstStyle/>
          <a:p>
            <a:pPr marL="171450" indent="-171450" algn="l">
              <a:lnSpc>
                <a:spcPct val="150000"/>
              </a:lnSpc>
              <a:buFont typeface="Wingdings" panose="05000000000000000000" charset="0"/>
              <a:buChar char="u"/>
            </a:pPr>
            <a:r>
              <a:rPr kumimoji="1" lang="en-US" altLang="zh-CN" sz="1600">
                <a:ln w="12700">
                  <a:noFill/>
                </a:ln>
                <a:solidFill>
                  <a:sysClr val="window" lastClr="FFFFFF"/>
                </a:solidFill>
                <a:latin typeface="Arial" panose="020B0604020202020204" pitchFamily="34" charset="0"/>
                <a:ea typeface="微软雅黑" panose="020B0503020204020204" charset="-122"/>
                <a:cs typeface="Source Han Sans" panose="020B0500000000000000" charset="-122"/>
                <a:sym typeface="微软雅黑" panose="020B0503020204020204" charset="-122"/>
              </a:rPr>
              <a:t>帮助盲人轻松避开障碍物，顺利到达目的地，如独自前往超市购物、乘坐公共交通等。</a:t>
            </a:r>
            <a:endParaRPr kumimoji="1" lang="en-US" altLang="zh-CN" sz="1600">
              <a:ln w="12700">
                <a:noFill/>
              </a:ln>
              <a:solidFill>
                <a:sysClr val="window" lastClr="FFFFFF"/>
              </a:solidFill>
              <a:cs typeface="Source Han Sans" panose="020B0500000000000000" charset="-122"/>
            </a:endParaRPr>
          </a:p>
          <a:p>
            <a:pPr marL="171450" indent="-171450" algn="l">
              <a:lnSpc>
                <a:spcPct val="150000"/>
              </a:lnSpc>
              <a:buFont typeface="Wingdings" panose="05000000000000000000" charset="0"/>
              <a:buChar char="u"/>
            </a:pPr>
            <a:r>
              <a:rPr kumimoji="1" lang="en-US" altLang="zh-CN" sz="1600">
                <a:ln w="12700">
                  <a:noFill/>
                </a:ln>
                <a:solidFill>
                  <a:sysClr val="window" lastClr="FFFFFF"/>
                </a:solidFill>
                <a:latin typeface="Arial" panose="020B0604020202020204" pitchFamily="34" charset="0"/>
                <a:ea typeface="微软雅黑" panose="020B0503020204020204" charset="-122"/>
                <a:cs typeface="Source Han Sans" panose="020B0500000000000000" charset="-122"/>
                <a:sym typeface="微软雅黑" panose="020B0503020204020204" charset="-122"/>
              </a:rPr>
              <a:t>使盲人在不同场景下都能舒适地获取信息，提高生活自理能力</a:t>
            </a:r>
            <a:endParaRPr lang="zh-CN" altLang="zh-CN" sz="1600" dirty="0">
              <a:solidFill>
                <a:sysClr val="window" lastClr="FFFFFF">
                  <a:lumMod val="85000"/>
                  <a:lumOff val="15000"/>
                </a:sys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任意多边形: 形状 28"/>
          <p:cNvSpPr/>
          <p:nvPr>
            <p:custDataLst>
              <p:tags r:id="rId7"/>
            </p:custDataLst>
          </p:nvPr>
        </p:nvSpPr>
        <p:spPr>
          <a:xfrm>
            <a:off x="1092200" y="1615440"/>
            <a:ext cx="2523490" cy="720725"/>
          </a:xfrm>
          <a:prstGeom prst="round2SameRect">
            <a:avLst>
              <a:gd name="adj1" fmla="val 0"/>
              <a:gd name="adj2" fmla="val 35242"/>
            </a:avLst>
          </a:prstGeom>
          <a:gradFill flip="none" rotWithShape="1">
            <a:gsLst>
              <a:gs pos="0">
                <a:srgbClr val="05B4EB">
                  <a:lumMod val="40000"/>
                  <a:lumOff val="60000"/>
                </a:srgbClr>
              </a:gs>
              <a:gs pos="69000">
                <a:srgbClr val="05B4EB"/>
              </a:gs>
              <a:gs pos="100000">
                <a:srgbClr val="05B4EB"/>
              </a:gs>
            </a:gsLst>
            <a:lin ang="2700000" scaled="1"/>
            <a:tileRect/>
          </a:gradFill>
          <a:ln w="12700" cap="flat" cmpd="sng" algn="ctr">
            <a:noFill/>
            <a:prstDash val="solid"/>
            <a:miter lim="800000"/>
          </a:ln>
          <a:effectLst>
            <a:outerShdw blurRad="101600" dist="76200" dir="2700000" algn="tl" rotWithShape="0">
              <a:srgbClr val="05B4EB">
                <a:alpha val="25000"/>
              </a:srgbClr>
            </a:outerShdw>
          </a:effectLst>
        </p:spPr>
        <p:txBody>
          <a:bodyPr wrap="square" rtlCol="0" anchor="ctr">
            <a:noAutofit/>
          </a:bodyPr>
          <a:lstStyle/>
          <a:p>
            <a:pPr algn="ctr">
              <a:spcBef>
                <a:spcPct val="0"/>
              </a:spcBef>
              <a:spcAft>
                <a:spcPct val="0"/>
              </a:spcAft>
            </a:pPr>
            <a:endParaRPr kumimoji="1" lang="en-US" altLang="zh-CN" sz="2400" b="1">
              <a:ln w="12700">
                <a:noFill/>
              </a:ln>
              <a:solidFill>
                <a:sysClr val="window" lastClr="FFFFFF"/>
              </a:solidFill>
              <a:latin typeface="Arial" panose="020B0604020202020204" pitchFamily="34" charset="0"/>
              <a:ea typeface="微软雅黑" panose="020B0503020204020204" charset="-122"/>
              <a:cs typeface="Source Han Sans CN Bold" panose="020B0800000000000000" charset="-122"/>
              <a:sym typeface="微软雅黑" panose="020B0503020204020204" charset="-122"/>
            </a:endParaRPr>
          </a:p>
          <a:p>
            <a:pPr algn="ctr">
              <a:spcBef>
                <a:spcPct val="0"/>
              </a:spcBef>
              <a:spcAft>
                <a:spcPct val="0"/>
              </a:spcAft>
            </a:pPr>
            <a:r>
              <a:rPr kumimoji="1" lang="en-US" altLang="zh-CN" sz="2400" b="1">
                <a:ln w="12700">
                  <a:noFill/>
                </a:ln>
                <a:solidFill>
                  <a:sysClr val="window" lastClr="FFFFFF"/>
                </a:solidFill>
                <a:latin typeface="Arial" panose="020B0604020202020204" pitchFamily="34" charset="0"/>
                <a:ea typeface="微软雅黑" panose="020B0503020204020204" charset="-122"/>
                <a:cs typeface="Source Han Sans CN Bold" panose="020B0800000000000000" charset="-122"/>
                <a:sym typeface="微软雅黑" panose="020B0503020204020204" charset="-122"/>
              </a:rPr>
              <a:t>提升生活便利性</a:t>
            </a:r>
            <a:endParaRPr kumimoji="1" lang="en-US" altLang="zh-CN" sz="2400" b="1">
              <a:ln w="12700">
                <a:noFill/>
              </a:ln>
              <a:solidFill>
                <a:sysClr val="window" lastClr="FFFFFF"/>
              </a:solidFill>
              <a:latin typeface="Arial" panose="020B0604020202020204" pitchFamily="34" charset="0"/>
              <a:ea typeface="微软雅黑" panose="020B0503020204020204" charset="-122"/>
              <a:cs typeface="Source Han Sans CN Bold" panose="020B0800000000000000" charset="-122"/>
            </a:endParaRPr>
          </a:p>
          <a:p>
            <a:pPr algn="ctr">
              <a:spcBef>
                <a:spcPct val="0"/>
              </a:spcBef>
              <a:spcAft>
                <a:spcPct val="0"/>
              </a:spcAft>
            </a:pPr>
            <a:endParaRPr lang="zh-CN" altLang="en-US" sz="2400" b="1"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等腰三角形 12"/>
          <p:cNvSpPr/>
          <p:nvPr>
            <p:custDataLst>
              <p:tags r:id="rId8"/>
            </p:custDataLst>
          </p:nvPr>
        </p:nvSpPr>
        <p:spPr>
          <a:xfrm>
            <a:off x="982110" y="1615587"/>
            <a:ext cx="110359" cy="120119"/>
          </a:xfrm>
          <a:prstGeom prst="triangle">
            <a:avLst>
              <a:gd name="adj" fmla="val 100000"/>
            </a:avLst>
          </a:prstGeom>
          <a:solidFill>
            <a:srgbClr val="05B4EB">
              <a:lumMod val="50000"/>
            </a:srgbClr>
          </a:solidFill>
          <a:ln w="12700" cap="flat" cmpd="sng" algn="ctr">
            <a:no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14" name="等腰三角形 13"/>
          <p:cNvSpPr/>
          <p:nvPr>
            <p:custDataLst>
              <p:tags r:id="rId9"/>
            </p:custDataLst>
          </p:nvPr>
        </p:nvSpPr>
        <p:spPr>
          <a:xfrm flipH="1">
            <a:off x="3615978" y="1615587"/>
            <a:ext cx="110359" cy="120119"/>
          </a:xfrm>
          <a:prstGeom prst="triangle">
            <a:avLst>
              <a:gd name="adj" fmla="val 100000"/>
            </a:avLst>
          </a:prstGeom>
          <a:solidFill>
            <a:srgbClr val="05B4EB">
              <a:lumMod val="50000"/>
            </a:srgbClr>
          </a:solidFill>
          <a:ln w="12700" cap="flat" cmpd="sng" algn="ctr">
            <a:no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15" name="矩形: 圆角 35"/>
          <p:cNvSpPr/>
          <p:nvPr>
            <p:custDataLst>
              <p:tags r:id="rId10"/>
            </p:custDataLst>
          </p:nvPr>
        </p:nvSpPr>
        <p:spPr>
          <a:xfrm>
            <a:off x="4434205" y="1734820"/>
            <a:ext cx="3323590" cy="4070985"/>
          </a:xfrm>
          <a:prstGeom prst="roundRect">
            <a:avLst>
              <a:gd name="adj" fmla="val 6347"/>
            </a:avLst>
          </a:prstGeom>
          <a:gradFill flip="none" rotWithShape="1">
            <a:gsLst>
              <a:gs pos="0">
                <a:srgbClr val="FFAE37">
                  <a:lumMod val="20000"/>
                  <a:lumOff val="80000"/>
                  <a:alpha val="20000"/>
                </a:srgbClr>
              </a:gs>
              <a:gs pos="100000">
                <a:sysClr val="windowText" lastClr="000000">
                  <a:alpha val="0"/>
                </a:sysClr>
              </a:gs>
            </a:gsLst>
            <a:path path="circle">
              <a:fillToRect l="100000" t="100000"/>
            </a:path>
            <a:tileRect r="-100000" b="-100000"/>
          </a:gradFill>
          <a:ln w="15875" cap="flat" cmpd="sng" algn="ctr">
            <a:solidFill>
              <a:srgbClr val="FFAE37">
                <a:lumMod val="40000"/>
                <a:lumOff val="60000"/>
                <a:alpha val="60000"/>
              </a:srgbClr>
            </a:solidFill>
            <a:prstDash val="solid"/>
            <a:miter lim="800000"/>
          </a:ln>
          <a:effectLst>
            <a:outerShdw blurRad="279400" dist="228600" dir="2700000" algn="tl" rotWithShape="0">
              <a:srgbClr val="FFAE37">
                <a:alpha val="8000"/>
              </a:srgbClr>
            </a:outerShdw>
          </a:effectLst>
        </p:spPr>
        <p:txBody>
          <a:bodyPr wrap="square" lIns="239795" tIns="616585" rIns="239795" bIns="350520" rtlCol="0" anchor="ctr">
            <a:noAutofit/>
          </a:bodyPr>
          <a:lstStyle/>
          <a:p>
            <a:pPr marL="171450" indent="-171450" algn="l">
              <a:lnSpc>
                <a:spcPct val="150000"/>
              </a:lnSpc>
              <a:buFont typeface="Wingdings" panose="05000000000000000000" charset="0"/>
              <a:buChar char="u"/>
            </a:pPr>
            <a:r>
              <a:rPr kumimoji="1" lang="zh-CN" altLang="en-US" sz="1600">
                <a:ln w="12700">
                  <a:noFill/>
                </a:ln>
                <a:solidFill>
                  <a:sysClr val="window" lastClr="FFFFFF"/>
                </a:solidFill>
                <a:latin typeface="Arial" panose="020B0604020202020204" pitchFamily="34" charset="0"/>
                <a:ea typeface="微软雅黑" panose="020B0503020204020204" charset="-122"/>
                <a:cs typeface="Source Han Sans" panose="020B0500000000000000" charset="-122"/>
                <a:sym typeface="微软雅黑" panose="020B0503020204020204" charset="-122"/>
              </a:rPr>
              <a:t>展示了科技助残的成果，让社会更关注视障群体，增进对视障人群需求和能力的了解，促进社会的理解与包容。</a:t>
            </a:r>
            <a:endParaRPr kumimoji="1" lang="en-US" altLang="zh-CN" sz="1600">
              <a:ln w="12700">
                <a:noFill/>
              </a:ln>
              <a:solidFill>
                <a:sysClr val="window" lastClr="FFFFFF"/>
              </a:solidFill>
              <a:cs typeface="Source Han Sans" panose="020B0500000000000000" charset="-122"/>
            </a:endParaRPr>
          </a:p>
          <a:p>
            <a:pPr marL="171450" indent="-171450" algn="l">
              <a:lnSpc>
                <a:spcPct val="150000"/>
              </a:lnSpc>
              <a:buFont typeface="Wingdings" panose="05000000000000000000" charset="0"/>
              <a:buChar char="u"/>
            </a:pPr>
            <a:r>
              <a:rPr kumimoji="1" lang="zh-CN" altLang="en-US" sz="1600">
                <a:ln w="12700">
                  <a:noFill/>
                </a:ln>
                <a:solidFill>
                  <a:sysClr val="window" lastClr="FFFFFF"/>
                </a:solidFill>
                <a:latin typeface="Arial" panose="020B0604020202020204" pitchFamily="34" charset="0"/>
                <a:ea typeface="微软雅黑" panose="020B0503020204020204" charset="-122"/>
                <a:cs typeface="Source Han Sans" panose="020B0500000000000000" charset="-122"/>
                <a:sym typeface="微软雅黑" panose="020B0503020204020204" charset="-122"/>
              </a:rPr>
              <a:t>体现人文关怀，表明社会在努力为残障人士创造更友好、无障碍的环境，提升整个社会的人文关怀水平。</a:t>
            </a:r>
            <a:endParaRPr lang="zh-CN" altLang="zh-CN" sz="1600" dirty="0">
              <a:solidFill>
                <a:sysClr val="window" lastClr="FFFFFF">
                  <a:lumMod val="85000"/>
                  <a:lumOff val="15000"/>
                </a:sys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矩形: 圆角 42"/>
          <p:cNvSpPr/>
          <p:nvPr>
            <p:custDataLst>
              <p:tags r:id="rId11"/>
            </p:custDataLst>
          </p:nvPr>
        </p:nvSpPr>
        <p:spPr>
          <a:xfrm>
            <a:off x="8183880" y="1734820"/>
            <a:ext cx="3323590" cy="4070985"/>
          </a:xfrm>
          <a:prstGeom prst="roundRect">
            <a:avLst>
              <a:gd name="adj" fmla="val 6347"/>
            </a:avLst>
          </a:prstGeom>
          <a:gradFill flip="none" rotWithShape="1">
            <a:gsLst>
              <a:gs pos="0">
                <a:srgbClr val="05B4EB">
                  <a:lumMod val="20000"/>
                  <a:lumOff val="80000"/>
                  <a:alpha val="20000"/>
                </a:srgbClr>
              </a:gs>
              <a:gs pos="100000">
                <a:sysClr val="windowText" lastClr="000000">
                  <a:alpha val="0"/>
                </a:sysClr>
              </a:gs>
            </a:gsLst>
            <a:path path="circle">
              <a:fillToRect l="100000" t="100000"/>
            </a:path>
            <a:tileRect r="-100000" b="-100000"/>
          </a:gradFill>
          <a:ln w="15875" cap="flat" cmpd="sng" algn="ctr">
            <a:solidFill>
              <a:srgbClr val="05B4EB">
                <a:lumMod val="40000"/>
                <a:lumOff val="60000"/>
                <a:alpha val="60000"/>
              </a:srgbClr>
            </a:solidFill>
            <a:prstDash val="solid"/>
            <a:miter lim="800000"/>
          </a:ln>
          <a:effectLst>
            <a:outerShdw blurRad="279400" dist="228600" dir="2700000" algn="tl" rotWithShape="0">
              <a:srgbClr val="05B4EB">
                <a:alpha val="8000"/>
              </a:srgbClr>
            </a:outerShdw>
          </a:effectLst>
        </p:spPr>
        <p:txBody>
          <a:bodyPr wrap="square" lIns="239795" tIns="616585" rIns="239795" bIns="350520" rtlCol="0" anchor="ctr">
            <a:noAutofit/>
          </a:bodyPr>
          <a:lstStyle/>
          <a:p>
            <a:pPr marL="171450" indent="-171450" algn="l">
              <a:lnSpc>
                <a:spcPct val="150000"/>
              </a:lnSpc>
              <a:buFont typeface="Wingdings" panose="05000000000000000000" charset="0"/>
              <a:buChar char="u"/>
            </a:pPr>
            <a:r>
              <a:rPr kumimoji="1" lang="en-US" altLang="zh-CN" sz="1600">
                <a:ln w="12700">
                  <a:noFill/>
                </a:ln>
                <a:solidFill>
                  <a:sysClr val="window" lastClr="FFFFFF"/>
                </a:solidFill>
                <a:latin typeface="Arial" panose="020B0604020202020204" pitchFamily="34" charset="0"/>
                <a:ea typeface="微软雅黑" panose="020B0503020204020204" charset="-122"/>
                <a:cs typeface="Source Han Sans" panose="020B0500000000000000" charset="-122"/>
                <a:sym typeface="微软雅黑" panose="020B0503020204020204" charset="-122"/>
              </a:rPr>
              <a:t>帮助盲人更自信地参与社会活动，如参加聚会、社区活动等，减少对他人的依赖，提升社会地位。</a:t>
            </a:r>
            <a:endParaRPr kumimoji="1" lang="en-US" altLang="zh-CN" sz="1600">
              <a:ln w="12700">
                <a:noFill/>
              </a:ln>
              <a:solidFill>
                <a:sysClr val="window" lastClr="FFFFFF"/>
              </a:solidFill>
              <a:cs typeface="Source Han Sans" panose="020B0500000000000000" charset="-122"/>
            </a:endParaRPr>
          </a:p>
          <a:p>
            <a:pPr marL="171450" indent="-171450" algn="l">
              <a:lnSpc>
                <a:spcPct val="150000"/>
              </a:lnSpc>
              <a:buFont typeface="Wingdings" panose="05000000000000000000" charset="0"/>
              <a:buChar char="u"/>
            </a:pPr>
            <a:r>
              <a:rPr kumimoji="1" lang="zh-CN" altLang="en-US" sz="1600">
                <a:ln w="12700">
                  <a:noFill/>
                </a:ln>
                <a:solidFill>
                  <a:sysClr val="window" lastClr="FFFFFF"/>
                </a:solidFill>
                <a:latin typeface="Arial" panose="020B0604020202020204" pitchFamily="34" charset="0"/>
                <a:ea typeface="微软雅黑" panose="020B0503020204020204" charset="-122"/>
                <a:cs typeface="Source Han Sans" panose="020B0500000000000000" charset="-122"/>
                <a:sym typeface="微软雅黑" panose="020B0503020204020204" charset="-122"/>
              </a:rPr>
              <a:t>让盲人在出行和生活中更有掌控感，从而增强自信心和自我认同感，以更积极的心态面对生活。</a:t>
            </a:r>
            <a:endParaRPr lang="zh-CN" altLang="zh-CN" sz="1600" dirty="0">
              <a:solidFill>
                <a:sysClr val="window" lastClr="FFFFFF">
                  <a:lumMod val="85000"/>
                  <a:lumOff val="15000"/>
                </a:sys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任意多边形: 形状 43"/>
          <p:cNvSpPr/>
          <p:nvPr>
            <p:custDataLst>
              <p:tags r:id="rId12"/>
            </p:custDataLst>
          </p:nvPr>
        </p:nvSpPr>
        <p:spPr>
          <a:xfrm>
            <a:off x="8583930" y="1615440"/>
            <a:ext cx="2523490" cy="720725"/>
          </a:xfrm>
          <a:prstGeom prst="round2SameRect">
            <a:avLst>
              <a:gd name="adj1" fmla="val 0"/>
              <a:gd name="adj2" fmla="val 35242"/>
            </a:avLst>
          </a:prstGeom>
          <a:gradFill flip="none" rotWithShape="1">
            <a:gsLst>
              <a:gs pos="0">
                <a:srgbClr val="05B4EB">
                  <a:lumMod val="40000"/>
                  <a:lumOff val="60000"/>
                </a:srgbClr>
              </a:gs>
              <a:gs pos="69000">
                <a:srgbClr val="05B4EB"/>
              </a:gs>
              <a:gs pos="100000">
                <a:srgbClr val="05B4EB"/>
              </a:gs>
            </a:gsLst>
            <a:lin ang="2700000" scaled="1"/>
            <a:tileRect/>
          </a:gradFill>
          <a:ln w="12700" cap="flat" cmpd="sng" algn="ctr">
            <a:noFill/>
            <a:prstDash val="solid"/>
            <a:miter lim="800000"/>
          </a:ln>
          <a:effectLst>
            <a:outerShdw blurRad="101600" dist="76200" dir="2700000" algn="tl" rotWithShape="0">
              <a:srgbClr val="05B4EB">
                <a:alpha val="25000"/>
              </a:srgbClr>
            </a:outerShdw>
          </a:effectLst>
        </p:spPr>
        <p:txBody>
          <a:bodyPr wrap="square" rtlCol="0" anchor="ctr">
            <a:noAutofit/>
          </a:bodyPr>
          <a:lstStyle/>
          <a:p>
            <a:pPr algn="ctr">
              <a:lnSpc>
                <a:spcPct val="110000"/>
              </a:lnSpc>
            </a:pPr>
            <a:r>
              <a:rPr kumimoji="1" lang="zh-CN" altLang="en-US" sz="2400" b="1">
                <a:ln w="12700">
                  <a:noFill/>
                </a:ln>
                <a:solidFill>
                  <a:sysClr val="window" lastClr="FFFFFF"/>
                </a:solidFill>
                <a:latin typeface="Arial" panose="020B0604020202020204" pitchFamily="34" charset="0"/>
                <a:ea typeface="微软雅黑" panose="020B0503020204020204" charset="-122"/>
                <a:cs typeface="Source Han Sans CN Bold" panose="020B0800000000000000" charset="-122"/>
                <a:sym typeface="微软雅黑" panose="020B0503020204020204" charset="-122"/>
              </a:rPr>
              <a:t>提供情感与心理支持</a:t>
            </a:r>
            <a:endParaRPr lang="zh-CN" altLang="en-US" sz="2400" b="1">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等腰三角形 17"/>
          <p:cNvSpPr/>
          <p:nvPr>
            <p:custDataLst>
              <p:tags r:id="rId13"/>
            </p:custDataLst>
          </p:nvPr>
        </p:nvSpPr>
        <p:spPr>
          <a:xfrm>
            <a:off x="8473278" y="1615587"/>
            <a:ext cx="110359" cy="120119"/>
          </a:xfrm>
          <a:prstGeom prst="triangle">
            <a:avLst>
              <a:gd name="adj" fmla="val 100000"/>
            </a:avLst>
          </a:prstGeom>
          <a:solidFill>
            <a:srgbClr val="05B4EB">
              <a:lumMod val="50000"/>
            </a:srgbClr>
          </a:solidFill>
          <a:ln w="12700" cap="flat" cmpd="sng" algn="ctr">
            <a:no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19" name="等腰三角形 18"/>
          <p:cNvSpPr/>
          <p:nvPr>
            <p:custDataLst>
              <p:tags r:id="rId14"/>
            </p:custDataLst>
          </p:nvPr>
        </p:nvSpPr>
        <p:spPr>
          <a:xfrm flipH="1">
            <a:off x="11107146" y="1615587"/>
            <a:ext cx="110359" cy="120119"/>
          </a:xfrm>
          <a:prstGeom prst="triangle">
            <a:avLst>
              <a:gd name="adj" fmla="val 100000"/>
            </a:avLst>
          </a:prstGeom>
          <a:solidFill>
            <a:srgbClr val="05B4EB">
              <a:lumMod val="50000"/>
            </a:srgbClr>
          </a:solidFill>
          <a:ln w="12700" cap="flat" cmpd="sng" algn="ctr">
            <a:noFill/>
            <a:prstDash val="solid"/>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20" name="任意多边形: 形状 28"/>
          <p:cNvSpPr/>
          <p:nvPr>
            <p:custDataLst>
              <p:tags r:id="rId15"/>
            </p:custDataLst>
          </p:nvPr>
        </p:nvSpPr>
        <p:spPr>
          <a:xfrm>
            <a:off x="4834255" y="1715135"/>
            <a:ext cx="2523490" cy="730885"/>
          </a:xfrm>
          <a:prstGeom prst="round2SameRect">
            <a:avLst>
              <a:gd name="adj1" fmla="val 0"/>
              <a:gd name="adj2" fmla="val 35242"/>
            </a:avLst>
          </a:prstGeom>
          <a:gradFill flip="none" rotWithShape="1">
            <a:gsLst>
              <a:gs pos="0">
                <a:srgbClr val="05B4EB">
                  <a:lumMod val="40000"/>
                  <a:lumOff val="60000"/>
                </a:srgbClr>
              </a:gs>
              <a:gs pos="69000">
                <a:srgbClr val="05B4EB"/>
              </a:gs>
              <a:gs pos="100000">
                <a:srgbClr val="05B4EB"/>
              </a:gs>
            </a:gsLst>
            <a:lin ang="2700000" scaled="1"/>
            <a:tileRect/>
          </a:gradFill>
          <a:ln w="12700" cap="flat" cmpd="sng" algn="ctr">
            <a:noFill/>
            <a:prstDash val="solid"/>
            <a:miter lim="800000"/>
          </a:ln>
          <a:effectLst>
            <a:outerShdw blurRad="101600" dist="76200" dir="2700000" algn="tl" rotWithShape="0">
              <a:srgbClr val="05B4EB">
                <a:alpha val="25000"/>
              </a:srgbClr>
            </a:outerShdw>
          </a:effectLst>
        </p:spPr>
        <p:txBody>
          <a:bodyPr wrap="square" rtlCol="0" anchor="ctr">
            <a:noAutofit/>
          </a:bodyPr>
          <a:lstStyle/>
          <a:p>
            <a:pPr algn="ctr">
              <a:spcBef>
                <a:spcPct val="0"/>
              </a:spcBef>
              <a:spcAft>
                <a:spcPct val="0"/>
              </a:spcAft>
            </a:pPr>
            <a:endParaRPr kumimoji="1" lang="en-US" altLang="zh-CN" sz="2400" b="1">
              <a:ln w="12700">
                <a:noFill/>
              </a:ln>
              <a:solidFill>
                <a:sysClr val="window" lastClr="FFFFFF"/>
              </a:solidFill>
              <a:latin typeface="Arial" panose="020B0604020202020204" pitchFamily="34" charset="0"/>
              <a:ea typeface="微软雅黑" panose="020B0503020204020204" charset="-122"/>
              <a:cs typeface="Source Han Sans CN Bold" panose="020B0800000000000000" charset="-122"/>
              <a:sym typeface="微软雅黑" panose="020B0503020204020204" charset="-122"/>
            </a:endParaRPr>
          </a:p>
          <a:p>
            <a:pPr algn="ctr">
              <a:spcBef>
                <a:spcPct val="0"/>
              </a:spcBef>
              <a:spcAft>
                <a:spcPct val="0"/>
              </a:spcAft>
            </a:pPr>
            <a:r>
              <a:rPr kumimoji="1" lang="zh-CN" altLang="en-US" sz="2400" b="1">
                <a:ln w="12700">
                  <a:noFill/>
                </a:ln>
                <a:solidFill>
                  <a:sysClr val="window" lastClr="FFFFFF"/>
                </a:solidFill>
                <a:latin typeface="Arial" panose="020B0604020202020204" pitchFamily="34" charset="0"/>
                <a:ea typeface="微软雅黑" panose="020B0503020204020204" charset="-122"/>
                <a:cs typeface="Source Han Sans CN Bold" panose="020B0800000000000000" charset="-122"/>
                <a:sym typeface="微软雅黑" panose="020B0503020204020204" charset="-122"/>
              </a:rPr>
              <a:t>推动社会融合与进步</a:t>
            </a:r>
            <a:endParaRPr kumimoji="1" lang="en-US" altLang="zh-CN" sz="2400" b="1">
              <a:ln w="12700">
                <a:noFill/>
              </a:ln>
              <a:solidFill>
                <a:sysClr val="window" lastClr="FFFFFF"/>
              </a:solidFill>
              <a:latin typeface="Arial" panose="020B0604020202020204" pitchFamily="34" charset="0"/>
              <a:ea typeface="微软雅黑" panose="020B0503020204020204" charset="-122"/>
              <a:cs typeface="Source Han Sans CN Bold" panose="020B0800000000000000" charset="-122"/>
            </a:endParaRPr>
          </a:p>
          <a:p>
            <a:pPr algn="ctr">
              <a:spcBef>
                <a:spcPct val="0"/>
              </a:spcBef>
              <a:spcAft>
                <a:spcPct val="0"/>
              </a:spcAft>
            </a:pPr>
            <a:endParaRPr lang="zh-CN" altLang="en-US" sz="2400" b="1" dirty="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6"/>
          <p:cNvPicPr>
            <a:picLocks noChangeAspect="1"/>
          </p:cNvPicPr>
          <p:nvPr/>
        </p:nvPicPr>
        <p:blipFill>
          <a:blip r:embed="rId1"/>
          <a:stretch>
            <a:fillRect/>
          </a:stretch>
        </p:blipFill>
        <p:spPr>
          <a:xfrm rot="21600000">
            <a:off x="152" y="0"/>
            <a:ext cx="12191695" cy="6858000"/>
          </a:xfrm>
          <a:prstGeom prst="rect">
            <a:avLst/>
          </a:prstGeom>
        </p:spPr>
      </p:pic>
      <p:pic>
        <p:nvPicPr>
          <p:cNvPr id="50" name="picture 50"/>
          <p:cNvPicPr>
            <a:picLocks noChangeAspect="1"/>
          </p:cNvPicPr>
          <p:nvPr/>
        </p:nvPicPr>
        <p:blipFill>
          <a:blip r:embed="rId2"/>
          <a:stretch>
            <a:fillRect/>
          </a:stretch>
        </p:blipFill>
        <p:spPr>
          <a:xfrm rot="21600000">
            <a:off x="63330" y="267362"/>
            <a:ext cx="3332683" cy="486845"/>
          </a:xfrm>
          <a:prstGeom prst="rect">
            <a:avLst/>
          </a:prstGeom>
        </p:spPr>
      </p:pic>
      <p:sp>
        <p:nvSpPr>
          <p:cNvPr id="79" name="椭圆 45"/>
          <p:cNvSpPr/>
          <p:nvPr>
            <p:custDataLst>
              <p:tags r:id="rId3"/>
            </p:custDataLst>
          </p:nvPr>
        </p:nvSpPr>
        <p:spPr>
          <a:xfrm rot="20825450">
            <a:off x="4493204" y="2885391"/>
            <a:ext cx="3208517" cy="935235"/>
          </a:xfrm>
          <a:prstGeom prst="ellipse">
            <a:avLst/>
          </a:prstGeom>
          <a:gradFill flip="none" rotWithShape="1">
            <a:gsLst>
              <a:gs pos="0">
                <a:srgbClr val="05B4EB">
                  <a:lumMod val="60000"/>
                  <a:lumOff val="40000"/>
                  <a:alpha val="40000"/>
                </a:srgbClr>
              </a:gs>
              <a:gs pos="100000">
                <a:srgbClr val="05B4EB">
                  <a:lumMod val="60000"/>
                  <a:lumOff val="40000"/>
                  <a:alpha val="0"/>
                </a:srgbClr>
              </a:gs>
            </a:gsLst>
            <a:path path="circle">
              <a:fillToRect l="100000" t="100000"/>
            </a:path>
            <a:tileRect r="-100000" b="-100000"/>
          </a:gradFill>
          <a:ln w="12700" cap="flat" cmpd="sng" algn="ctr">
            <a:noFill/>
            <a:prstDash val="solid"/>
            <a:miter lim="800000"/>
          </a:ln>
          <a:effectLst/>
        </p:spPr>
        <p:txBody>
          <a:bodyPr rtlCol="0" anchor="ctr"/>
          <a:lstStyle/>
          <a:p>
            <a:pPr algn="ctr"/>
            <a:endParaRPr lang="zh-CN" altLang="en-US">
              <a:solidFill>
                <a:prstClr val="white"/>
              </a:solidFill>
              <a:latin typeface="微软雅黑" panose="020B0503020204020204" charset="-122"/>
              <a:ea typeface="微软雅黑" panose="020B0503020204020204" charset="-122"/>
              <a:sym typeface="微软雅黑 Light" panose="020B0502040204020203" pitchFamily="34" charset="-122"/>
            </a:endParaRPr>
          </a:p>
        </p:txBody>
      </p:sp>
      <p:sp>
        <p:nvSpPr>
          <p:cNvPr id="80" name="椭圆 33"/>
          <p:cNvSpPr/>
          <p:nvPr>
            <p:custDataLst>
              <p:tags r:id="rId4"/>
            </p:custDataLst>
          </p:nvPr>
        </p:nvSpPr>
        <p:spPr>
          <a:xfrm rot="20825450">
            <a:off x="3442259" y="2494189"/>
            <a:ext cx="5310407" cy="1717638"/>
          </a:xfrm>
          <a:prstGeom prst="ellipse">
            <a:avLst/>
          </a:prstGeom>
          <a:noFill/>
          <a:ln w="28575" cap="flat" cmpd="sng" algn="ctr">
            <a:gradFill>
              <a:gsLst>
                <a:gs pos="43800">
                  <a:srgbClr val="05B4EB">
                    <a:alpha val="70000"/>
                  </a:srgbClr>
                </a:gs>
                <a:gs pos="0">
                  <a:srgbClr val="05B4EB">
                    <a:alpha val="0"/>
                    <a:lumMod val="51000"/>
                    <a:lumOff val="49000"/>
                  </a:srgbClr>
                </a:gs>
                <a:gs pos="100000">
                  <a:srgbClr val="05B4EB"/>
                </a:gs>
              </a:gsLst>
              <a:lin ang="4200000" scaled="0"/>
            </a:gradFill>
            <a:prstDash val="solid"/>
            <a:miter lim="800000"/>
          </a:ln>
          <a:effectLst/>
        </p:spPr>
        <p:txBody>
          <a:bodyPr rtlCol="0" anchor="ctr"/>
          <a:lstStyle/>
          <a:p>
            <a:pPr algn="ctr"/>
            <a:endParaRPr lang="zh-CN" altLang="en-US">
              <a:solidFill>
                <a:prstClr val="white"/>
              </a:solidFill>
              <a:latin typeface="微软雅黑" panose="020B0503020204020204" charset="-122"/>
              <a:ea typeface="微软雅黑" panose="020B0503020204020204" charset="-122"/>
              <a:sym typeface="微软雅黑 Light" panose="020B0502040204020203" pitchFamily="34" charset="-122"/>
            </a:endParaRPr>
          </a:p>
        </p:txBody>
      </p:sp>
      <p:sp>
        <p:nvSpPr>
          <p:cNvPr id="81" name="直接连接符 12"/>
          <p:cNvSpPr/>
          <p:nvPr>
            <p:custDataLst>
              <p:tags r:id="rId5"/>
            </p:custDataLst>
          </p:nvPr>
        </p:nvSpPr>
        <p:spPr>
          <a:xfrm rot="20825450">
            <a:off x="4073717" y="2763093"/>
            <a:ext cx="4047490" cy="1179830"/>
          </a:xfrm>
          <a:prstGeom prst="arc">
            <a:avLst>
              <a:gd name="adj1" fmla="val 20527655"/>
              <a:gd name="adj2" fmla="val 873588"/>
            </a:avLst>
          </a:prstGeom>
          <a:noFill/>
          <a:ln w="12700" cap="rnd" cmpd="sng" algn="ctr">
            <a:gradFill flip="none" rotWithShape="1">
              <a:gsLst>
                <a:gs pos="0">
                  <a:srgbClr val="05B4EB">
                    <a:alpha val="0"/>
                  </a:srgbClr>
                </a:gs>
                <a:gs pos="100000">
                  <a:srgbClr val="05B4EB"/>
                </a:gs>
              </a:gsLst>
              <a:lin ang="5400000" scaled="1"/>
              <a:tileRect/>
            </a:gradFill>
            <a:prstDash val="solid"/>
            <a:miter lim="800000"/>
            <a:headEnd type="none"/>
            <a:tailEnd type="arrow"/>
          </a:ln>
          <a:effectLst/>
        </p:spPr>
        <p:txBody>
          <a:bodyPr rtlCol="0" anchor="ctr"/>
          <a:lstStyle/>
          <a:p>
            <a:pPr algn="ctr"/>
            <a:endParaRPr lang="zh-CN" altLang="en-US">
              <a:solidFill>
                <a:prstClr val="white"/>
              </a:solidFill>
              <a:latin typeface="微软雅黑" panose="020B0503020204020204" charset="-122"/>
              <a:ea typeface="微软雅黑" panose="020B0503020204020204" charset="-122"/>
              <a:sym typeface="微软雅黑 Light" panose="020B0502040204020203" pitchFamily="34" charset="-122"/>
            </a:endParaRPr>
          </a:p>
        </p:txBody>
      </p:sp>
      <p:sp>
        <p:nvSpPr>
          <p:cNvPr id="82" name="椭圆 1"/>
          <p:cNvSpPr/>
          <p:nvPr>
            <p:custDataLst>
              <p:tags r:id="rId6"/>
            </p:custDataLst>
          </p:nvPr>
        </p:nvSpPr>
        <p:spPr>
          <a:xfrm rot="20825450">
            <a:off x="3812004" y="2686830"/>
            <a:ext cx="4570917" cy="1332356"/>
          </a:xfrm>
          <a:prstGeom prst="arc">
            <a:avLst>
              <a:gd name="adj1" fmla="val 8633663"/>
              <a:gd name="adj2" fmla="val 11845791"/>
            </a:avLst>
          </a:prstGeom>
          <a:noFill/>
          <a:ln w="6350" cap="flat" cmpd="sng" algn="ctr">
            <a:gradFill flip="none" rotWithShape="1">
              <a:gsLst>
                <a:gs pos="0">
                  <a:srgbClr val="05B4EB"/>
                </a:gs>
                <a:gs pos="56000">
                  <a:srgbClr val="05B4EB">
                    <a:alpha val="28000"/>
                  </a:srgbClr>
                </a:gs>
                <a:gs pos="100000">
                  <a:srgbClr val="05B4EB">
                    <a:alpha val="0"/>
                  </a:srgbClr>
                </a:gs>
              </a:gsLst>
              <a:lin ang="5400000" scaled="1"/>
              <a:tileRect/>
            </a:gradFill>
            <a:prstDash val="solid"/>
            <a:miter lim="800000"/>
            <a:headEnd type="none"/>
            <a:tailEnd type="arrow"/>
          </a:ln>
          <a:effectLst/>
        </p:spPr>
        <p:txBody>
          <a:bodyPr rtlCol="0" anchor="ctr"/>
          <a:lstStyle/>
          <a:p>
            <a:pPr algn="ctr"/>
            <a:endParaRPr lang="zh-CN" altLang="en-US">
              <a:solidFill>
                <a:prstClr val="white"/>
              </a:solidFill>
              <a:latin typeface="微软雅黑" panose="020B0503020204020204" charset="-122"/>
              <a:ea typeface="微软雅黑" panose="020B0503020204020204" charset="-122"/>
              <a:sym typeface="微软雅黑 Light" panose="020B0502040204020203" pitchFamily="34" charset="-122"/>
            </a:endParaRPr>
          </a:p>
        </p:txBody>
      </p:sp>
      <p:sp>
        <p:nvSpPr>
          <p:cNvPr id="83" name="椭圆 82"/>
          <p:cNvSpPr/>
          <p:nvPr>
            <p:custDataLst>
              <p:tags r:id="rId7"/>
            </p:custDataLst>
          </p:nvPr>
        </p:nvSpPr>
        <p:spPr bwMode="auto">
          <a:xfrm>
            <a:off x="8233892" y="2322779"/>
            <a:ext cx="436567" cy="436567"/>
          </a:xfrm>
          <a:prstGeom prst="ellipse">
            <a:avLst/>
          </a:prstGeom>
          <a:solidFill>
            <a:srgbClr val="05B4EB"/>
          </a:solidFill>
          <a:ln w="6350" cap="flat" cmpd="sng" algn="ctr">
            <a:noFill/>
            <a:prstDash val="solid"/>
            <a:miter lim="800000"/>
          </a:ln>
          <a:effectLst/>
        </p:spPr>
        <p:txBody>
          <a:bodyPr rtlCol="0" anchor="ctr">
            <a:normAutofit fontScale="77500"/>
          </a:bodyPr>
          <a:lstStyle/>
          <a:p>
            <a:pPr algn="ctr"/>
            <a:endParaRPr lang="zh-CN" altLang="en-US" dirty="0">
              <a:solidFill>
                <a:sysClr val="windowText" lastClr="000000"/>
              </a:solidFill>
              <a:latin typeface="Arial" panose="020B0604020202020204" pitchFamily="34" charset="0"/>
              <a:ea typeface="微软雅黑" panose="020B0503020204020204" charset="-122"/>
              <a:cs typeface="微软雅黑" panose="020B0503020204020204" charset="-122"/>
            </a:endParaRPr>
          </a:p>
        </p:txBody>
      </p:sp>
      <p:sp>
        <p:nvSpPr>
          <p:cNvPr id="84" name="Oval 41"/>
          <p:cNvSpPr/>
          <p:nvPr>
            <p:custDataLst>
              <p:tags r:id="rId8"/>
            </p:custDataLst>
          </p:nvPr>
        </p:nvSpPr>
        <p:spPr>
          <a:xfrm>
            <a:off x="8354526" y="2443560"/>
            <a:ext cx="195299" cy="195005"/>
          </a:xfrm>
          <a:custGeom>
            <a:avLst/>
            <a:gdLst>
              <a:gd name="connsiteX0" fmla="*/ 241805 w 609191"/>
              <a:gd name="connsiteY0" fmla="*/ 126251 h 608274"/>
              <a:gd name="connsiteX1" fmla="*/ 37679 w 609191"/>
              <a:gd name="connsiteY1" fmla="*/ 348029 h 608274"/>
              <a:gd name="connsiteX2" fmla="*/ 260645 w 609191"/>
              <a:gd name="connsiteY2" fmla="*/ 570653 h 608274"/>
              <a:gd name="connsiteX3" fmla="*/ 482764 w 609191"/>
              <a:gd name="connsiteY3" fmla="*/ 366839 h 608274"/>
              <a:gd name="connsiteX4" fmla="*/ 373117 w 609191"/>
              <a:gd name="connsiteY4" fmla="*/ 366839 h 608274"/>
              <a:gd name="connsiteX5" fmla="*/ 260645 w 609191"/>
              <a:gd name="connsiteY5" fmla="*/ 461927 h 608274"/>
              <a:gd name="connsiteX6" fmla="*/ 146571 w 609191"/>
              <a:gd name="connsiteY6" fmla="*/ 348029 h 608274"/>
              <a:gd name="connsiteX7" fmla="*/ 241805 w 609191"/>
              <a:gd name="connsiteY7" fmla="*/ 235635 h 608274"/>
              <a:gd name="connsiteX8" fmla="*/ 260645 w 609191"/>
              <a:gd name="connsiteY8" fmla="*/ 87783 h 608274"/>
              <a:gd name="connsiteX9" fmla="*/ 279484 w 609191"/>
              <a:gd name="connsiteY9" fmla="*/ 87783 h 608274"/>
              <a:gd name="connsiteX10" fmla="*/ 279484 w 609191"/>
              <a:gd name="connsiteY10" fmla="*/ 271752 h 608274"/>
              <a:gd name="connsiteX11" fmla="*/ 260645 w 609191"/>
              <a:gd name="connsiteY11" fmla="*/ 271752 h 608274"/>
              <a:gd name="connsiteX12" fmla="*/ 184251 w 609191"/>
              <a:gd name="connsiteY12" fmla="*/ 348029 h 608274"/>
              <a:gd name="connsiteX13" fmla="*/ 260645 w 609191"/>
              <a:gd name="connsiteY13" fmla="*/ 424306 h 608274"/>
              <a:gd name="connsiteX14" fmla="*/ 337040 w 609191"/>
              <a:gd name="connsiteY14" fmla="*/ 348029 h 608274"/>
              <a:gd name="connsiteX15" fmla="*/ 337040 w 609191"/>
              <a:gd name="connsiteY15" fmla="*/ 329218 h 608274"/>
              <a:gd name="connsiteX16" fmla="*/ 521196 w 609191"/>
              <a:gd name="connsiteY16" fmla="*/ 329218 h 608274"/>
              <a:gd name="connsiteX17" fmla="*/ 521196 w 609191"/>
              <a:gd name="connsiteY17" fmla="*/ 348029 h 608274"/>
              <a:gd name="connsiteX18" fmla="*/ 260645 w 609191"/>
              <a:gd name="connsiteY18" fmla="*/ 608274 h 608274"/>
              <a:gd name="connsiteX19" fmla="*/ 0 w 609191"/>
              <a:gd name="connsiteY19" fmla="*/ 348029 h 608274"/>
              <a:gd name="connsiteX20" fmla="*/ 260645 w 609191"/>
              <a:gd name="connsiteY20" fmla="*/ 87783 h 608274"/>
              <a:gd name="connsiteX21" fmla="*/ 367364 w 609191"/>
              <a:gd name="connsiteY21" fmla="*/ 38378 h 608274"/>
              <a:gd name="connsiteX22" fmla="*/ 367364 w 609191"/>
              <a:gd name="connsiteY22" fmla="*/ 147868 h 608274"/>
              <a:gd name="connsiteX23" fmla="*/ 461099 w 609191"/>
              <a:gd name="connsiteY23" fmla="*/ 241461 h 608274"/>
              <a:gd name="connsiteX24" fmla="*/ 570661 w 609191"/>
              <a:gd name="connsiteY24" fmla="*/ 241461 h 608274"/>
              <a:gd name="connsiteX25" fmla="*/ 367364 w 609191"/>
              <a:gd name="connsiteY25" fmla="*/ 38378 h 608274"/>
              <a:gd name="connsiteX26" fmla="*/ 329681 w 609191"/>
              <a:gd name="connsiteY26" fmla="*/ 0 h 608274"/>
              <a:gd name="connsiteX27" fmla="*/ 348523 w 609191"/>
              <a:gd name="connsiteY27" fmla="*/ 0 h 608274"/>
              <a:gd name="connsiteX28" fmla="*/ 609191 w 609191"/>
              <a:gd name="connsiteY28" fmla="*/ 260274 h 608274"/>
              <a:gd name="connsiteX29" fmla="*/ 609191 w 609191"/>
              <a:gd name="connsiteY29" fmla="*/ 279086 h 608274"/>
              <a:gd name="connsiteX30" fmla="*/ 424924 w 609191"/>
              <a:gd name="connsiteY30" fmla="*/ 279086 h 608274"/>
              <a:gd name="connsiteX31" fmla="*/ 424924 w 609191"/>
              <a:gd name="connsiteY31" fmla="*/ 260274 h 608274"/>
              <a:gd name="connsiteX32" fmla="*/ 348523 w 609191"/>
              <a:gd name="connsiteY32" fmla="*/ 183988 h 608274"/>
              <a:gd name="connsiteX33" fmla="*/ 329681 w 609191"/>
              <a:gd name="connsiteY33" fmla="*/ 183988 h 6082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9191" h="608274">
                <a:moveTo>
                  <a:pt x="241805" y="126251"/>
                </a:moveTo>
                <a:cubicBezTo>
                  <a:pt x="127638" y="135844"/>
                  <a:pt x="37679" y="231591"/>
                  <a:pt x="37679" y="348029"/>
                </a:cubicBezTo>
                <a:cubicBezTo>
                  <a:pt x="37679" y="470768"/>
                  <a:pt x="137717" y="570653"/>
                  <a:pt x="260645" y="570653"/>
                </a:cubicBezTo>
                <a:cubicBezTo>
                  <a:pt x="377168" y="570653"/>
                  <a:pt x="473155" y="480832"/>
                  <a:pt x="482764" y="366839"/>
                </a:cubicBezTo>
                <a:lnTo>
                  <a:pt x="373117" y="366839"/>
                </a:lnTo>
                <a:cubicBezTo>
                  <a:pt x="364169" y="420732"/>
                  <a:pt x="317069" y="461927"/>
                  <a:pt x="260645" y="461927"/>
                </a:cubicBezTo>
                <a:cubicBezTo>
                  <a:pt x="197721" y="461927"/>
                  <a:pt x="146571" y="410856"/>
                  <a:pt x="146571" y="348029"/>
                </a:cubicBezTo>
                <a:cubicBezTo>
                  <a:pt x="146571" y="291597"/>
                  <a:pt x="187830" y="244664"/>
                  <a:pt x="241805" y="235635"/>
                </a:cubicBezTo>
                <a:close/>
                <a:moveTo>
                  <a:pt x="260645" y="87783"/>
                </a:moveTo>
                <a:lnTo>
                  <a:pt x="279484" y="87783"/>
                </a:lnTo>
                <a:lnTo>
                  <a:pt x="279484" y="271752"/>
                </a:lnTo>
                <a:lnTo>
                  <a:pt x="260645" y="271752"/>
                </a:lnTo>
                <a:cubicBezTo>
                  <a:pt x="218444" y="271752"/>
                  <a:pt x="184251" y="305987"/>
                  <a:pt x="184251" y="348029"/>
                </a:cubicBezTo>
                <a:cubicBezTo>
                  <a:pt x="184251" y="390071"/>
                  <a:pt x="218444" y="424306"/>
                  <a:pt x="260645" y="424306"/>
                </a:cubicBezTo>
                <a:cubicBezTo>
                  <a:pt x="302751" y="424306"/>
                  <a:pt x="337040" y="390071"/>
                  <a:pt x="337040" y="348029"/>
                </a:cubicBezTo>
                <a:lnTo>
                  <a:pt x="337040" y="329218"/>
                </a:lnTo>
                <a:lnTo>
                  <a:pt x="521196" y="329218"/>
                </a:lnTo>
                <a:lnTo>
                  <a:pt x="521196" y="348029"/>
                </a:lnTo>
                <a:cubicBezTo>
                  <a:pt x="521196" y="491554"/>
                  <a:pt x="404297" y="608274"/>
                  <a:pt x="260645" y="608274"/>
                </a:cubicBezTo>
                <a:cubicBezTo>
                  <a:pt x="116899" y="608274"/>
                  <a:pt x="0" y="491554"/>
                  <a:pt x="0" y="348029"/>
                </a:cubicBezTo>
                <a:cubicBezTo>
                  <a:pt x="0" y="204503"/>
                  <a:pt x="116899" y="87783"/>
                  <a:pt x="260645" y="87783"/>
                </a:cubicBezTo>
                <a:close/>
                <a:moveTo>
                  <a:pt x="367364" y="38378"/>
                </a:moveTo>
                <a:lnTo>
                  <a:pt x="367364" y="147868"/>
                </a:lnTo>
                <a:cubicBezTo>
                  <a:pt x="415221" y="155863"/>
                  <a:pt x="453091" y="193677"/>
                  <a:pt x="461099" y="241461"/>
                </a:cubicBezTo>
                <a:lnTo>
                  <a:pt x="570661" y="241461"/>
                </a:lnTo>
                <a:cubicBezTo>
                  <a:pt x="561617" y="133664"/>
                  <a:pt x="475324" y="47502"/>
                  <a:pt x="367364" y="38378"/>
                </a:cubicBezTo>
                <a:close/>
                <a:moveTo>
                  <a:pt x="329681" y="0"/>
                </a:moveTo>
                <a:lnTo>
                  <a:pt x="348523" y="0"/>
                </a:lnTo>
                <a:cubicBezTo>
                  <a:pt x="492281" y="0"/>
                  <a:pt x="609191" y="116733"/>
                  <a:pt x="609191" y="260274"/>
                </a:cubicBezTo>
                <a:lnTo>
                  <a:pt x="609191" y="279086"/>
                </a:lnTo>
                <a:lnTo>
                  <a:pt x="424924" y="279086"/>
                </a:lnTo>
                <a:lnTo>
                  <a:pt x="424924" y="260274"/>
                </a:lnTo>
                <a:cubicBezTo>
                  <a:pt x="424924" y="218133"/>
                  <a:pt x="390633" y="183988"/>
                  <a:pt x="348523" y="183988"/>
                </a:cubicBezTo>
                <a:lnTo>
                  <a:pt x="329681" y="183988"/>
                </a:lnTo>
                <a:close/>
              </a:path>
            </a:pathLst>
          </a:custGeom>
          <a:solidFill>
            <a:sysClr val="window" lastClr="FFFFFF">
              <a:lumMod val="100000"/>
            </a:sys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85" name="椭圆 84"/>
          <p:cNvSpPr/>
          <p:nvPr>
            <p:custDataLst>
              <p:tags r:id="rId9"/>
            </p:custDataLst>
          </p:nvPr>
        </p:nvSpPr>
        <p:spPr bwMode="auto">
          <a:xfrm>
            <a:off x="6990544" y="3679336"/>
            <a:ext cx="436567" cy="436567"/>
          </a:xfrm>
          <a:prstGeom prst="ellipse">
            <a:avLst/>
          </a:prstGeom>
          <a:solidFill>
            <a:srgbClr val="05B4EB"/>
          </a:solidFill>
          <a:ln w="6350" cap="flat" cmpd="sng" algn="ctr">
            <a:noFill/>
            <a:prstDash val="solid"/>
            <a:miter lim="800000"/>
          </a:ln>
          <a:effectLst/>
        </p:spPr>
        <p:txBody>
          <a:bodyPr rtlCol="0" anchor="ctr">
            <a:normAutofit fontScale="77500"/>
          </a:bodyPr>
          <a:lstStyle/>
          <a:p>
            <a:pPr algn="ctr"/>
            <a:endParaRPr lang="zh-CN" altLang="en-US">
              <a:solidFill>
                <a:sysClr val="windowText" lastClr="000000"/>
              </a:solidFill>
              <a:latin typeface="Arial" panose="020B0604020202020204" pitchFamily="34" charset="0"/>
              <a:ea typeface="微软雅黑" panose="020B0503020204020204" charset="-122"/>
              <a:cs typeface="微软雅黑" panose="020B0503020204020204" charset="-122"/>
            </a:endParaRPr>
          </a:p>
        </p:txBody>
      </p:sp>
      <p:sp>
        <p:nvSpPr>
          <p:cNvPr id="86" name="Oval 42"/>
          <p:cNvSpPr/>
          <p:nvPr>
            <p:custDataLst>
              <p:tags r:id="rId10"/>
            </p:custDataLst>
          </p:nvPr>
        </p:nvSpPr>
        <p:spPr>
          <a:xfrm>
            <a:off x="7111178" y="3803233"/>
            <a:ext cx="195299" cy="188773"/>
          </a:xfrm>
          <a:custGeom>
            <a:avLst/>
            <a:gdLst>
              <a:gd name="T0" fmla="*/ 8000 w 9600"/>
              <a:gd name="T1" fmla="*/ 960 h 9280"/>
              <a:gd name="T2" fmla="*/ 7360 w 9600"/>
              <a:gd name="T3" fmla="*/ 960 h 9280"/>
              <a:gd name="T4" fmla="*/ 7360 w 9600"/>
              <a:gd name="T5" fmla="*/ 320 h 9280"/>
              <a:gd name="T6" fmla="*/ 7040 w 9600"/>
              <a:gd name="T7" fmla="*/ 0 h 9280"/>
              <a:gd name="T8" fmla="*/ 6720 w 9600"/>
              <a:gd name="T9" fmla="*/ 320 h 9280"/>
              <a:gd name="T10" fmla="*/ 6720 w 9600"/>
              <a:gd name="T11" fmla="*/ 960 h 9280"/>
              <a:gd name="T12" fmla="*/ 2880 w 9600"/>
              <a:gd name="T13" fmla="*/ 960 h 9280"/>
              <a:gd name="T14" fmla="*/ 2880 w 9600"/>
              <a:gd name="T15" fmla="*/ 320 h 9280"/>
              <a:gd name="T16" fmla="*/ 2560 w 9600"/>
              <a:gd name="T17" fmla="*/ 0 h 9280"/>
              <a:gd name="T18" fmla="*/ 2240 w 9600"/>
              <a:gd name="T19" fmla="*/ 320 h 9280"/>
              <a:gd name="T20" fmla="*/ 2240 w 9600"/>
              <a:gd name="T21" fmla="*/ 960 h 9280"/>
              <a:gd name="T22" fmla="*/ 1600 w 9600"/>
              <a:gd name="T23" fmla="*/ 960 h 9280"/>
              <a:gd name="T24" fmla="*/ 0 w 9600"/>
              <a:gd name="T25" fmla="*/ 2560 h 9280"/>
              <a:gd name="T26" fmla="*/ 0 w 9600"/>
              <a:gd name="T27" fmla="*/ 7680 h 9280"/>
              <a:gd name="T28" fmla="*/ 1600 w 9600"/>
              <a:gd name="T29" fmla="*/ 9280 h 9280"/>
              <a:gd name="T30" fmla="*/ 8000 w 9600"/>
              <a:gd name="T31" fmla="*/ 9280 h 9280"/>
              <a:gd name="T32" fmla="*/ 9600 w 9600"/>
              <a:gd name="T33" fmla="*/ 7680 h 9280"/>
              <a:gd name="T34" fmla="*/ 9600 w 9600"/>
              <a:gd name="T35" fmla="*/ 2560 h 9280"/>
              <a:gd name="T36" fmla="*/ 8000 w 9600"/>
              <a:gd name="T37" fmla="*/ 960 h 9280"/>
              <a:gd name="T38" fmla="*/ 640 w 9600"/>
              <a:gd name="T39" fmla="*/ 2560 h 9280"/>
              <a:gd name="T40" fmla="*/ 1600 w 9600"/>
              <a:gd name="T41" fmla="*/ 1600 h 9280"/>
              <a:gd name="T42" fmla="*/ 2240 w 9600"/>
              <a:gd name="T43" fmla="*/ 1600 h 9280"/>
              <a:gd name="T44" fmla="*/ 2240 w 9600"/>
              <a:gd name="T45" fmla="*/ 3520 h 9280"/>
              <a:gd name="T46" fmla="*/ 2560 w 9600"/>
              <a:gd name="T47" fmla="*/ 3840 h 9280"/>
              <a:gd name="T48" fmla="*/ 2880 w 9600"/>
              <a:gd name="T49" fmla="*/ 3520 h 9280"/>
              <a:gd name="T50" fmla="*/ 2880 w 9600"/>
              <a:gd name="T51" fmla="*/ 1600 h 9280"/>
              <a:gd name="T52" fmla="*/ 6720 w 9600"/>
              <a:gd name="T53" fmla="*/ 1600 h 9280"/>
              <a:gd name="T54" fmla="*/ 6720 w 9600"/>
              <a:gd name="T55" fmla="*/ 3520 h 9280"/>
              <a:gd name="T56" fmla="*/ 7040 w 9600"/>
              <a:gd name="T57" fmla="*/ 3840 h 9280"/>
              <a:gd name="T58" fmla="*/ 7360 w 9600"/>
              <a:gd name="T59" fmla="*/ 3520 h 9280"/>
              <a:gd name="T60" fmla="*/ 7360 w 9600"/>
              <a:gd name="T61" fmla="*/ 1600 h 9280"/>
              <a:gd name="T62" fmla="*/ 8000 w 9600"/>
              <a:gd name="T63" fmla="*/ 1600 h 9280"/>
              <a:gd name="T64" fmla="*/ 8960 w 9600"/>
              <a:gd name="T65" fmla="*/ 2560 h 9280"/>
              <a:gd name="T66" fmla="*/ 8960 w 9600"/>
              <a:gd name="T67" fmla="*/ 4480 h 9280"/>
              <a:gd name="T68" fmla="*/ 640 w 9600"/>
              <a:gd name="T69" fmla="*/ 4480 h 9280"/>
              <a:gd name="T70" fmla="*/ 640 w 9600"/>
              <a:gd name="T71" fmla="*/ 2560 h 9280"/>
              <a:gd name="T72" fmla="*/ 8960 w 9600"/>
              <a:gd name="T73" fmla="*/ 7680 h 9280"/>
              <a:gd name="T74" fmla="*/ 8000 w 9600"/>
              <a:gd name="T75" fmla="*/ 8640 h 9280"/>
              <a:gd name="T76" fmla="*/ 1600 w 9600"/>
              <a:gd name="T77" fmla="*/ 8640 h 9280"/>
              <a:gd name="T78" fmla="*/ 640 w 9600"/>
              <a:gd name="T79" fmla="*/ 7680 h 9280"/>
              <a:gd name="T80" fmla="*/ 640 w 9600"/>
              <a:gd name="T81" fmla="*/ 5120 h 9280"/>
              <a:gd name="T82" fmla="*/ 8960 w 9600"/>
              <a:gd name="T83" fmla="*/ 5120 h 9280"/>
              <a:gd name="T84" fmla="*/ 8960 w 9600"/>
              <a:gd name="T85" fmla="*/ 7680 h 9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600" h="9280">
                <a:moveTo>
                  <a:pt x="8000" y="960"/>
                </a:moveTo>
                <a:lnTo>
                  <a:pt x="7360" y="960"/>
                </a:lnTo>
                <a:lnTo>
                  <a:pt x="7360" y="320"/>
                </a:lnTo>
                <a:cubicBezTo>
                  <a:pt x="7360" y="144"/>
                  <a:pt x="7217" y="0"/>
                  <a:pt x="7040" y="0"/>
                </a:cubicBezTo>
                <a:cubicBezTo>
                  <a:pt x="6863" y="0"/>
                  <a:pt x="6720" y="144"/>
                  <a:pt x="6720" y="320"/>
                </a:cubicBezTo>
                <a:lnTo>
                  <a:pt x="6720" y="960"/>
                </a:lnTo>
                <a:lnTo>
                  <a:pt x="2880" y="960"/>
                </a:lnTo>
                <a:lnTo>
                  <a:pt x="2880" y="320"/>
                </a:lnTo>
                <a:cubicBezTo>
                  <a:pt x="2880" y="144"/>
                  <a:pt x="2737" y="0"/>
                  <a:pt x="2560" y="0"/>
                </a:cubicBezTo>
                <a:cubicBezTo>
                  <a:pt x="2383" y="0"/>
                  <a:pt x="2240" y="144"/>
                  <a:pt x="2240" y="320"/>
                </a:cubicBezTo>
                <a:lnTo>
                  <a:pt x="2240" y="960"/>
                </a:lnTo>
                <a:lnTo>
                  <a:pt x="1600" y="960"/>
                </a:lnTo>
                <a:cubicBezTo>
                  <a:pt x="716" y="960"/>
                  <a:pt x="0" y="1677"/>
                  <a:pt x="0" y="2560"/>
                </a:cubicBezTo>
                <a:lnTo>
                  <a:pt x="0" y="7680"/>
                </a:lnTo>
                <a:cubicBezTo>
                  <a:pt x="0" y="8564"/>
                  <a:pt x="716" y="9280"/>
                  <a:pt x="1600" y="9280"/>
                </a:cubicBezTo>
                <a:lnTo>
                  <a:pt x="8000" y="9280"/>
                </a:lnTo>
                <a:cubicBezTo>
                  <a:pt x="8884" y="9280"/>
                  <a:pt x="9600" y="8564"/>
                  <a:pt x="9600" y="7680"/>
                </a:cubicBezTo>
                <a:lnTo>
                  <a:pt x="9600" y="2560"/>
                </a:lnTo>
                <a:cubicBezTo>
                  <a:pt x="9600" y="1677"/>
                  <a:pt x="8884" y="960"/>
                  <a:pt x="8000" y="960"/>
                </a:cubicBezTo>
                <a:close/>
                <a:moveTo>
                  <a:pt x="640" y="2560"/>
                </a:moveTo>
                <a:cubicBezTo>
                  <a:pt x="640" y="2030"/>
                  <a:pt x="1070" y="1600"/>
                  <a:pt x="1600" y="1600"/>
                </a:cubicBezTo>
                <a:lnTo>
                  <a:pt x="2240" y="1600"/>
                </a:lnTo>
                <a:lnTo>
                  <a:pt x="2240" y="3520"/>
                </a:lnTo>
                <a:cubicBezTo>
                  <a:pt x="2240" y="3697"/>
                  <a:pt x="2383" y="3840"/>
                  <a:pt x="2560" y="3840"/>
                </a:cubicBezTo>
                <a:cubicBezTo>
                  <a:pt x="2737" y="3840"/>
                  <a:pt x="2880" y="3697"/>
                  <a:pt x="2880" y="3520"/>
                </a:cubicBezTo>
                <a:lnTo>
                  <a:pt x="2880" y="1600"/>
                </a:lnTo>
                <a:lnTo>
                  <a:pt x="6720" y="1600"/>
                </a:lnTo>
                <a:lnTo>
                  <a:pt x="6720" y="3520"/>
                </a:lnTo>
                <a:cubicBezTo>
                  <a:pt x="6720" y="3697"/>
                  <a:pt x="6863" y="3840"/>
                  <a:pt x="7040" y="3840"/>
                </a:cubicBezTo>
                <a:cubicBezTo>
                  <a:pt x="7217" y="3840"/>
                  <a:pt x="7360" y="3697"/>
                  <a:pt x="7360" y="3520"/>
                </a:cubicBezTo>
                <a:lnTo>
                  <a:pt x="7360" y="1600"/>
                </a:lnTo>
                <a:lnTo>
                  <a:pt x="8000" y="1600"/>
                </a:lnTo>
                <a:cubicBezTo>
                  <a:pt x="8530" y="1600"/>
                  <a:pt x="8960" y="2030"/>
                  <a:pt x="8960" y="2560"/>
                </a:cubicBezTo>
                <a:lnTo>
                  <a:pt x="8960" y="4480"/>
                </a:lnTo>
                <a:lnTo>
                  <a:pt x="640" y="4480"/>
                </a:lnTo>
                <a:lnTo>
                  <a:pt x="640" y="2560"/>
                </a:lnTo>
                <a:close/>
                <a:moveTo>
                  <a:pt x="8960" y="7680"/>
                </a:moveTo>
                <a:cubicBezTo>
                  <a:pt x="8960" y="8211"/>
                  <a:pt x="8530" y="8640"/>
                  <a:pt x="8000" y="8640"/>
                </a:cubicBezTo>
                <a:lnTo>
                  <a:pt x="1600" y="8640"/>
                </a:lnTo>
                <a:cubicBezTo>
                  <a:pt x="1070" y="8640"/>
                  <a:pt x="640" y="8211"/>
                  <a:pt x="640" y="7680"/>
                </a:cubicBezTo>
                <a:lnTo>
                  <a:pt x="640" y="5120"/>
                </a:lnTo>
                <a:lnTo>
                  <a:pt x="8960" y="5120"/>
                </a:lnTo>
                <a:lnTo>
                  <a:pt x="8960" y="7680"/>
                </a:lnTo>
                <a:close/>
              </a:path>
            </a:pathLst>
          </a:custGeom>
          <a:solidFill>
            <a:sysClr val="window" lastClr="FFFFFF">
              <a:lumMod val="100000"/>
            </a:sys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87" name="椭圆 86"/>
          <p:cNvSpPr/>
          <p:nvPr>
            <p:custDataLst>
              <p:tags r:id="rId11"/>
            </p:custDataLst>
          </p:nvPr>
        </p:nvSpPr>
        <p:spPr bwMode="auto">
          <a:xfrm>
            <a:off x="3810811" y="4046828"/>
            <a:ext cx="436567" cy="436567"/>
          </a:xfrm>
          <a:prstGeom prst="ellipse">
            <a:avLst/>
          </a:prstGeom>
          <a:solidFill>
            <a:srgbClr val="05B4EB"/>
          </a:solidFill>
          <a:ln w="6350" cap="flat" cmpd="sng" algn="ctr">
            <a:noFill/>
            <a:prstDash val="solid"/>
            <a:miter lim="800000"/>
          </a:ln>
          <a:effectLst/>
        </p:spPr>
        <p:txBody>
          <a:bodyPr rtlCol="0" anchor="ctr">
            <a:normAutofit fontScale="77500"/>
          </a:bodyPr>
          <a:lstStyle/>
          <a:p>
            <a:pPr algn="ctr"/>
            <a:endParaRPr lang="zh-CN" altLang="en-US">
              <a:solidFill>
                <a:sysClr val="windowText" lastClr="000000"/>
              </a:solidFill>
              <a:latin typeface="Arial" panose="020B0604020202020204" pitchFamily="34" charset="0"/>
              <a:ea typeface="微软雅黑" panose="020B0503020204020204" charset="-122"/>
              <a:cs typeface="微软雅黑" panose="020B0503020204020204" charset="-122"/>
            </a:endParaRPr>
          </a:p>
        </p:txBody>
      </p:sp>
      <p:sp>
        <p:nvSpPr>
          <p:cNvPr id="88" name="Oval 43"/>
          <p:cNvSpPr/>
          <p:nvPr>
            <p:custDataLst>
              <p:tags r:id="rId12"/>
            </p:custDataLst>
          </p:nvPr>
        </p:nvSpPr>
        <p:spPr>
          <a:xfrm>
            <a:off x="3935588" y="4167462"/>
            <a:ext cx="187012" cy="195299"/>
          </a:xfrm>
          <a:custGeom>
            <a:avLst/>
            <a:gdLst>
              <a:gd name="T0" fmla="*/ 10185 w 10671"/>
              <a:gd name="T1" fmla="*/ 3987 h 11145"/>
              <a:gd name="T2" fmla="*/ 10185 w 10671"/>
              <a:gd name="T3" fmla="*/ 2746 h 11145"/>
              <a:gd name="T4" fmla="*/ 7848 w 10671"/>
              <a:gd name="T5" fmla="*/ 408 h 11145"/>
              <a:gd name="T6" fmla="*/ 4449 w 10671"/>
              <a:gd name="T7" fmla="*/ 408 h 11145"/>
              <a:gd name="T8" fmla="*/ 4348 w 10671"/>
              <a:gd name="T9" fmla="*/ 200 h 11145"/>
              <a:gd name="T10" fmla="*/ 4030 w 10671"/>
              <a:gd name="T11" fmla="*/ 0 h 11145"/>
              <a:gd name="T12" fmla="*/ 2544 w 10671"/>
              <a:gd name="T13" fmla="*/ 0 h 11145"/>
              <a:gd name="T14" fmla="*/ 0 w 10671"/>
              <a:gd name="T15" fmla="*/ 2543 h 11145"/>
              <a:gd name="T16" fmla="*/ 0 w 10671"/>
              <a:gd name="T17" fmla="*/ 8601 h 11145"/>
              <a:gd name="T18" fmla="*/ 2544 w 10671"/>
              <a:gd name="T19" fmla="*/ 11145 h 11145"/>
              <a:gd name="T20" fmla="*/ 8128 w 10671"/>
              <a:gd name="T21" fmla="*/ 11145 h 11145"/>
              <a:gd name="T22" fmla="*/ 10671 w 10671"/>
              <a:gd name="T23" fmla="*/ 8601 h 11145"/>
              <a:gd name="T24" fmla="*/ 10671 w 10671"/>
              <a:gd name="T25" fmla="*/ 4612 h 11145"/>
              <a:gd name="T26" fmla="*/ 10185 w 10671"/>
              <a:gd name="T27" fmla="*/ 3987 h 11145"/>
              <a:gd name="T28" fmla="*/ 7848 w 10671"/>
              <a:gd name="T29" fmla="*/ 1115 h 11145"/>
              <a:gd name="T30" fmla="*/ 9479 w 10671"/>
              <a:gd name="T31" fmla="*/ 2746 h 11145"/>
              <a:gd name="T32" fmla="*/ 9479 w 10671"/>
              <a:gd name="T33" fmla="*/ 3966 h 11145"/>
              <a:gd name="T34" fmla="*/ 6166 w 10671"/>
              <a:gd name="T35" fmla="*/ 3966 h 11145"/>
              <a:gd name="T36" fmla="*/ 4790 w 10671"/>
              <a:gd name="T37" fmla="*/ 1115 h 11145"/>
              <a:gd name="T38" fmla="*/ 7848 w 10671"/>
              <a:gd name="T39" fmla="*/ 1115 h 11145"/>
              <a:gd name="T40" fmla="*/ 9964 w 10671"/>
              <a:gd name="T41" fmla="*/ 8601 h 11145"/>
              <a:gd name="T42" fmla="*/ 8126 w 10671"/>
              <a:gd name="T43" fmla="*/ 10438 h 11145"/>
              <a:gd name="T44" fmla="*/ 2544 w 10671"/>
              <a:gd name="T45" fmla="*/ 10438 h 11145"/>
              <a:gd name="T46" fmla="*/ 706 w 10671"/>
              <a:gd name="T47" fmla="*/ 8601 h 11145"/>
              <a:gd name="T48" fmla="*/ 706 w 10671"/>
              <a:gd name="T49" fmla="*/ 2543 h 11145"/>
              <a:gd name="T50" fmla="*/ 2544 w 10671"/>
              <a:gd name="T51" fmla="*/ 706 h 11145"/>
              <a:gd name="T52" fmla="*/ 3809 w 10671"/>
              <a:gd name="T53" fmla="*/ 706 h 11145"/>
              <a:gd name="T54" fmla="*/ 5626 w 10671"/>
              <a:gd name="T55" fmla="*/ 4472 h 11145"/>
              <a:gd name="T56" fmla="*/ 5944 w 10671"/>
              <a:gd name="T57" fmla="*/ 4672 h 11145"/>
              <a:gd name="T58" fmla="*/ 9964 w 10671"/>
              <a:gd name="T59" fmla="*/ 4672 h 11145"/>
              <a:gd name="T60" fmla="*/ 9964 w 10671"/>
              <a:gd name="T61" fmla="*/ 8601 h 11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671" h="11145">
                <a:moveTo>
                  <a:pt x="10185" y="3987"/>
                </a:moveTo>
                <a:lnTo>
                  <a:pt x="10185" y="2746"/>
                </a:lnTo>
                <a:cubicBezTo>
                  <a:pt x="10185" y="1457"/>
                  <a:pt x="9136" y="408"/>
                  <a:pt x="7848" y="408"/>
                </a:cubicBezTo>
                <a:lnTo>
                  <a:pt x="4449" y="408"/>
                </a:lnTo>
                <a:lnTo>
                  <a:pt x="4348" y="200"/>
                </a:lnTo>
                <a:cubicBezTo>
                  <a:pt x="4289" y="77"/>
                  <a:pt x="4165" y="0"/>
                  <a:pt x="4030" y="0"/>
                </a:cubicBezTo>
                <a:lnTo>
                  <a:pt x="2544" y="0"/>
                </a:lnTo>
                <a:cubicBezTo>
                  <a:pt x="1141" y="0"/>
                  <a:pt x="0" y="1141"/>
                  <a:pt x="0" y="2543"/>
                </a:cubicBezTo>
                <a:lnTo>
                  <a:pt x="0" y="8601"/>
                </a:lnTo>
                <a:cubicBezTo>
                  <a:pt x="0" y="10003"/>
                  <a:pt x="1141" y="11145"/>
                  <a:pt x="2544" y="11145"/>
                </a:cubicBezTo>
                <a:lnTo>
                  <a:pt x="8128" y="11145"/>
                </a:lnTo>
                <a:cubicBezTo>
                  <a:pt x="9530" y="11145"/>
                  <a:pt x="10671" y="10003"/>
                  <a:pt x="10671" y="8601"/>
                </a:cubicBezTo>
                <a:lnTo>
                  <a:pt x="10671" y="4612"/>
                </a:lnTo>
                <a:cubicBezTo>
                  <a:pt x="10670" y="4311"/>
                  <a:pt x="10464" y="4058"/>
                  <a:pt x="10185" y="3987"/>
                </a:cubicBezTo>
                <a:close/>
                <a:moveTo>
                  <a:pt x="7848" y="1115"/>
                </a:moveTo>
                <a:cubicBezTo>
                  <a:pt x="8748" y="1115"/>
                  <a:pt x="9479" y="1846"/>
                  <a:pt x="9479" y="2746"/>
                </a:cubicBezTo>
                <a:lnTo>
                  <a:pt x="9479" y="3966"/>
                </a:lnTo>
                <a:lnTo>
                  <a:pt x="6166" y="3966"/>
                </a:lnTo>
                <a:lnTo>
                  <a:pt x="4790" y="1115"/>
                </a:lnTo>
                <a:lnTo>
                  <a:pt x="7848" y="1115"/>
                </a:lnTo>
                <a:close/>
                <a:moveTo>
                  <a:pt x="9964" y="8601"/>
                </a:moveTo>
                <a:cubicBezTo>
                  <a:pt x="9964" y="9615"/>
                  <a:pt x="9140" y="10438"/>
                  <a:pt x="8126" y="10438"/>
                </a:cubicBezTo>
                <a:lnTo>
                  <a:pt x="2544" y="10438"/>
                </a:lnTo>
                <a:cubicBezTo>
                  <a:pt x="1530" y="10438"/>
                  <a:pt x="706" y="9615"/>
                  <a:pt x="706" y="8601"/>
                </a:cubicBezTo>
                <a:lnTo>
                  <a:pt x="706" y="2543"/>
                </a:lnTo>
                <a:cubicBezTo>
                  <a:pt x="706" y="1530"/>
                  <a:pt x="1530" y="706"/>
                  <a:pt x="2544" y="706"/>
                </a:cubicBezTo>
                <a:lnTo>
                  <a:pt x="3809" y="706"/>
                </a:lnTo>
                <a:lnTo>
                  <a:pt x="5626" y="4472"/>
                </a:lnTo>
                <a:cubicBezTo>
                  <a:pt x="5685" y="4595"/>
                  <a:pt x="5809" y="4672"/>
                  <a:pt x="5944" y="4672"/>
                </a:cubicBezTo>
                <a:lnTo>
                  <a:pt x="9964" y="4672"/>
                </a:lnTo>
                <a:lnTo>
                  <a:pt x="9964" y="8601"/>
                </a:lnTo>
                <a:close/>
              </a:path>
            </a:pathLst>
          </a:custGeom>
          <a:solidFill>
            <a:sysClr val="window" lastClr="FFFFFF">
              <a:lumMod val="100000"/>
            </a:sys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89" name="椭圆 88"/>
          <p:cNvSpPr/>
          <p:nvPr>
            <p:custDataLst>
              <p:tags r:id="rId13"/>
            </p:custDataLst>
          </p:nvPr>
        </p:nvSpPr>
        <p:spPr bwMode="auto">
          <a:xfrm>
            <a:off x="4054316" y="2857309"/>
            <a:ext cx="436567" cy="436567"/>
          </a:xfrm>
          <a:prstGeom prst="ellipse">
            <a:avLst/>
          </a:prstGeom>
          <a:solidFill>
            <a:srgbClr val="05B4EB"/>
          </a:solidFill>
          <a:ln w="6350" cap="flat" cmpd="sng" algn="ctr">
            <a:noFill/>
            <a:prstDash val="solid"/>
            <a:miter lim="800000"/>
          </a:ln>
          <a:effectLst/>
        </p:spPr>
        <p:txBody>
          <a:bodyPr rtlCol="0" anchor="ctr">
            <a:normAutofit fontScale="77500"/>
          </a:bodyPr>
          <a:lstStyle/>
          <a:p>
            <a:pPr algn="ctr"/>
            <a:endParaRPr lang="zh-CN" altLang="en-US">
              <a:solidFill>
                <a:sysClr val="windowText" lastClr="000000"/>
              </a:solidFill>
              <a:latin typeface="Arial" panose="020B0604020202020204" pitchFamily="34" charset="0"/>
              <a:ea typeface="微软雅黑" panose="020B0503020204020204" charset="-122"/>
              <a:cs typeface="微软雅黑" panose="020B0503020204020204" charset="-122"/>
            </a:endParaRPr>
          </a:p>
        </p:txBody>
      </p:sp>
      <p:sp>
        <p:nvSpPr>
          <p:cNvPr id="90" name="Oval 44"/>
          <p:cNvSpPr/>
          <p:nvPr>
            <p:custDataLst>
              <p:tags r:id="rId14"/>
            </p:custDataLst>
          </p:nvPr>
        </p:nvSpPr>
        <p:spPr>
          <a:xfrm>
            <a:off x="4174950" y="2981786"/>
            <a:ext cx="195299" cy="187613"/>
          </a:xfrm>
          <a:custGeom>
            <a:avLst/>
            <a:gdLst>
              <a:gd name="T0" fmla="*/ 9664 w 9792"/>
              <a:gd name="T1" fmla="*/ 8800 h 9408"/>
              <a:gd name="T2" fmla="*/ 7168 w 9792"/>
              <a:gd name="T3" fmla="*/ 6304 h 9408"/>
              <a:gd name="T4" fmla="*/ 6944 w 9792"/>
              <a:gd name="T5" fmla="*/ 1120 h 9408"/>
              <a:gd name="T6" fmla="*/ 4224 w 9792"/>
              <a:gd name="T7" fmla="*/ 0 h 9408"/>
              <a:gd name="T8" fmla="*/ 1504 w 9792"/>
              <a:gd name="T9" fmla="*/ 1120 h 9408"/>
              <a:gd name="T10" fmla="*/ 1504 w 9792"/>
              <a:gd name="T11" fmla="*/ 6560 h 9408"/>
              <a:gd name="T12" fmla="*/ 4224 w 9792"/>
              <a:gd name="T13" fmla="*/ 7680 h 9408"/>
              <a:gd name="T14" fmla="*/ 6688 w 9792"/>
              <a:gd name="T15" fmla="*/ 6784 h 9408"/>
              <a:gd name="T16" fmla="*/ 9184 w 9792"/>
              <a:gd name="T17" fmla="*/ 9280 h 9408"/>
              <a:gd name="T18" fmla="*/ 9632 w 9792"/>
              <a:gd name="T19" fmla="*/ 9280 h 9408"/>
              <a:gd name="T20" fmla="*/ 9664 w 9792"/>
              <a:gd name="T21" fmla="*/ 8800 h 9408"/>
              <a:gd name="T22" fmla="*/ 1952 w 9792"/>
              <a:gd name="T23" fmla="*/ 6080 h 9408"/>
              <a:gd name="T24" fmla="*/ 1952 w 9792"/>
              <a:gd name="T25" fmla="*/ 1568 h 9408"/>
              <a:gd name="T26" fmla="*/ 4224 w 9792"/>
              <a:gd name="T27" fmla="*/ 640 h 9408"/>
              <a:gd name="T28" fmla="*/ 6496 w 9792"/>
              <a:gd name="T29" fmla="*/ 1568 h 9408"/>
              <a:gd name="T30" fmla="*/ 7424 w 9792"/>
              <a:gd name="T31" fmla="*/ 3840 h 9408"/>
              <a:gd name="T32" fmla="*/ 6496 w 9792"/>
              <a:gd name="T33" fmla="*/ 6112 h 9408"/>
              <a:gd name="T34" fmla="*/ 4224 w 9792"/>
              <a:gd name="T35" fmla="*/ 7040 h 9408"/>
              <a:gd name="T36" fmla="*/ 1952 w 9792"/>
              <a:gd name="T37" fmla="*/ 6080 h 9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792" h="9408">
                <a:moveTo>
                  <a:pt x="9664" y="8800"/>
                </a:moveTo>
                <a:lnTo>
                  <a:pt x="7168" y="6304"/>
                </a:lnTo>
                <a:cubicBezTo>
                  <a:pt x="8448" y="4800"/>
                  <a:pt x="8384" y="2528"/>
                  <a:pt x="6944" y="1120"/>
                </a:cubicBezTo>
                <a:cubicBezTo>
                  <a:pt x="6208" y="384"/>
                  <a:pt x="5216" y="0"/>
                  <a:pt x="4224" y="0"/>
                </a:cubicBezTo>
                <a:cubicBezTo>
                  <a:pt x="3232" y="0"/>
                  <a:pt x="2272" y="384"/>
                  <a:pt x="1504" y="1120"/>
                </a:cubicBezTo>
                <a:cubicBezTo>
                  <a:pt x="0" y="2624"/>
                  <a:pt x="0" y="5056"/>
                  <a:pt x="1504" y="6560"/>
                </a:cubicBezTo>
                <a:cubicBezTo>
                  <a:pt x="2240" y="7296"/>
                  <a:pt x="3232" y="7680"/>
                  <a:pt x="4224" y="7680"/>
                </a:cubicBezTo>
                <a:cubicBezTo>
                  <a:pt x="5120" y="7680"/>
                  <a:pt x="5984" y="7360"/>
                  <a:pt x="6688" y="6784"/>
                </a:cubicBezTo>
                <a:lnTo>
                  <a:pt x="9184" y="9280"/>
                </a:lnTo>
                <a:cubicBezTo>
                  <a:pt x="9312" y="9408"/>
                  <a:pt x="9504" y="9408"/>
                  <a:pt x="9632" y="9280"/>
                </a:cubicBezTo>
                <a:cubicBezTo>
                  <a:pt x="9760" y="9152"/>
                  <a:pt x="9792" y="8896"/>
                  <a:pt x="9664" y="8800"/>
                </a:cubicBezTo>
                <a:close/>
                <a:moveTo>
                  <a:pt x="1952" y="6080"/>
                </a:moveTo>
                <a:cubicBezTo>
                  <a:pt x="704" y="4832"/>
                  <a:pt x="704" y="2816"/>
                  <a:pt x="1952" y="1568"/>
                </a:cubicBezTo>
                <a:cubicBezTo>
                  <a:pt x="2560" y="960"/>
                  <a:pt x="3360" y="640"/>
                  <a:pt x="4224" y="640"/>
                </a:cubicBezTo>
                <a:cubicBezTo>
                  <a:pt x="5088" y="640"/>
                  <a:pt x="5888" y="960"/>
                  <a:pt x="6496" y="1568"/>
                </a:cubicBezTo>
                <a:cubicBezTo>
                  <a:pt x="7104" y="2176"/>
                  <a:pt x="7424" y="2976"/>
                  <a:pt x="7424" y="3840"/>
                </a:cubicBezTo>
                <a:cubicBezTo>
                  <a:pt x="7424" y="4704"/>
                  <a:pt x="7104" y="5504"/>
                  <a:pt x="6496" y="6112"/>
                </a:cubicBezTo>
                <a:cubicBezTo>
                  <a:pt x="5888" y="6720"/>
                  <a:pt x="5088" y="7040"/>
                  <a:pt x="4224" y="7040"/>
                </a:cubicBezTo>
                <a:cubicBezTo>
                  <a:pt x="3360" y="7008"/>
                  <a:pt x="2560" y="6688"/>
                  <a:pt x="1952" y="6080"/>
                </a:cubicBezTo>
                <a:close/>
              </a:path>
            </a:pathLst>
          </a:custGeom>
          <a:solidFill>
            <a:sysClr val="window" lastClr="FFFFFF">
              <a:lumMod val="100000"/>
            </a:sys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91" name="矩形 90"/>
          <p:cNvSpPr/>
          <p:nvPr>
            <p:custDataLst>
              <p:tags r:id="rId15"/>
            </p:custDataLst>
          </p:nvPr>
        </p:nvSpPr>
        <p:spPr>
          <a:xfrm>
            <a:off x="9006205" y="2205355"/>
            <a:ext cx="2936240" cy="96393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a:solidFill>
                  <a:sysClr val="window" lastClr="FFFFFF">
                    <a:lumMod val="85000"/>
                    <a:lumOff val="15000"/>
                  </a:sysClr>
                </a:solidFill>
                <a:latin typeface="微软雅黑" panose="020B0503020204020204" charset="-122"/>
                <a:cs typeface="微软雅黑" panose="020B0503020204020204" charset="-122"/>
              </a:rPr>
              <a:t>用户每购买一台设备，企业捐赠</a:t>
            </a:r>
            <a:r>
              <a:rPr lang="en-US" altLang="zh-CN" sz="1400">
                <a:solidFill>
                  <a:sysClr val="window" lastClr="FFFFFF">
                    <a:lumMod val="85000"/>
                    <a:lumOff val="15000"/>
                  </a:sysClr>
                </a:solidFill>
                <a:latin typeface="微软雅黑" panose="020B0503020204020204" charset="-122"/>
                <a:cs typeface="微软雅黑" panose="020B0503020204020204" charset="-122"/>
              </a:rPr>
              <a:t>50</a:t>
            </a:r>
            <a:r>
              <a:rPr lang="zh-CN" altLang="en-US" sz="1400">
                <a:solidFill>
                  <a:sysClr val="window" lastClr="FFFFFF">
                    <a:lumMod val="85000"/>
                    <a:lumOff val="15000"/>
                  </a:sysClr>
                </a:solidFill>
                <a:latin typeface="微软雅黑" panose="020B0503020204020204" charset="-122"/>
                <a:cs typeface="微软雅黑" panose="020B0503020204020204" charset="-122"/>
              </a:rPr>
              <a:t>元至无障碍设施建设基金，提升品牌社会形象</a:t>
            </a:r>
            <a:r>
              <a:rPr lang="zh-CN" altLang="en-US" sz="1200">
                <a:solidFill>
                  <a:sysClr val="window" lastClr="FFFFFF">
                    <a:lumMod val="85000"/>
                    <a:lumOff val="15000"/>
                  </a:sysClr>
                </a:solidFill>
                <a:latin typeface="微软雅黑" panose="020B0503020204020204" charset="-122"/>
                <a:cs typeface="微软雅黑" panose="020B0503020204020204" charset="-122"/>
              </a:rPr>
              <a:t>。</a:t>
            </a:r>
            <a:endParaRPr lang="zh-CN" altLang="en-US" sz="1200">
              <a:solidFill>
                <a:sysClr val="window" lastClr="FFFFFF">
                  <a:lumMod val="85000"/>
                  <a:lumOff val="15000"/>
                </a:sysClr>
              </a:solidFill>
              <a:latin typeface="微软雅黑" panose="020B0503020204020204" charset="-122"/>
              <a:cs typeface="微软雅黑" panose="020B0503020204020204" charset="-122"/>
            </a:endParaRPr>
          </a:p>
        </p:txBody>
      </p:sp>
      <p:sp>
        <p:nvSpPr>
          <p:cNvPr id="92" name="矩形 91"/>
          <p:cNvSpPr/>
          <p:nvPr>
            <p:custDataLst>
              <p:tags r:id="rId16"/>
            </p:custDataLst>
          </p:nvPr>
        </p:nvSpPr>
        <p:spPr>
          <a:xfrm>
            <a:off x="9263975" y="1641873"/>
            <a:ext cx="2475231" cy="367402"/>
          </a:xfrm>
          <a:prstGeom prst="rect">
            <a:avLst/>
          </a:prstGeom>
          <a:noFill/>
        </p:spPr>
        <p:txBody>
          <a:bodyPr wrap="square" lIns="0" tIns="0" rIns="0" bIns="0" rtlCol="0" anchor="b">
            <a:noAutofit/>
          </a:bodyPr>
          <a:lstStyle/>
          <a:p>
            <a:pPr>
              <a:spcBef>
                <a:spcPct val="0"/>
              </a:spcBef>
              <a:spcAft>
                <a:spcPct val="0"/>
              </a:spcAft>
            </a:pPr>
            <a:r>
              <a:rPr lang="zh-CN" altLang="en-US" sz="28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rPr>
              <a:t>公益联名计划</a:t>
            </a:r>
            <a:endParaRPr lang="zh-CN" altLang="en-US" sz="28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endParaRPr>
          </a:p>
        </p:txBody>
      </p:sp>
      <p:sp>
        <p:nvSpPr>
          <p:cNvPr id="93" name="矩形 92"/>
          <p:cNvSpPr/>
          <p:nvPr>
            <p:custDataLst>
              <p:tags r:id="rId17"/>
            </p:custDataLst>
          </p:nvPr>
        </p:nvSpPr>
        <p:spPr>
          <a:xfrm>
            <a:off x="7286625" y="4350385"/>
            <a:ext cx="4716145" cy="1189355"/>
          </a:xfrm>
          <a:prstGeom prst="rect">
            <a:avLst/>
          </a:prstGeom>
          <a:noFill/>
        </p:spPr>
        <p:txBody>
          <a:bodyPr wrap="square" lIns="0" tIns="0" rIns="0" bIns="0" rtlCol="0" anchor="t" anchorCtr="0">
            <a:noAutofit/>
          </a:bodyPr>
          <a:lstStyle/>
          <a:p>
            <a:pPr marL="285750" indent="-285750">
              <a:lnSpc>
                <a:spcPct val="150000"/>
              </a:lnSpc>
              <a:spcBef>
                <a:spcPct val="0"/>
              </a:spcBef>
              <a:spcAft>
                <a:spcPct val="0"/>
              </a:spcAft>
              <a:buFont typeface="Wingdings" panose="05000000000000000000" charset="0"/>
              <a:buChar char="u"/>
            </a:pPr>
            <a:r>
              <a:rPr lang="zh-CN" altLang="en-US" sz="1400">
                <a:solidFill>
                  <a:sysClr val="window" lastClr="FFFFFF">
                    <a:lumMod val="85000"/>
                    <a:lumOff val="15000"/>
                  </a:sysClr>
                </a:solidFill>
                <a:latin typeface="微软雅黑" panose="020B0503020204020204" charset="-122"/>
                <a:cs typeface="微软雅黑" panose="020B0503020204020204" charset="-122"/>
              </a:rPr>
              <a:t>直接收益：硬件销售毛利率约</a:t>
            </a:r>
            <a:r>
              <a:rPr lang="en-US" altLang="zh-CN" sz="1400">
                <a:solidFill>
                  <a:sysClr val="window" lastClr="FFFFFF">
                    <a:lumMod val="85000"/>
                    <a:lumOff val="15000"/>
                  </a:sysClr>
                </a:solidFill>
                <a:latin typeface="微软雅黑" panose="020B0503020204020204" charset="-122"/>
                <a:cs typeface="微软雅黑" panose="020B0503020204020204" charset="-122"/>
              </a:rPr>
              <a:t>40%-50%</a:t>
            </a:r>
            <a:r>
              <a:rPr lang="zh-CN" altLang="en-US" sz="1400">
                <a:solidFill>
                  <a:sysClr val="window" lastClr="FFFFFF">
                    <a:lumMod val="85000"/>
                    <a:lumOff val="15000"/>
                  </a:sysClr>
                </a:solidFill>
                <a:latin typeface="微软雅黑" panose="020B0503020204020204" charset="-122"/>
                <a:cs typeface="微软雅黑" panose="020B0503020204020204" charset="-122"/>
              </a:rPr>
              <a:t>（批量生产后可提升至</a:t>
            </a:r>
            <a:r>
              <a:rPr lang="en-US" altLang="zh-CN" sz="1400">
                <a:solidFill>
                  <a:sysClr val="window" lastClr="FFFFFF">
                    <a:lumMod val="85000"/>
                    <a:lumOff val="15000"/>
                  </a:sysClr>
                </a:solidFill>
                <a:latin typeface="微软雅黑" panose="020B0503020204020204" charset="-122"/>
                <a:cs typeface="微软雅黑" panose="020B0503020204020204" charset="-122"/>
              </a:rPr>
              <a:t>60%</a:t>
            </a:r>
            <a:r>
              <a:rPr lang="zh-CN" altLang="en-US" sz="1400">
                <a:solidFill>
                  <a:sysClr val="window" lastClr="FFFFFF">
                    <a:lumMod val="85000"/>
                    <a:lumOff val="15000"/>
                  </a:sysClr>
                </a:solidFill>
                <a:latin typeface="微软雅黑" panose="020B0503020204020204" charset="-122"/>
                <a:cs typeface="微软雅黑" panose="020B0503020204020204" charset="-122"/>
              </a:rPr>
              <a:t>）；云服务订阅收入（用户付费率预计</a:t>
            </a:r>
            <a:r>
              <a:rPr lang="en-US" altLang="zh-CN" sz="1400">
                <a:solidFill>
                  <a:sysClr val="window" lastClr="FFFFFF">
                    <a:lumMod val="85000"/>
                    <a:lumOff val="15000"/>
                  </a:sysClr>
                </a:solidFill>
                <a:latin typeface="微软雅黑" panose="020B0503020204020204" charset="-122"/>
                <a:cs typeface="微软雅黑" panose="020B0503020204020204" charset="-122"/>
              </a:rPr>
              <a:t>15%-20%</a:t>
            </a:r>
            <a:r>
              <a:rPr lang="zh-CN" altLang="en-US" sz="1400">
                <a:solidFill>
                  <a:sysClr val="window" lastClr="FFFFFF">
                    <a:lumMod val="85000"/>
                    <a:lumOff val="15000"/>
                  </a:sysClr>
                </a:solidFill>
                <a:latin typeface="微软雅黑" panose="020B0503020204020204" charset="-122"/>
                <a:cs typeface="微软雅黑" panose="020B0503020204020204" charset="-122"/>
              </a:rPr>
              <a:t>）。</a:t>
            </a:r>
            <a:endParaRPr lang="zh-CN" altLang="en-US" sz="1400">
              <a:solidFill>
                <a:sysClr val="window" lastClr="FFFFFF">
                  <a:lumMod val="85000"/>
                  <a:lumOff val="15000"/>
                </a:sysClr>
              </a:solidFill>
              <a:latin typeface="微软雅黑" panose="020B0503020204020204" charset="-122"/>
              <a:cs typeface="微软雅黑" panose="020B0503020204020204" charset="-122"/>
            </a:endParaRPr>
          </a:p>
          <a:p>
            <a:pPr marL="285750" indent="-285750">
              <a:lnSpc>
                <a:spcPct val="150000"/>
              </a:lnSpc>
              <a:spcBef>
                <a:spcPct val="0"/>
              </a:spcBef>
              <a:spcAft>
                <a:spcPct val="0"/>
              </a:spcAft>
              <a:buFont typeface="Wingdings" panose="05000000000000000000" charset="0"/>
              <a:buChar char="u"/>
            </a:pPr>
            <a:r>
              <a:rPr lang="zh-CN" altLang="en-US" sz="1400">
                <a:solidFill>
                  <a:sysClr val="window" lastClr="FFFFFF">
                    <a:lumMod val="85000"/>
                    <a:lumOff val="15000"/>
                  </a:sysClr>
                </a:solidFill>
                <a:latin typeface="微软雅黑" panose="020B0503020204020204" charset="-122"/>
                <a:cs typeface="微软雅黑" panose="020B0503020204020204" charset="-122"/>
              </a:rPr>
              <a:t>间接收益：与保险公司合作开发</a:t>
            </a:r>
            <a:r>
              <a:rPr lang="en-US" altLang="zh-CN" sz="1400">
                <a:solidFill>
                  <a:sysClr val="window" lastClr="FFFFFF">
                    <a:lumMod val="85000"/>
                    <a:lumOff val="15000"/>
                  </a:sysClr>
                </a:solidFill>
                <a:latin typeface="微软雅黑" panose="020B0503020204020204" charset="-122"/>
                <a:cs typeface="微软雅黑" panose="020B0503020204020204" charset="-122"/>
              </a:rPr>
              <a:t>“</a:t>
            </a:r>
            <a:r>
              <a:rPr lang="zh-CN" altLang="en-US" sz="1400">
                <a:solidFill>
                  <a:sysClr val="window" lastClr="FFFFFF">
                    <a:lumMod val="85000"/>
                    <a:lumOff val="15000"/>
                  </a:sysClr>
                </a:solidFill>
                <a:latin typeface="微软雅黑" panose="020B0503020204020204" charset="-122"/>
                <a:cs typeface="微软雅黑" panose="020B0503020204020204" charset="-122"/>
              </a:rPr>
              <a:t>视障人群意外险</a:t>
            </a:r>
            <a:r>
              <a:rPr lang="en-US" altLang="zh-CN" sz="1400">
                <a:solidFill>
                  <a:sysClr val="window" lastClr="FFFFFF">
                    <a:lumMod val="85000"/>
                    <a:lumOff val="15000"/>
                  </a:sysClr>
                </a:solidFill>
                <a:latin typeface="微软雅黑" panose="020B0503020204020204" charset="-122"/>
                <a:cs typeface="微软雅黑" panose="020B0503020204020204" charset="-122"/>
              </a:rPr>
              <a:t>”</a:t>
            </a:r>
            <a:r>
              <a:rPr lang="zh-CN" altLang="en-US" sz="1400">
                <a:solidFill>
                  <a:sysClr val="window" lastClr="FFFFFF">
                    <a:lumMod val="85000"/>
                    <a:lumOff val="15000"/>
                  </a:sysClr>
                </a:solidFill>
                <a:latin typeface="微软雅黑" panose="020B0503020204020204" charset="-122"/>
                <a:cs typeface="微软雅黑" panose="020B0503020204020204" charset="-122"/>
              </a:rPr>
              <a:t>，获取佣金分成；为智慧城市提供匿名化出行数据，用于优化无障碍设施规划（数据服务收入）。</a:t>
            </a:r>
            <a:endParaRPr lang="zh-CN" altLang="en-US" sz="1400">
              <a:solidFill>
                <a:sysClr val="window" lastClr="FFFFFF">
                  <a:lumMod val="85000"/>
                  <a:lumOff val="15000"/>
                </a:sysClr>
              </a:solidFill>
              <a:latin typeface="微软雅黑" panose="020B0503020204020204" charset="-122"/>
              <a:cs typeface="微软雅黑" panose="020B0503020204020204" charset="-122"/>
            </a:endParaRPr>
          </a:p>
        </p:txBody>
      </p:sp>
      <p:sp>
        <p:nvSpPr>
          <p:cNvPr id="94" name="矩形 93"/>
          <p:cNvSpPr/>
          <p:nvPr>
            <p:custDataLst>
              <p:tags r:id="rId18"/>
            </p:custDataLst>
          </p:nvPr>
        </p:nvSpPr>
        <p:spPr>
          <a:xfrm>
            <a:off x="8256421" y="3918531"/>
            <a:ext cx="2475230" cy="367402"/>
          </a:xfrm>
          <a:prstGeom prst="rect">
            <a:avLst/>
          </a:prstGeom>
          <a:noFill/>
        </p:spPr>
        <p:txBody>
          <a:bodyPr wrap="square" lIns="0" tIns="0" rIns="0" bIns="0" rtlCol="0" anchor="b">
            <a:noAutofit/>
          </a:bodyPr>
          <a:lstStyle/>
          <a:p>
            <a:pPr>
              <a:spcBef>
                <a:spcPct val="0"/>
              </a:spcBef>
              <a:spcAft>
                <a:spcPct val="0"/>
              </a:spcAft>
            </a:pPr>
            <a:r>
              <a:rPr lang="zh-CN" altLang="en-US" sz="28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rPr>
              <a:t>盈利路径</a:t>
            </a:r>
            <a:endParaRPr lang="zh-CN" altLang="en-US" sz="28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endParaRPr>
          </a:p>
        </p:txBody>
      </p:sp>
      <p:sp>
        <p:nvSpPr>
          <p:cNvPr id="95" name="矩形 94"/>
          <p:cNvSpPr/>
          <p:nvPr>
            <p:custDataLst>
              <p:tags r:id="rId19"/>
            </p:custDataLst>
          </p:nvPr>
        </p:nvSpPr>
        <p:spPr>
          <a:xfrm>
            <a:off x="842010" y="4547235"/>
            <a:ext cx="5097780" cy="906780"/>
          </a:xfrm>
          <a:prstGeom prst="rect">
            <a:avLst/>
          </a:prstGeom>
          <a:noFill/>
        </p:spPr>
        <p:txBody>
          <a:bodyPr wrap="square" lIns="0" tIns="0" rIns="0" bIns="0" rtlCol="0" anchor="t" anchorCtr="0">
            <a:noAutofit/>
          </a:bodyPr>
          <a:lstStyle/>
          <a:p>
            <a:pPr marL="171450" indent="-171450" algn="l">
              <a:lnSpc>
                <a:spcPct val="150000"/>
              </a:lnSpc>
              <a:spcBef>
                <a:spcPct val="0"/>
              </a:spcBef>
              <a:spcAft>
                <a:spcPct val="0"/>
              </a:spcAft>
              <a:buFont typeface="Wingdings" panose="05000000000000000000" charset="0"/>
              <a:buChar char="u"/>
            </a:pPr>
            <a:r>
              <a:rPr lang="zh-CN" altLang="en-US" sz="1400">
                <a:solidFill>
                  <a:sysClr val="window" lastClr="FFFFFF">
                    <a:lumMod val="85000"/>
                    <a:lumOff val="15000"/>
                  </a:sysClr>
                </a:solidFill>
                <a:latin typeface="微软雅黑" panose="020B0503020204020204" charset="-122"/>
                <a:cs typeface="微软雅黑" panose="020B0503020204020204" charset="-122"/>
              </a:rPr>
              <a:t>线上：电商平台（淘宝</a:t>
            </a:r>
            <a:r>
              <a:rPr lang="en-US" altLang="zh-CN" sz="1400">
                <a:solidFill>
                  <a:sysClr val="window" lastClr="FFFFFF">
                    <a:lumMod val="85000"/>
                    <a:lumOff val="15000"/>
                  </a:sysClr>
                </a:solidFill>
                <a:latin typeface="微软雅黑" panose="020B0503020204020204" charset="-122"/>
                <a:cs typeface="微软雅黑" panose="020B0503020204020204" charset="-122"/>
              </a:rPr>
              <a:t>/</a:t>
            </a:r>
            <a:r>
              <a:rPr lang="zh-CN" altLang="en-US" sz="1400">
                <a:solidFill>
                  <a:sysClr val="window" lastClr="FFFFFF">
                    <a:lumMod val="85000"/>
                    <a:lumOff val="15000"/>
                  </a:sysClr>
                </a:solidFill>
                <a:latin typeface="微软雅黑" panose="020B0503020204020204" charset="-122"/>
                <a:cs typeface="微软雅黑" panose="020B0503020204020204" charset="-122"/>
              </a:rPr>
              <a:t>京东</a:t>
            </a:r>
            <a:r>
              <a:rPr lang="en-US" altLang="zh-CN" sz="1400">
                <a:solidFill>
                  <a:sysClr val="window" lastClr="FFFFFF">
                    <a:lumMod val="85000"/>
                    <a:lumOff val="15000"/>
                  </a:sysClr>
                </a:solidFill>
                <a:latin typeface="微软雅黑" panose="020B0503020204020204" charset="-122"/>
                <a:cs typeface="微软雅黑" panose="020B0503020204020204" charset="-122"/>
              </a:rPr>
              <a:t>/</a:t>
            </a:r>
            <a:r>
              <a:rPr lang="zh-CN" altLang="en-US" sz="1400">
                <a:solidFill>
                  <a:sysClr val="window" lastClr="FFFFFF">
                    <a:lumMod val="85000"/>
                    <a:lumOff val="15000"/>
                  </a:sysClr>
                </a:solidFill>
                <a:latin typeface="微软雅黑" panose="020B0503020204020204" charset="-122"/>
                <a:cs typeface="微软雅黑" panose="020B0503020204020204" charset="-122"/>
              </a:rPr>
              <a:t>拼多多）、垂直医疗设备商城；短视频平台（抖音</a:t>
            </a:r>
            <a:r>
              <a:rPr lang="en-US" altLang="zh-CN" sz="1400">
                <a:solidFill>
                  <a:sysClr val="window" lastClr="FFFFFF">
                    <a:lumMod val="85000"/>
                    <a:lumOff val="15000"/>
                  </a:sysClr>
                </a:solidFill>
                <a:latin typeface="微软雅黑" panose="020B0503020204020204" charset="-122"/>
                <a:cs typeface="微软雅黑" panose="020B0503020204020204" charset="-122"/>
              </a:rPr>
              <a:t>/B</a:t>
            </a:r>
            <a:r>
              <a:rPr lang="zh-CN" altLang="en-US" sz="1400">
                <a:solidFill>
                  <a:sysClr val="window" lastClr="FFFFFF">
                    <a:lumMod val="85000"/>
                    <a:lumOff val="15000"/>
                  </a:sysClr>
                </a:solidFill>
                <a:latin typeface="微软雅黑" panose="020B0503020204020204" charset="-122"/>
                <a:cs typeface="微软雅黑" panose="020B0503020204020204" charset="-122"/>
              </a:rPr>
              <a:t>站）内容营销（如视障用户实测视频）。</a:t>
            </a:r>
            <a:endParaRPr lang="zh-CN" altLang="en-US" sz="1400">
              <a:solidFill>
                <a:sysClr val="window" lastClr="FFFFFF">
                  <a:lumMod val="85000"/>
                  <a:lumOff val="15000"/>
                </a:sysClr>
              </a:solidFill>
              <a:latin typeface="微软雅黑" panose="020B0503020204020204" charset="-122"/>
              <a:cs typeface="微软雅黑" panose="020B0503020204020204" charset="-122"/>
            </a:endParaRPr>
          </a:p>
          <a:p>
            <a:pPr marL="171450" indent="-171450" algn="l">
              <a:lnSpc>
                <a:spcPct val="150000"/>
              </a:lnSpc>
              <a:spcBef>
                <a:spcPct val="0"/>
              </a:spcBef>
              <a:spcAft>
                <a:spcPct val="0"/>
              </a:spcAft>
              <a:buFont typeface="Wingdings" panose="05000000000000000000" charset="0"/>
              <a:buChar char="u"/>
            </a:pPr>
            <a:r>
              <a:rPr lang="zh-CN" altLang="en-US" sz="1400">
                <a:solidFill>
                  <a:sysClr val="window" lastClr="FFFFFF">
                    <a:lumMod val="85000"/>
                    <a:lumOff val="15000"/>
                  </a:sysClr>
                </a:solidFill>
                <a:latin typeface="微软雅黑" panose="020B0503020204020204" charset="-122"/>
                <a:cs typeface="微软雅黑" panose="020B0503020204020204" charset="-122"/>
              </a:rPr>
              <a:t>线下：残联合作推广、医疗器械展会、盲人学校</a:t>
            </a:r>
            <a:r>
              <a:rPr lang="en-US" altLang="zh-CN" sz="1400">
                <a:solidFill>
                  <a:sysClr val="window" lastClr="FFFFFF">
                    <a:lumMod val="85000"/>
                    <a:lumOff val="15000"/>
                  </a:sysClr>
                </a:solidFill>
                <a:latin typeface="微软雅黑" panose="020B0503020204020204" charset="-122"/>
                <a:cs typeface="微软雅黑" panose="020B0503020204020204" charset="-122"/>
              </a:rPr>
              <a:t>/</a:t>
            </a:r>
            <a:r>
              <a:rPr lang="zh-CN" altLang="en-US" sz="1400">
                <a:solidFill>
                  <a:sysClr val="window" lastClr="FFFFFF">
                    <a:lumMod val="85000"/>
                    <a:lumOff val="15000"/>
                  </a:sysClr>
                </a:solidFill>
                <a:latin typeface="微软雅黑" panose="020B0503020204020204" charset="-122"/>
                <a:cs typeface="微软雅黑" panose="020B0503020204020204" charset="-122"/>
              </a:rPr>
              <a:t>社区试用体验。</a:t>
            </a:r>
            <a:endParaRPr lang="zh-CN" altLang="en-US" sz="1400">
              <a:solidFill>
                <a:sysClr val="window" lastClr="FFFFFF">
                  <a:lumMod val="85000"/>
                  <a:lumOff val="15000"/>
                </a:sysClr>
              </a:solidFill>
              <a:latin typeface="微软雅黑" panose="020B0503020204020204" charset="-122"/>
              <a:cs typeface="微软雅黑" panose="020B0503020204020204" charset="-122"/>
            </a:endParaRPr>
          </a:p>
        </p:txBody>
      </p:sp>
      <p:sp>
        <p:nvSpPr>
          <p:cNvPr id="96" name="矩形 95"/>
          <p:cNvSpPr/>
          <p:nvPr>
            <p:custDataLst>
              <p:tags r:id="rId20"/>
            </p:custDataLst>
          </p:nvPr>
        </p:nvSpPr>
        <p:spPr>
          <a:xfrm>
            <a:off x="1919605" y="4108450"/>
            <a:ext cx="1552575" cy="367665"/>
          </a:xfrm>
          <a:prstGeom prst="rect">
            <a:avLst/>
          </a:prstGeom>
          <a:noFill/>
        </p:spPr>
        <p:txBody>
          <a:bodyPr wrap="square" lIns="0" tIns="0" rIns="0" bIns="0" rtlCol="0" anchor="b">
            <a:noAutofit/>
          </a:bodyPr>
          <a:lstStyle/>
          <a:p>
            <a:pPr algn="l">
              <a:spcBef>
                <a:spcPct val="0"/>
              </a:spcBef>
              <a:spcAft>
                <a:spcPct val="0"/>
              </a:spcAft>
            </a:pPr>
            <a:r>
              <a:rPr lang="zh-CN" altLang="en-US" sz="22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rPr>
              <a:t>销售渠道</a:t>
            </a:r>
            <a:endParaRPr lang="zh-CN" altLang="en-US" sz="22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endParaRPr>
          </a:p>
        </p:txBody>
      </p:sp>
      <p:sp>
        <p:nvSpPr>
          <p:cNvPr id="97" name="矩形 96"/>
          <p:cNvSpPr/>
          <p:nvPr>
            <p:custDataLst>
              <p:tags r:id="rId21"/>
            </p:custDataLst>
          </p:nvPr>
        </p:nvSpPr>
        <p:spPr>
          <a:xfrm>
            <a:off x="263525" y="2088515"/>
            <a:ext cx="3136265" cy="1257935"/>
          </a:xfrm>
          <a:prstGeom prst="rect">
            <a:avLst/>
          </a:prstGeom>
          <a:noFill/>
        </p:spPr>
        <p:txBody>
          <a:bodyPr wrap="square" lIns="0" tIns="0" rIns="0" bIns="0" rtlCol="0" anchor="t" anchorCtr="0">
            <a:noAutofit/>
          </a:bodyPr>
          <a:lstStyle/>
          <a:p>
            <a:pPr marL="285750" lvl="0" indent="-285750" algn="l">
              <a:lnSpc>
                <a:spcPct val="150000"/>
              </a:lnSpc>
              <a:spcBef>
                <a:spcPct val="0"/>
              </a:spcBef>
              <a:spcAft>
                <a:spcPct val="0"/>
              </a:spcAft>
              <a:buFont typeface="Wingdings" panose="05000000000000000000" charset="0"/>
              <a:buChar char="u"/>
            </a:pPr>
            <a:r>
              <a:rPr lang="zh-CN" altLang="en-US" sz="1400">
                <a:solidFill>
                  <a:sysClr val="window" lastClr="FFFFFF">
                    <a:lumMod val="85000"/>
                    <a:lumOff val="15000"/>
                  </a:sysClr>
                </a:solidFill>
                <a:latin typeface="微软雅黑" panose="020B0503020204020204" charset="-122"/>
                <a:cs typeface="微软雅黑" panose="020B0503020204020204" charset="-122"/>
              </a:rPr>
              <a:t>基础款：定价</a:t>
            </a:r>
            <a:r>
              <a:rPr lang="en-US" altLang="zh-CN" sz="1400">
                <a:solidFill>
                  <a:sysClr val="window" lastClr="FFFFFF">
                    <a:lumMod val="85000"/>
                    <a:lumOff val="15000"/>
                  </a:sysClr>
                </a:solidFill>
                <a:latin typeface="微软雅黑" panose="020B0503020204020204" charset="-122"/>
                <a:cs typeface="微软雅黑" panose="020B0503020204020204" charset="-122"/>
              </a:rPr>
              <a:t>899</a:t>
            </a:r>
            <a:r>
              <a:rPr lang="zh-CN" altLang="en-US" sz="1400">
                <a:solidFill>
                  <a:sysClr val="window" lastClr="FFFFFF">
                    <a:lumMod val="85000"/>
                    <a:lumOff val="15000"/>
                  </a:sysClr>
                </a:solidFill>
                <a:latin typeface="微软雅黑" panose="020B0503020204020204" charset="-122"/>
                <a:cs typeface="微软雅黑" panose="020B0503020204020204" charset="-122"/>
              </a:rPr>
              <a:t>元，覆盖大众需求。</a:t>
            </a:r>
            <a:endParaRPr lang="zh-CN" altLang="en-US" sz="1400">
              <a:solidFill>
                <a:sysClr val="window" lastClr="FFFFFF">
                  <a:lumMod val="85000"/>
                  <a:lumOff val="15000"/>
                </a:sysClr>
              </a:solidFill>
              <a:latin typeface="微软雅黑" panose="020B0503020204020204" charset="-122"/>
              <a:cs typeface="微软雅黑" panose="020B0503020204020204" charset="-122"/>
            </a:endParaRPr>
          </a:p>
          <a:p>
            <a:pPr marL="285750" lvl="0" indent="-285750" algn="l">
              <a:lnSpc>
                <a:spcPct val="150000"/>
              </a:lnSpc>
              <a:spcBef>
                <a:spcPct val="0"/>
              </a:spcBef>
              <a:spcAft>
                <a:spcPct val="0"/>
              </a:spcAft>
              <a:buFont typeface="Wingdings" panose="05000000000000000000" charset="0"/>
              <a:buChar char="u"/>
            </a:pPr>
            <a:r>
              <a:rPr lang="zh-CN" altLang="en-US" sz="1400">
                <a:solidFill>
                  <a:sysClr val="window" lastClr="FFFFFF">
                    <a:lumMod val="85000"/>
                    <a:lumOff val="15000"/>
                  </a:sysClr>
                </a:solidFill>
                <a:latin typeface="微软雅黑" panose="020B0503020204020204" charset="-122"/>
                <a:cs typeface="微软雅黑" panose="020B0503020204020204" charset="-122"/>
              </a:rPr>
              <a:t>行业定制款：与残联、公益组织合作，定制化功能（如对接政务急救系统），采用政府采购模式。</a:t>
            </a:r>
            <a:endParaRPr lang="zh-CN" altLang="en-US" sz="600">
              <a:solidFill>
                <a:sysClr val="window" lastClr="FFFFFF">
                  <a:lumMod val="85000"/>
                  <a:lumOff val="15000"/>
                </a:sysClr>
              </a:solidFill>
              <a:latin typeface="微软雅黑" panose="020B0503020204020204" charset="-122"/>
              <a:cs typeface="微软雅黑" panose="020B0503020204020204" charset="-122"/>
            </a:endParaRPr>
          </a:p>
        </p:txBody>
      </p:sp>
      <p:sp>
        <p:nvSpPr>
          <p:cNvPr id="98" name="矩形 97"/>
          <p:cNvSpPr/>
          <p:nvPr>
            <p:custDataLst>
              <p:tags r:id="rId22"/>
            </p:custDataLst>
          </p:nvPr>
        </p:nvSpPr>
        <p:spPr>
          <a:xfrm>
            <a:off x="335614" y="1541722"/>
            <a:ext cx="2475230" cy="367402"/>
          </a:xfrm>
          <a:prstGeom prst="rect">
            <a:avLst/>
          </a:prstGeom>
          <a:noFill/>
        </p:spPr>
        <p:txBody>
          <a:bodyPr wrap="square" lIns="0" tIns="0" rIns="0" bIns="0" rtlCol="0" anchor="b">
            <a:noAutofit/>
          </a:bodyPr>
          <a:lstStyle/>
          <a:p>
            <a:pPr algn="r">
              <a:spcBef>
                <a:spcPct val="0"/>
              </a:spcBef>
              <a:spcAft>
                <a:spcPct val="0"/>
              </a:spcAft>
            </a:pPr>
            <a:r>
              <a:rPr lang="zh-CN" altLang="en-US" sz="28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rPr>
              <a:t>产品模式</a:t>
            </a:r>
            <a:endParaRPr lang="zh-CN" altLang="en-US" sz="28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endParaRPr>
          </a:p>
        </p:txBody>
      </p:sp>
      <p:sp>
        <p:nvSpPr>
          <p:cNvPr id="99" name="矩形 98"/>
          <p:cNvSpPr/>
          <p:nvPr>
            <p:custDataLst>
              <p:tags r:id="rId23"/>
            </p:custDataLst>
          </p:nvPr>
        </p:nvSpPr>
        <p:spPr>
          <a:xfrm>
            <a:off x="4491355" y="1492250"/>
            <a:ext cx="3943985" cy="670560"/>
          </a:xfrm>
          <a:prstGeom prst="rect">
            <a:avLst/>
          </a:prstGeom>
          <a:noFill/>
        </p:spPr>
        <p:txBody>
          <a:bodyPr wrap="square" lIns="0" tIns="0" rIns="0" bIns="0" rtlCol="0" anchor="t" anchorCtr="0">
            <a:noAutofit/>
          </a:bodyPr>
          <a:lstStyle/>
          <a:p>
            <a:pPr>
              <a:lnSpc>
                <a:spcPct val="150000"/>
              </a:lnSpc>
              <a:spcBef>
                <a:spcPct val="0"/>
              </a:spcBef>
              <a:spcAft>
                <a:spcPct val="0"/>
              </a:spcAft>
            </a:pPr>
            <a:r>
              <a:rPr lang="zh-CN" altLang="en-US" sz="1400">
                <a:solidFill>
                  <a:sysClr val="window" lastClr="FFFFFF">
                    <a:lumMod val="85000"/>
                    <a:lumOff val="15000"/>
                  </a:sysClr>
                </a:solidFill>
                <a:latin typeface="微软雅黑" panose="020B0503020204020204" charset="-122"/>
                <a:cs typeface="微软雅黑" panose="020B0503020204020204" charset="-122"/>
              </a:rPr>
              <a:t>云服务订阅：提供历史轨迹查询、健康数据存储（免费基础版，付费高级版</a:t>
            </a:r>
            <a:r>
              <a:rPr lang="en-US" altLang="zh-CN" sz="1400">
                <a:solidFill>
                  <a:sysClr val="window" lastClr="FFFFFF">
                    <a:lumMod val="85000"/>
                    <a:lumOff val="15000"/>
                  </a:sysClr>
                </a:solidFill>
                <a:latin typeface="微软雅黑" panose="020B0503020204020204" charset="-122"/>
                <a:cs typeface="微软雅黑" panose="020B0503020204020204" charset="-122"/>
              </a:rPr>
              <a:t>9.9</a:t>
            </a:r>
            <a:r>
              <a:rPr lang="zh-CN" altLang="en-US" sz="1400">
                <a:solidFill>
                  <a:sysClr val="window" lastClr="FFFFFF">
                    <a:lumMod val="85000"/>
                    <a:lumOff val="15000"/>
                  </a:sysClr>
                </a:solidFill>
                <a:latin typeface="微软雅黑" panose="020B0503020204020204" charset="-122"/>
                <a:cs typeface="微软雅黑" panose="020B0503020204020204" charset="-122"/>
              </a:rPr>
              <a:t>元</a:t>
            </a:r>
            <a:r>
              <a:rPr lang="en-US" altLang="zh-CN" sz="1400">
                <a:solidFill>
                  <a:sysClr val="window" lastClr="FFFFFF">
                    <a:lumMod val="85000"/>
                    <a:lumOff val="15000"/>
                  </a:sysClr>
                </a:solidFill>
                <a:latin typeface="微软雅黑" panose="020B0503020204020204" charset="-122"/>
                <a:cs typeface="微软雅黑" panose="020B0503020204020204" charset="-122"/>
              </a:rPr>
              <a:t>/</a:t>
            </a:r>
            <a:r>
              <a:rPr lang="zh-CN" altLang="en-US" sz="1400">
                <a:solidFill>
                  <a:sysClr val="window" lastClr="FFFFFF">
                    <a:lumMod val="85000"/>
                    <a:lumOff val="15000"/>
                  </a:sysClr>
                </a:solidFill>
                <a:latin typeface="微软雅黑" panose="020B0503020204020204" charset="-122"/>
                <a:cs typeface="微软雅黑" panose="020B0503020204020204" charset="-122"/>
              </a:rPr>
              <a:t>月）。</a:t>
            </a:r>
            <a:endParaRPr lang="zh-CN" altLang="en-US" sz="1400">
              <a:solidFill>
                <a:sysClr val="window" lastClr="FFFFFF">
                  <a:lumMod val="85000"/>
                  <a:lumOff val="15000"/>
                </a:sysClr>
              </a:solidFill>
              <a:latin typeface="微软雅黑" panose="020B0503020204020204" charset="-122"/>
              <a:cs typeface="微软雅黑" panose="020B0503020204020204" charset="-122"/>
            </a:endParaRPr>
          </a:p>
        </p:txBody>
      </p:sp>
      <p:sp>
        <p:nvSpPr>
          <p:cNvPr id="100" name="矩形 99"/>
          <p:cNvSpPr/>
          <p:nvPr>
            <p:custDataLst>
              <p:tags r:id="rId24"/>
            </p:custDataLst>
          </p:nvPr>
        </p:nvSpPr>
        <p:spPr>
          <a:xfrm>
            <a:off x="4960732" y="1037340"/>
            <a:ext cx="2475230" cy="367402"/>
          </a:xfrm>
          <a:prstGeom prst="rect">
            <a:avLst/>
          </a:prstGeom>
          <a:noFill/>
        </p:spPr>
        <p:txBody>
          <a:bodyPr wrap="square" lIns="0" tIns="0" rIns="0" bIns="0" rtlCol="0" anchor="b">
            <a:noAutofit/>
          </a:bodyPr>
          <a:lstStyle/>
          <a:p>
            <a:pPr>
              <a:spcBef>
                <a:spcPct val="0"/>
              </a:spcBef>
              <a:spcAft>
                <a:spcPct val="0"/>
              </a:spcAft>
            </a:pPr>
            <a:r>
              <a:rPr lang="zh-CN" altLang="en-US" sz="28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rPr>
              <a:t>服务模式</a:t>
            </a:r>
            <a:endParaRPr lang="zh-CN" altLang="en-US" sz="2800" b="1">
              <a:gradFill>
                <a:gsLst>
                  <a:gs pos="50000">
                    <a:schemeClr val="accent4"/>
                  </a:gs>
                  <a:gs pos="0">
                    <a:schemeClr val="accent4">
                      <a:lumMod val="25000"/>
                      <a:lumOff val="75000"/>
                    </a:schemeClr>
                  </a:gs>
                  <a:gs pos="100000">
                    <a:schemeClr val="accent4">
                      <a:lumMod val="85000"/>
                    </a:schemeClr>
                  </a:gs>
                </a:gsLst>
                <a:lin ang="5400000" scaled="1"/>
              </a:gradFill>
              <a:latin typeface="微软雅黑" panose="020B0503020204020204" charset="-122"/>
              <a:cs typeface="微软雅黑" panose="020B0503020204020204" charset="-122"/>
            </a:endParaRPr>
          </a:p>
        </p:txBody>
      </p:sp>
      <p:sp>
        <p:nvSpPr>
          <p:cNvPr id="101" name="椭圆 100"/>
          <p:cNvSpPr/>
          <p:nvPr>
            <p:custDataLst>
              <p:tags r:id="rId25"/>
            </p:custDataLst>
          </p:nvPr>
        </p:nvSpPr>
        <p:spPr bwMode="auto">
          <a:xfrm>
            <a:off x="5877715" y="2269007"/>
            <a:ext cx="436567" cy="436567"/>
          </a:xfrm>
          <a:prstGeom prst="ellipse">
            <a:avLst/>
          </a:prstGeom>
          <a:solidFill>
            <a:srgbClr val="05B4EB"/>
          </a:solidFill>
          <a:ln w="6350" cap="flat" cmpd="sng" algn="ctr">
            <a:noFill/>
            <a:prstDash val="solid"/>
            <a:miter lim="800000"/>
          </a:ln>
          <a:effectLst/>
        </p:spPr>
        <p:txBody>
          <a:bodyPr rtlCol="0" anchor="ctr">
            <a:normAutofit fontScale="77500"/>
          </a:bodyPr>
          <a:lstStyle/>
          <a:p>
            <a:pPr algn="ctr"/>
            <a:endParaRPr lang="zh-CN" altLang="en-US">
              <a:solidFill>
                <a:sysClr val="windowText" lastClr="000000"/>
              </a:solidFill>
              <a:latin typeface="Arial" panose="020B0604020202020204" pitchFamily="34" charset="0"/>
              <a:ea typeface="微软雅黑" panose="020B0503020204020204" charset="-122"/>
              <a:cs typeface="微软雅黑" panose="020B0503020204020204" charset="-122"/>
            </a:endParaRPr>
          </a:p>
        </p:txBody>
      </p:sp>
      <p:sp>
        <p:nvSpPr>
          <p:cNvPr id="102" name="Oval 47"/>
          <p:cNvSpPr/>
          <p:nvPr>
            <p:custDataLst>
              <p:tags r:id="rId26"/>
            </p:custDataLst>
          </p:nvPr>
        </p:nvSpPr>
        <p:spPr>
          <a:xfrm>
            <a:off x="6006223" y="2389641"/>
            <a:ext cx="179550" cy="195299"/>
          </a:xfrm>
          <a:custGeom>
            <a:avLst/>
            <a:gdLst>
              <a:gd name="T0" fmla="*/ 8640 w 10592"/>
              <a:gd name="T1" fmla="*/ 10880 h 11520"/>
              <a:gd name="T2" fmla="*/ 5600 w 10592"/>
              <a:gd name="T3" fmla="*/ 10880 h 11520"/>
              <a:gd name="T4" fmla="*/ 2560 w 10592"/>
              <a:gd name="T5" fmla="*/ 7840 h 11520"/>
              <a:gd name="T6" fmla="*/ 3520 w 10592"/>
              <a:gd name="T7" fmla="*/ 5632 h 11520"/>
              <a:gd name="T8" fmla="*/ 4000 w 10592"/>
              <a:gd name="T9" fmla="*/ 5760 h 11520"/>
              <a:gd name="T10" fmla="*/ 4384 w 10592"/>
              <a:gd name="T11" fmla="*/ 5696 h 11520"/>
              <a:gd name="T12" fmla="*/ 6176 w 10592"/>
              <a:gd name="T13" fmla="*/ 7488 h 11520"/>
              <a:gd name="T14" fmla="*/ 6624 w 10592"/>
              <a:gd name="T15" fmla="*/ 7680 h 11520"/>
              <a:gd name="T16" fmla="*/ 7072 w 10592"/>
              <a:gd name="T17" fmla="*/ 7488 h 11520"/>
              <a:gd name="T18" fmla="*/ 8768 w 10592"/>
              <a:gd name="T19" fmla="*/ 5792 h 11520"/>
              <a:gd name="T20" fmla="*/ 8960 w 10592"/>
              <a:gd name="T21" fmla="*/ 5344 h 11520"/>
              <a:gd name="T22" fmla="*/ 8768 w 10592"/>
              <a:gd name="T23" fmla="*/ 4896 h 11520"/>
              <a:gd name="T24" fmla="*/ 4384 w 10592"/>
              <a:gd name="T25" fmla="*/ 512 h 11520"/>
              <a:gd name="T26" fmla="*/ 3936 w 10592"/>
              <a:gd name="T27" fmla="*/ 320 h 11520"/>
              <a:gd name="T28" fmla="*/ 3488 w 10592"/>
              <a:gd name="T29" fmla="*/ 512 h 11520"/>
              <a:gd name="T30" fmla="*/ 1792 w 10592"/>
              <a:gd name="T31" fmla="*/ 2208 h 11520"/>
              <a:gd name="T32" fmla="*/ 1600 w 10592"/>
              <a:gd name="T33" fmla="*/ 2656 h 11520"/>
              <a:gd name="T34" fmla="*/ 1792 w 10592"/>
              <a:gd name="T35" fmla="*/ 3104 h 11520"/>
              <a:gd name="T36" fmla="*/ 2944 w 10592"/>
              <a:gd name="T37" fmla="*/ 4256 h 11520"/>
              <a:gd name="T38" fmla="*/ 2880 w 10592"/>
              <a:gd name="T39" fmla="*/ 4640 h 11520"/>
              <a:gd name="T40" fmla="*/ 3040 w 10592"/>
              <a:gd name="T41" fmla="*/ 5216 h 11520"/>
              <a:gd name="T42" fmla="*/ 1920 w 10592"/>
              <a:gd name="T43" fmla="*/ 7840 h 11520"/>
              <a:gd name="T44" fmla="*/ 3520 w 10592"/>
              <a:gd name="T45" fmla="*/ 10880 h 11520"/>
              <a:gd name="T46" fmla="*/ 320 w 10592"/>
              <a:gd name="T47" fmla="*/ 10880 h 11520"/>
              <a:gd name="T48" fmla="*/ 0 w 10592"/>
              <a:gd name="T49" fmla="*/ 11200 h 11520"/>
              <a:gd name="T50" fmla="*/ 320 w 10592"/>
              <a:gd name="T51" fmla="*/ 11520 h 11520"/>
              <a:gd name="T52" fmla="*/ 8640 w 10592"/>
              <a:gd name="T53" fmla="*/ 11520 h 11520"/>
              <a:gd name="T54" fmla="*/ 8960 w 10592"/>
              <a:gd name="T55" fmla="*/ 11200 h 11520"/>
              <a:gd name="T56" fmla="*/ 8640 w 10592"/>
              <a:gd name="T57" fmla="*/ 10880 h 11520"/>
              <a:gd name="T58" fmla="*/ 3520 w 10592"/>
              <a:gd name="T59" fmla="*/ 4640 h 11520"/>
              <a:gd name="T60" fmla="*/ 4000 w 10592"/>
              <a:gd name="T61" fmla="*/ 4160 h 11520"/>
              <a:gd name="T62" fmla="*/ 4480 w 10592"/>
              <a:gd name="T63" fmla="*/ 4640 h 11520"/>
              <a:gd name="T64" fmla="*/ 4000 w 10592"/>
              <a:gd name="T65" fmla="*/ 5120 h 11520"/>
              <a:gd name="T66" fmla="*/ 3520 w 10592"/>
              <a:gd name="T67" fmla="*/ 4640 h 11520"/>
              <a:gd name="T68" fmla="*/ 3936 w 10592"/>
              <a:gd name="T69" fmla="*/ 960 h 11520"/>
              <a:gd name="T70" fmla="*/ 8320 w 10592"/>
              <a:gd name="T71" fmla="*/ 5344 h 11520"/>
              <a:gd name="T72" fmla="*/ 6624 w 10592"/>
              <a:gd name="T73" fmla="*/ 7040 h 11520"/>
              <a:gd name="T74" fmla="*/ 4896 w 10592"/>
              <a:gd name="T75" fmla="*/ 5312 h 11520"/>
              <a:gd name="T76" fmla="*/ 5120 w 10592"/>
              <a:gd name="T77" fmla="*/ 4640 h 11520"/>
              <a:gd name="T78" fmla="*/ 4000 w 10592"/>
              <a:gd name="T79" fmla="*/ 3520 h 11520"/>
              <a:gd name="T80" fmla="*/ 3328 w 10592"/>
              <a:gd name="T81" fmla="*/ 3744 h 11520"/>
              <a:gd name="T82" fmla="*/ 2240 w 10592"/>
              <a:gd name="T83" fmla="*/ 2656 h 11520"/>
              <a:gd name="T84" fmla="*/ 3936 w 10592"/>
              <a:gd name="T85" fmla="*/ 960 h 11520"/>
              <a:gd name="T86" fmla="*/ 10464 w 10592"/>
              <a:gd name="T87" fmla="*/ 5216 h 11520"/>
              <a:gd name="T88" fmla="*/ 10240 w 10592"/>
              <a:gd name="T89" fmla="*/ 5120 h 11520"/>
              <a:gd name="T90" fmla="*/ 10016 w 10592"/>
              <a:gd name="T91" fmla="*/ 5216 h 11520"/>
              <a:gd name="T92" fmla="*/ 6496 w 10592"/>
              <a:gd name="T93" fmla="*/ 8736 h 11520"/>
              <a:gd name="T94" fmla="*/ 6496 w 10592"/>
              <a:gd name="T95" fmla="*/ 9184 h 11520"/>
              <a:gd name="T96" fmla="*/ 6720 w 10592"/>
              <a:gd name="T97" fmla="*/ 9280 h 11520"/>
              <a:gd name="T98" fmla="*/ 6944 w 10592"/>
              <a:gd name="T99" fmla="*/ 9184 h 11520"/>
              <a:gd name="T100" fmla="*/ 10464 w 10592"/>
              <a:gd name="T101" fmla="*/ 5664 h 11520"/>
              <a:gd name="T102" fmla="*/ 10464 w 10592"/>
              <a:gd name="T103" fmla="*/ 5216 h 11520"/>
              <a:gd name="T104" fmla="*/ 1600 w 10592"/>
              <a:gd name="T105" fmla="*/ 1600 h 11520"/>
              <a:gd name="T106" fmla="*/ 1824 w 10592"/>
              <a:gd name="T107" fmla="*/ 1504 h 11520"/>
              <a:gd name="T108" fmla="*/ 2784 w 10592"/>
              <a:gd name="T109" fmla="*/ 544 h 11520"/>
              <a:gd name="T110" fmla="*/ 2784 w 10592"/>
              <a:gd name="T111" fmla="*/ 96 h 11520"/>
              <a:gd name="T112" fmla="*/ 2560 w 10592"/>
              <a:gd name="T113" fmla="*/ 0 h 11520"/>
              <a:gd name="T114" fmla="*/ 2336 w 10592"/>
              <a:gd name="T115" fmla="*/ 96 h 11520"/>
              <a:gd name="T116" fmla="*/ 1376 w 10592"/>
              <a:gd name="T117" fmla="*/ 1056 h 11520"/>
              <a:gd name="T118" fmla="*/ 1376 w 10592"/>
              <a:gd name="T119" fmla="*/ 1504 h 11520"/>
              <a:gd name="T120" fmla="*/ 1600 w 10592"/>
              <a:gd name="T121" fmla="*/ 1600 h 11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0592" h="11520">
                <a:moveTo>
                  <a:pt x="8640" y="10880"/>
                </a:moveTo>
                <a:lnTo>
                  <a:pt x="5600" y="10880"/>
                </a:lnTo>
                <a:cubicBezTo>
                  <a:pt x="3936" y="10880"/>
                  <a:pt x="2560" y="9504"/>
                  <a:pt x="2560" y="7840"/>
                </a:cubicBezTo>
                <a:cubicBezTo>
                  <a:pt x="2560" y="7008"/>
                  <a:pt x="2912" y="6208"/>
                  <a:pt x="3520" y="5632"/>
                </a:cubicBezTo>
                <a:cubicBezTo>
                  <a:pt x="3680" y="5696"/>
                  <a:pt x="3840" y="5760"/>
                  <a:pt x="4000" y="5760"/>
                </a:cubicBezTo>
                <a:cubicBezTo>
                  <a:pt x="4128" y="5760"/>
                  <a:pt x="4256" y="5728"/>
                  <a:pt x="4384" y="5696"/>
                </a:cubicBezTo>
                <a:lnTo>
                  <a:pt x="6176" y="7488"/>
                </a:lnTo>
                <a:cubicBezTo>
                  <a:pt x="6304" y="7616"/>
                  <a:pt x="6464" y="7680"/>
                  <a:pt x="6624" y="7680"/>
                </a:cubicBezTo>
                <a:cubicBezTo>
                  <a:pt x="6784" y="7680"/>
                  <a:pt x="6944" y="7616"/>
                  <a:pt x="7072" y="7488"/>
                </a:cubicBezTo>
                <a:lnTo>
                  <a:pt x="8768" y="5792"/>
                </a:lnTo>
                <a:cubicBezTo>
                  <a:pt x="8896" y="5664"/>
                  <a:pt x="8960" y="5504"/>
                  <a:pt x="8960" y="5344"/>
                </a:cubicBezTo>
                <a:cubicBezTo>
                  <a:pt x="8960" y="5184"/>
                  <a:pt x="8896" y="5024"/>
                  <a:pt x="8768" y="4896"/>
                </a:cubicBezTo>
                <a:lnTo>
                  <a:pt x="4384" y="512"/>
                </a:lnTo>
                <a:cubicBezTo>
                  <a:pt x="4256" y="384"/>
                  <a:pt x="4096" y="320"/>
                  <a:pt x="3936" y="320"/>
                </a:cubicBezTo>
                <a:cubicBezTo>
                  <a:pt x="3776" y="320"/>
                  <a:pt x="3616" y="384"/>
                  <a:pt x="3488" y="512"/>
                </a:cubicBezTo>
                <a:lnTo>
                  <a:pt x="1792" y="2208"/>
                </a:lnTo>
                <a:cubicBezTo>
                  <a:pt x="1664" y="2336"/>
                  <a:pt x="1600" y="2496"/>
                  <a:pt x="1600" y="2656"/>
                </a:cubicBezTo>
                <a:cubicBezTo>
                  <a:pt x="1600" y="2816"/>
                  <a:pt x="1664" y="2976"/>
                  <a:pt x="1792" y="3104"/>
                </a:cubicBezTo>
                <a:lnTo>
                  <a:pt x="2944" y="4256"/>
                </a:lnTo>
                <a:cubicBezTo>
                  <a:pt x="2912" y="4384"/>
                  <a:pt x="2880" y="4512"/>
                  <a:pt x="2880" y="4640"/>
                </a:cubicBezTo>
                <a:cubicBezTo>
                  <a:pt x="2880" y="4832"/>
                  <a:pt x="2944" y="5024"/>
                  <a:pt x="3040" y="5216"/>
                </a:cubicBezTo>
                <a:cubicBezTo>
                  <a:pt x="2336" y="5920"/>
                  <a:pt x="1920" y="6848"/>
                  <a:pt x="1920" y="7840"/>
                </a:cubicBezTo>
                <a:cubicBezTo>
                  <a:pt x="1920" y="9088"/>
                  <a:pt x="2560" y="10208"/>
                  <a:pt x="3520" y="10880"/>
                </a:cubicBezTo>
                <a:lnTo>
                  <a:pt x="320" y="10880"/>
                </a:lnTo>
                <a:cubicBezTo>
                  <a:pt x="160" y="10880"/>
                  <a:pt x="0" y="11040"/>
                  <a:pt x="0" y="11200"/>
                </a:cubicBezTo>
                <a:cubicBezTo>
                  <a:pt x="0" y="11360"/>
                  <a:pt x="160" y="11520"/>
                  <a:pt x="320" y="11520"/>
                </a:cubicBezTo>
                <a:lnTo>
                  <a:pt x="8640" y="11520"/>
                </a:lnTo>
                <a:cubicBezTo>
                  <a:pt x="8800" y="11520"/>
                  <a:pt x="8960" y="11360"/>
                  <a:pt x="8960" y="11200"/>
                </a:cubicBezTo>
                <a:cubicBezTo>
                  <a:pt x="8960" y="11040"/>
                  <a:pt x="8800" y="10880"/>
                  <a:pt x="8640" y="10880"/>
                </a:cubicBezTo>
                <a:close/>
                <a:moveTo>
                  <a:pt x="3520" y="4640"/>
                </a:moveTo>
                <a:cubicBezTo>
                  <a:pt x="3520" y="4384"/>
                  <a:pt x="3744" y="4160"/>
                  <a:pt x="4000" y="4160"/>
                </a:cubicBezTo>
                <a:cubicBezTo>
                  <a:pt x="4256" y="4160"/>
                  <a:pt x="4480" y="4384"/>
                  <a:pt x="4480" y="4640"/>
                </a:cubicBezTo>
                <a:cubicBezTo>
                  <a:pt x="4480" y="4896"/>
                  <a:pt x="4256" y="5120"/>
                  <a:pt x="4000" y="5120"/>
                </a:cubicBezTo>
                <a:cubicBezTo>
                  <a:pt x="3744" y="5120"/>
                  <a:pt x="3520" y="4896"/>
                  <a:pt x="3520" y="4640"/>
                </a:cubicBezTo>
                <a:close/>
                <a:moveTo>
                  <a:pt x="3936" y="960"/>
                </a:moveTo>
                <a:lnTo>
                  <a:pt x="8320" y="5344"/>
                </a:lnTo>
                <a:lnTo>
                  <a:pt x="6624" y="7040"/>
                </a:lnTo>
                <a:lnTo>
                  <a:pt x="4896" y="5312"/>
                </a:lnTo>
                <a:cubicBezTo>
                  <a:pt x="5024" y="5120"/>
                  <a:pt x="5120" y="4896"/>
                  <a:pt x="5120" y="4640"/>
                </a:cubicBezTo>
                <a:cubicBezTo>
                  <a:pt x="5120" y="4032"/>
                  <a:pt x="4608" y="3520"/>
                  <a:pt x="4000" y="3520"/>
                </a:cubicBezTo>
                <a:cubicBezTo>
                  <a:pt x="3744" y="3520"/>
                  <a:pt x="3520" y="3616"/>
                  <a:pt x="3328" y="3744"/>
                </a:cubicBezTo>
                <a:lnTo>
                  <a:pt x="2240" y="2656"/>
                </a:lnTo>
                <a:lnTo>
                  <a:pt x="3936" y="960"/>
                </a:lnTo>
                <a:close/>
                <a:moveTo>
                  <a:pt x="10464" y="5216"/>
                </a:moveTo>
                <a:cubicBezTo>
                  <a:pt x="10400" y="5152"/>
                  <a:pt x="10304" y="5120"/>
                  <a:pt x="10240" y="5120"/>
                </a:cubicBezTo>
                <a:cubicBezTo>
                  <a:pt x="10176" y="5120"/>
                  <a:pt x="10080" y="5152"/>
                  <a:pt x="10016" y="5216"/>
                </a:cubicBezTo>
                <a:lnTo>
                  <a:pt x="6496" y="8736"/>
                </a:lnTo>
                <a:cubicBezTo>
                  <a:pt x="6368" y="8864"/>
                  <a:pt x="6368" y="9056"/>
                  <a:pt x="6496" y="9184"/>
                </a:cubicBezTo>
                <a:cubicBezTo>
                  <a:pt x="6560" y="9248"/>
                  <a:pt x="6656" y="9280"/>
                  <a:pt x="6720" y="9280"/>
                </a:cubicBezTo>
                <a:cubicBezTo>
                  <a:pt x="6816" y="9280"/>
                  <a:pt x="6880" y="9248"/>
                  <a:pt x="6944" y="9184"/>
                </a:cubicBezTo>
                <a:lnTo>
                  <a:pt x="10464" y="5664"/>
                </a:lnTo>
                <a:cubicBezTo>
                  <a:pt x="10592" y="5536"/>
                  <a:pt x="10592" y="5344"/>
                  <a:pt x="10464" y="5216"/>
                </a:cubicBezTo>
                <a:close/>
                <a:moveTo>
                  <a:pt x="1600" y="1600"/>
                </a:moveTo>
                <a:cubicBezTo>
                  <a:pt x="1696" y="1600"/>
                  <a:pt x="1760" y="1568"/>
                  <a:pt x="1824" y="1504"/>
                </a:cubicBezTo>
                <a:lnTo>
                  <a:pt x="2784" y="544"/>
                </a:lnTo>
                <a:cubicBezTo>
                  <a:pt x="2912" y="416"/>
                  <a:pt x="2912" y="224"/>
                  <a:pt x="2784" y="96"/>
                </a:cubicBezTo>
                <a:cubicBezTo>
                  <a:pt x="2720" y="32"/>
                  <a:pt x="2624" y="0"/>
                  <a:pt x="2560" y="0"/>
                </a:cubicBezTo>
                <a:cubicBezTo>
                  <a:pt x="2496" y="0"/>
                  <a:pt x="2400" y="32"/>
                  <a:pt x="2336" y="96"/>
                </a:cubicBezTo>
                <a:lnTo>
                  <a:pt x="1376" y="1056"/>
                </a:lnTo>
                <a:cubicBezTo>
                  <a:pt x="1248" y="1184"/>
                  <a:pt x="1248" y="1376"/>
                  <a:pt x="1376" y="1504"/>
                </a:cubicBezTo>
                <a:cubicBezTo>
                  <a:pt x="1440" y="1568"/>
                  <a:pt x="1504" y="1600"/>
                  <a:pt x="1600" y="1600"/>
                </a:cubicBezTo>
                <a:close/>
              </a:path>
            </a:pathLst>
          </a:custGeom>
          <a:solidFill>
            <a:sysClr val="window" lastClr="FFFFFF">
              <a:lumMod val="100000"/>
            </a:sysClr>
          </a:solidFill>
          <a:ln w="12700" cap="flat" cmpd="sng" algn="ctr">
            <a:noFill/>
            <a:prstDash val="solid"/>
            <a:miter lim="800000"/>
          </a:ln>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ysClr val="window" lastClr="FFFFFF"/>
                </a:solidFill>
                <a:latin typeface="Arial" panose="020B0604020202020204" pitchFamily="34" charset="0"/>
                <a:ea typeface="微软雅黑" panose="020B0503020204020204" charset="-122"/>
                <a:cs typeface="+mn-ea"/>
              </a:defRPr>
            </a:lvl9pPr>
          </a:lstStyle>
          <a:p>
            <a:pPr algn="ctr"/>
            <a:endParaRPr lang="zh-CN" altLang="en-US">
              <a:solidFill>
                <a:sysClr val="window" lastClr="FFFFFF"/>
              </a:solidFill>
              <a:latin typeface="Arial" panose="020B0604020202020204" pitchFamily="34" charset="0"/>
              <a:ea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52"/>
          <p:cNvPicPr>
            <a:picLocks noChangeAspect="1"/>
          </p:cNvPicPr>
          <p:nvPr/>
        </p:nvPicPr>
        <p:blipFill>
          <a:blip r:embed="rId1"/>
          <a:stretch>
            <a:fillRect/>
          </a:stretch>
        </p:blipFill>
        <p:spPr>
          <a:xfrm rot="21600000">
            <a:off x="152" y="0"/>
            <a:ext cx="12191695" cy="6858000"/>
          </a:xfrm>
          <a:prstGeom prst="rect">
            <a:avLst/>
          </a:prstGeom>
        </p:spPr>
      </p:pic>
      <p:pic>
        <p:nvPicPr>
          <p:cNvPr id="56" name="picture 56"/>
          <p:cNvPicPr>
            <a:picLocks noChangeAspect="1"/>
          </p:cNvPicPr>
          <p:nvPr/>
        </p:nvPicPr>
        <p:blipFill>
          <a:blip r:embed="rId2"/>
          <a:stretch>
            <a:fillRect/>
          </a:stretch>
        </p:blipFill>
        <p:spPr>
          <a:xfrm rot="21600000">
            <a:off x="98817" y="271567"/>
            <a:ext cx="3297196" cy="482639"/>
          </a:xfrm>
          <a:prstGeom prst="rect">
            <a:avLst/>
          </a:prstGeom>
        </p:spPr>
      </p:pic>
      <p:sp>
        <p:nvSpPr>
          <p:cNvPr id="3" name="文本框 2"/>
          <p:cNvSpPr txBox="1"/>
          <p:nvPr/>
        </p:nvSpPr>
        <p:spPr>
          <a:xfrm>
            <a:off x="805180" y="1386205"/>
            <a:ext cx="11131550" cy="1648460"/>
          </a:xfrm>
          <a:prstGeom prst="rect">
            <a:avLst/>
          </a:prstGeom>
        </p:spPr>
        <p:txBody>
          <a:bodyPr wrap="square">
            <a:noAutofit/>
          </a:bodyPr>
          <a:p>
            <a:pPr marL="0" indent="0">
              <a:lnSpc>
                <a:spcPts val="900"/>
              </a:lnSpc>
              <a:spcBef>
                <a:spcPct val="0"/>
              </a:spcBef>
              <a:spcAft>
                <a:spcPct val="0"/>
              </a:spcAft>
            </a:pPr>
            <a:endParaRPr lang="zh-CN" altLang="en-US" sz="2000" b="1">
              <a:solidFill>
                <a:schemeClr val="bg1"/>
              </a:solidFill>
            </a:endParaRPr>
          </a:p>
          <a:p>
            <a:pPr marL="0" indent="0">
              <a:lnSpc>
                <a:spcPts val="900"/>
              </a:lnSpc>
              <a:spcBef>
                <a:spcPct val="0"/>
              </a:spcBef>
              <a:spcAft>
                <a:spcPct val="0"/>
              </a:spcAft>
            </a:pPr>
            <a:endParaRPr lang="zh-CN" altLang="en-US" sz="2000" b="1">
              <a:gradFill>
                <a:gsLst>
                  <a:gs pos="50000">
                    <a:schemeClr val="accent4"/>
                  </a:gs>
                  <a:gs pos="0">
                    <a:schemeClr val="accent4">
                      <a:lumMod val="25000"/>
                      <a:lumOff val="75000"/>
                    </a:schemeClr>
                  </a:gs>
                  <a:gs pos="100000">
                    <a:schemeClr val="accent4">
                      <a:lumMod val="85000"/>
                    </a:schemeClr>
                  </a:gs>
                </a:gsLst>
                <a:lin ang="5400000" scaled="1"/>
              </a:gradFill>
            </a:endParaRPr>
          </a:p>
          <a:p>
            <a:pPr marL="0" indent="0">
              <a:lnSpc>
                <a:spcPts val="900"/>
              </a:lnSpc>
              <a:spcBef>
                <a:spcPct val="0"/>
              </a:spcBef>
              <a:spcAft>
                <a:spcPct val="0"/>
              </a:spcAft>
            </a:pPr>
            <a:r>
              <a:rPr lang="zh-CN" altLang="en-US" sz="2000" b="1">
                <a:gradFill>
                  <a:gsLst>
                    <a:gs pos="50000">
                      <a:schemeClr val="accent4"/>
                    </a:gs>
                    <a:gs pos="0">
                      <a:schemeClr val="accent4">
                        <a:lumMod val="25000"/>
                        <a:lumOff val="75000"/>
                      </a:schemeClr>
                    </a:gs>
                    <a:gs pos="100000">
                      <a:schemeClr val="accent4">
                        <a:lumMod val="85000"/>
                      </a:schemeClr>
                    </a:gs>
                  </a:gsLst>
                  <a:lin ang="5400000" scaled="1"/>
                </a:gradFill>
              </a:rPr>
              <a:t>扁平化协作</a:t>
            </a:r>
            <a:r>
              <a:rPr lang="zh-CN" altLang="en-US" sz="2000" b="0">
                <a:solidFill>
                  <a:schemeClr val="bg1"/>
                </a:solidFill>
              </a:rPr>
              <a:t>：以项目负责人为核心，各模块专人负责、定期同步，研发与测试并行推进，快速响应</a:t>
            </a: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pPr>
            <a:r>
              <a:rPr lang="zh-CN" altLang="en-US" sz="2000" b="0">
                <a:solidFill>
                  <a:schemeClr val="bg1"/>
                </a:solidFill>
              </a:rPr>
              <a:t>问题。</a:t>
            </a: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pPr>
            <a:endParaRPr lang="zh-CN" altLang="en-US" sz="2000" b="0">
              <a:gradFill>
                <a:gsLst>
                  <a:gs pos="50000">
                    <a:schemeClr val="accent2"/>
                  </a:gs>
                  <a:gs pos="0">
                    <a:schemeClr val="accent2">
                      <a:lumMod val="25000"/>
                      <a:lumOff val="75000"/>
                    </a:schemeClr>
                  </a:gs>
                  <a:gs pos="100000">
                    <a:schemeClr val="accent2">
                      <a:lumMod val="85000"/>
                    </a:schemeClr>
                  </a:gs>
                </a:gsLst>
                <a:lin ang="5400000" scaled="1"/>
              </a:gradFill>
            </a:endParaRPr>
          </a:p>
          <a:p>
            <a:pPr marL="0" indent="0">
              <a:lnSpc>
                <a:spcPts val="900"/>
              </a:lnSpc>
              <a:spcBef>
                <a:spcPct val="0"/>
              </a:spcBef>
              <a:spcAft>
                <a:spcPct val="0"/>
              </a:spcAft>
            </a:pPr>
            <a:r>
              <a:rPr lang="zh-CN" altLang="en-US" sz="2000" b="1">
                <a:gradFill>
                  <a:gsLst>
                    <a:gs pos="50000">
                      <a:schemeClr val="accent4"/>
                    </a:gs>
                    <a:gs pos="0">
                      <a:schemeClr val="accent4">
                        <a:lumMod val="25000"/>
                        <a:lumOff val="75000"/>
                      </a:schemeClr>
                    </a:gs>
                    <a:gs pos="100000">
                      <a:schemeClr val="accent4">
                        <a:lumMod val="85000"/>
                      </a:schemeClr>
                    </a:gs>
                  </a:gsLst>
                  <a:lin ang="5400000" scaled="1"/>
                </a:gradFill>
              </a:rPr>
              <a:t>模块化开发</a:t>
            </a:r>
            <a:r>
              <a:rPr lang="zh-CN" altLang="en-US" sz="2000" b="0">
                <a:solidFill>
                  <a:schemeClr val="bg1"/>
                </a:solidFill>
              </a:rPr>
              <a:t>：硬件、算法、软件、运营独立推进又深度联动，确保功能集成顺畅、系统稳定。</a:t>
            </a: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pPr>
            <a:endParaRPr lang="zh-CN" altLang="en-US" sz="2000" b="0">
              <a:gradFill>
                <a:gsLst>
                  <a:gs pos="50000">
                    <a:schemeClr val="accent4"/>
                  </a:gs>
                  <a:gs pos="0">
                    <a:schemeClr val="accent4">
                      <a:lumMod val="25000"/>
                      <a:lumOff val="75000"/>
                    </a:schemeClr>
                  </a:gs>
                  <a:gs pos="100000">
                    <a:schemeClr val="accent4">
                      <a:lumMod val="85000"/>
                    </a:schemeClr>
                  </a:gs>
                </a:gsLst>
                <a:lin ang="5400000" scaled="1"/>
              </a:gradFill>
            </a:endParaRPr>
          </a:p>
          <a:p>
            <a:pPr marL="0" indent="0">
              <a:lnSpc>
                <a:spcPts val="900"/>
              </a:lnSpc>
              <a:spcBef>
                <a:spcPct val="0"/>
              </a:spcBef>
              <a:spcAft>
                <a:spcPct val="0"/>
              </a:spcAft>
            </a:pPr>
            <a:r>
              <a:rPr lang="zh-CN" altLang="en-US" sz="2000" b="1">
                <a:gradFill>
                  <a:gsLst>
                    <a:gs pos="50000">
                      <a:schemeClr val="accent4"/>
                    </a:gs>
                    <a:gs pos="0">
                      <a:schemeClr val="accent4">
                        <a:lumMod val="25000"/>
                        <a:lumOff val="75000"/>
                      </a:schemeClr>
                    </a:gs>
                    <a:gs pos="100000">
                      <a:schemeClr val="accent4">
                        <a:lumMod val="85000"/>
                      </a:schemeClr>
                    </a:gs>
                  </a:gsLst>
                  <a:lin ang="5400000" scaled="1"/>
                </a:gradFill>
              </a:rPr>
              <a:t>用户导向迭代</a:t>
            </a:r>
            <a:r>
              <a:rPr lang="zh-CN" altLang="en-US" sz="2000" b="0">
                <a:solidFill>
                  <a:schemeClr val="bg1"/>
                </a:solidFill>
              </a:rPr>
              <a:t>：无障碍运营专员实时反馈视障用户体验，驱动技术团队快速优化，实现 “需求 </a:t>
            </a:r>
            <a:r>
              <a:rPr lang="en-US" altLang="zh-CN" sz="2000" b="0">
                <a:solidFill>
                  <a:schemeClr val="bg1"/>
                </a:solidFill>
              </a:rPr>
              <a:t>—</a:t>
            </a:r>
            <a:endParaRPr lang="en-US" altLang="zh-CN" sz="2000" b="0">
              <a:solidFill>
                <a:schemeClr val="bg1"/>
              </a:solidFill>
            </a:endParaRPr>
          </a:p>
          <a:p>
            <a:pPr marL="0" indent="0">
              <a:lnSpc>
                <a:spcPts val="900"/>
              </a:lnSpc>
              <a:spcBef>
                <a:spcPct val="0"/>
              </a:spcBef>
              <a:spcAft>
                <a:spcPct val="0"/>
              </a:spcAft>
            </a:pPr>
            <a:endParaRPr lang="en-US" altLang="zh-CN" sz="2000" b="0">
              <a:solidFill>
                <a:schemeClr val="bg1"/>
              </a:solidFill>
            </a:endParaRPr>
          </a:p>
          <a:p>
            <a:pPr marL="0" indent="0">
              <a:lnSpc>
                <a:spcPts val="900"/>
              </a:lnSpc>
              <a:spcBef>
                <a:spcPct val="0"/>
              </a:spcBef>
              <a:spcAft>
                <a:spcPct val="0"/>
              </a:spcAft>
            </a:pPr>
            <a:endParaRPr lang="en-US" altLang="zh-CN" sz="2000" b="0">
              <a:solidFill>
                <a:schemeClr val="bg1"/>
              </a:solidFill>
            </a:endParaRPr>
          </a:p>
          <a:p>
            <a:pPr marL="0" indent="0">
              <a:lnSpc>
                <a:spcPts val="900"/>
              </a:lnSpc>
              <a:spcBef>
                <a:spcPct val="0"/>
              </a:spcBef>
              <a:spcAft>
                <a:spcPct val="0"/>
              </a:spcAft>
            </a:pPr>
            <a:r>
              <a:rPr lang="en-US" altLang="zh-CN" sz="2000" b="0">
                <a:solidFill>
                  <a:schemeClr val="bg1"/>
                </a:solidFill>
              </a:rPr>
              <a:t> </a:t>
            </a:r>
            <a:r>
              <a:rPr lang="zh-CN" altLang="en-US" sz="2000" b="0">
                <a:solidFill>
                  <a:schemeClr val="bg1"/>
                </a:solidFill>
              </a:rPr>
              <a:t>研发 </a:t>
            </a:r>
            <a:r>
              <a:rPr lang="en-US" altLang="zh-CN" sz="2000" b="0">
                <a:solidFill>
                  <a:schemeClr val="bg1"/>
                </a:solidFill>
              </a:rPr>
              <a:t>— </a:t>
            </a:r>
            <a:r>
              <a:rPr lang="zh-CN" altLang="en-US" sz="2000" b="0">
                <a:solidFill>
                  <a:schemeClr val="bg1"/>
                </a:solidFill>
              </a:rPr>
              <a:t>测试 </a:t>
            </a:r>
            <a:r>
              <a:rPr lang="en-US" altLang="zh-CN" sz="2000" b="0">
                <a:solidFill>
                  <a:schemeClr val="bg1"/>
                </a:solidFill>
              </a:rPr>
              <a:t>— </a:t>
            </a:r>
            <a:r>
              <a:rPr lang="zh-CN" altLang="en-US" sz="2000" b="0">
                <a:solidFill>
                  <a:schemeClr val="bg1"/>
                </a:solidFill>
              </a:rPr>
              <a:t>改进” 闭环。</a:t>
            </a:r>
            <a:endParaRPr lang="zh-CN" altLang="en-US" sz="2000" b="0">
              <a:solidFill>
                <a:schemeClr val="bg1"/>
              </a:solidFill>
            </a:endParaRPr>
          </a:p>
        </p:txBody>
      </p:sp>
      <p:sp>
        <p:nvSpPr>
          <p:cNvPr id="4" name="文本框 3"/>
          <p:cNvSpPr txBox="1"/>
          <p:nvPr/>
        </p:nvSpPr>
        <p:spPr>
          <a:xfrm>
            <a:off x="805180" y="4074160"/>
            <a:ext cx="11130915" cy="1903730"/>
          </a:xfrm>
          <a:prstGeom prst="rect">
            <a:avLst/>
          </a:prstGeom>
        </p:spPr>
        <p:txBody>
          <a:bodyPr wrap="square">
            <a:noAutofit/>
          </a:bodyPr>
          <a:p>
            <a:pPr marL="0" indent="0">
              <a:lnSpc>
                <a:spcPts val="900"/>
              </a:lnSpc>
              <a:spcBef>
                <a:spcPct val="0"/>
              </a:spcBef>
              <a:spcAft>
                <a:spcPct val="0"/>
              </a:spcAft>
            </a:pPr>
            <a:r>
              <a:rPr lang="zh-CN" altLang="en-US" sz="2000" b="1">
                <a:gradFill>
                  <a:gsLst>
                    <a:gs pos="50000">
                      <a:schemeClr val="accent4"/>
                    </a:gs>
                    <a:gs pos="0">
                      <a:schemeClr val="accent4">
                        <a:lumMod val="25000"/>
                        <a:lumOff val="75000"/>
                      </a:schemeClr>
                    </a:gs>
                    <a:gs pos="100000">
                      <a:schemeClr val="accent4">
                        <a:lumMod val="85000"/>
                      </a:schemeClr>
                    </a:gs>
                  </a:gsLst>
                  <a:lin ang="5400000" scaled="1"/>
                </a:gradFill>
              </a:rPr>
              <a:t>技术顾问</a:t>
            </a:r>
            <a:r>
              <a:rPr lang="zh-CN" altLang="en-US" sz="2000" b="0">
                <a:solidFill>
                  <a:schemeClr val="bg1"/>
                </a:solidFill>
              </a:rPr>
              <a:t>：高校电子信息 </a:t>
            </a:r>
            <a:r>
              <a:rPr lang="en-US" altLang="zh-CN" sz="2000" b="0">
                <a:solidFill>
                  <a:schemeClr val="bg1"/>
                </a:solidFill>
              </a:rPr>
              <a:t>/ </a:t>
            </a:r>
            <a:r>
              <a:rPr lang="zh-CN" altLang="en-US" sz="2000" b="0">
                <a:solidFill>
                  <a:schemeClr val="bg1"/>
                </a:solidFill>
              </a:rPr>
              <a:t>人工智能专业教授</a:t>
            </a: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buFont typeface="Arial" panose="020B0604020202020204"/>
              <a:buChar char="•"/>
            </a:pPr>
            <a:r>
              <a:rPr lang="zh-CN" altLang="en-US" sz="2000" b="0">
                <a:solidFill>
                  <a:schemeClr val="bg1"/>
                </a:solidFill>
              </a:rPr>
              <a:t>指导方向：</a:t>
            </a:r>
            <a:r>
              <a:rPr lang="zh-CN" altLang="en-US" sz="2000" b="1">
                <a:solidFill>
                  <a:schemeClr val="bg1"/>
                </a:solidFill>
              </a:rPr>
              <a:t>边缘 </a:t>
            </a:r>
            <a:r>
              <a:rPr lang="en-US" altLang="zh-CN" sz="2000" b="1">
                <a:solidFill>
                  <a:schemeClr val="bg1"/>
                </a:solidFill>
              </a:rPr>
              <a:t>AI </a:t>
            </a:r>
            <a:r>
              <a:rPr lang="zh-CN" altLang="en-US" sz="2000" b="1">
                <a:solidFill>
                  <a:schemeClr val="bg1"/>
                </a:solidFill>
              </a:rPr>
              <a:t>算法优化、低功耗系统设计、传感器数据融合</a:t>
            </a:r>
            <a:r>
              <a:rPr lang="zh-CN" altLang="en-US" sz="2000" b="0">
                <a:solidFill>
                  <a:schemeClr val="bg1"/>
                </a:solidFill>
              </a:rPr>
              <a:t>，提升项目技术先进性与可靠性。</a:t>
            </a: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pPr>
            <a:endParaRPr lang="zh-CN" altLang="en-US" sz="2000" b="1">
              <a:gradFill>
                <a:gsLst>
                  <a:gs pos="50000">
                    <a:schemeClr val="accent4"/>
                  </a:gs>
                  <a:gs pos="0">
                    <a:schemeClr val="accent4">
                      <a:lumMod val="25000"/>
                      <a:lumOff val="75000"/>
                    </a:schemeClr>
                  </a:gs>
                  <a:gs pos="100000">
                    <a:schemeClr val="accent4">
                      <a:lumMod val="85000"/>
                    </a:schemeClr>
                  </a:gs>
                </a:gsLst>
                <a:lin ang="5400000" scaled="1"/>
              </a:gradFill>
            </a:endParaRPr>
          </a:p>
          <a:p>
            <a:pPr marL="0" indent="0">
              <a:lnSpc>
                <a:spcPts val="900"/>
              </a:lnSpc>
              <a:spcBef>
                <a:spcPct val="0"/>
              </a:spcBef>
              <a:spcAft>
                <a:spcPct val="0"/>
              </a:spcAft>
            </a:pPr>
            <a:r>
              <a:rPr lang="zh-CN" altLang="en-US" sz="2000" b="1">
                <a:gradFill>
                  <a:gsLst>
                    <a:gs pos="50000">
                      <a:schemeClr val="accent4"/>
                    </a:gs>
                    <a:gs pos="0">
                      <a:schemeClr val="accent4">
                        <a:lumMod val="25000"/>
                        <a:lumOff val="75000"/>
                      </a:schemeClr>
                    </a:gs>
                    <a:gs pos="100000">
                      <a:schemeClr val="accent4">
                        <a:lumMod val="85000"/>
                      </a:schemeClr>
                    </a:gs>
                  </a:gsLst>
                  <a:lin ang="5400000" scaled="1"/>
                </a:gradFill>
              </a:rPr>
              <a:t>行业顾问</a:t>
            </a:r>
            <a:r>
              <a:rPr lang="zh-CN" altLang="en-US" sz="2000" b="0">
                <a:solidFill>
                  <a:schemeClr val="bg1"/>
                </a:solidFill>
              </a:rPr>
              <a:t>：地方残联无障碍建设专家</a:t>
            </a: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pPr>
            <a:endParaRPr lang="zh-CN" altLang="en-US" sz="2000" b="0">
              <a:solidFill>
                <a:schemeClr val="bg1"/>
              </a:solidFill>
            </a:endParaRPr>
          </a:p>
          <a:p>
            <a:pPr marL="0" indent="0">
              <a:lnSpc>
                <a:spcPts val="900"/>
              </a:lnSpc>
              <a:spcBef>
                <a:spcPct val="0"/>
              </a:spcBef>
              <a:spcAft>
                <a:spcPct val="0"/>
              </a:spcAft>
              <a:buFont typeface="Arial" panose="020B0604020202020204"/>
              <a:buChar char="•"/>
            </a:pPr>
            <a:r>
              <a:rPr lang="zh-CN" altLang="en-US" sz="2000" b="0">
                <a:solidFill>
                  <a:schemeClr val="bg1"/>
                </a:solidFill>
              </a:rPr>
              <a:t>指导方向：</a:t>
            </a:r>
            <a:r>
              <a:rPr lang="zh-CN" altLang="en-US" sz="2000" b="1">
                <a:solidFill>
                  <a:schemeClr val="bg1"/>
                </a:solidFill>
              </a:rPr>
              <a:t>视障用户需求、无障碍设计规范、助残政策、政府采购与公益推广</a:t>
            </a:r>
            <a:r>
              <a:rPr lang="zh-CN" altLang="en-US" sz="2000" b="0">
                <a:solidFill>
                  <a:schemeClr val="bg1"/>
                </a:solidFill>
              </a:rPr>
              <a:t>，保障产品符合行</a:t>
            </a: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Char char="•"/>
            </a:pPr>
            <a:endParaRPr lang="zh-CN" altLang="en-US" sz="2000" b="0">
              <a:solidFill>
                <a:schemeClr val="bg1"/>
              </a:solidFill>
            </a:endParaRPr>
          </a:p>
          <a:p>
            <a:pPr marL="0" indent="0">
              <a:lnSpc>
                <a:spcPts val="900"/>
              </a:lnSpc>
              <a:spcBef>
                <a:spcPct val="0"/>
              </a:spcBef>
              <a:spcAft>
                <a:spcPct val="0"/>
              </a:spcAft>
              <a:buFont typeface="Arial" panose="020B0604020202020204"/>
              <a:buNone/>
            </a:pPr>
            <a:r>
              <a:rPr lang="zh-CN" altLang="en-US" sz="2000" b="0">
                <a:solidFill>
                  <a:schemeClr val="bg1"/>
                </a:solidFill>
              </a:rPr>
              <a:t>业标准与市场需求。</a:t>
            </a:r>
            <a:endParaRPr lang="zh-CN" altLang="en-US" sz="2000" b="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picture 58"/>
          <p:cNvPicPr>
            <a:picLocks noChangeAspect="1"/>
          </p:cNvPicPr>
          <p:nvPr/>
        </p:nvPicPr>
        <p:blipFill>
          <a:blip r:embed="rId1"/>
          <a:stretch>
            <a:fillRect/>
          </a:stretch>
        </p:blipFill>
        <p:spPr>
          <a:xfrm rot="21600000">
            <a:off x="152" y="0"/>
            <a:ext cx="12191695" cy="6858000"/>
          </a:xfrm>
          <a:prstGeom prst="rect">
            <a:avLst/>
          </a:prstGeom>
        </p:spPr>
      </p:pic>
      <p:pic>
        <p:nvPicPr>
          <p:cNvPr id="62" name="picture 62"/>
          <p:cNvPicPr>
            <a:picLocks noChangeAspect="1"/>
          </p:cNvPicPr>
          <p:nvPr/>
        </p:nvPicPr>
        <p:blipFill>
          <a:blip r:embed="rId2"/>
          <a:stretch>
            <a:fillRect/>
          </a:stretch>
        </p:blipFill>
        <p:spPr>
          <a:xfrm rot="21600000">
            <a:off x="50717" y="266433"/>
            <a:ext cx="3345296" cy="487774"/>
          </a:xfrm>
          <a:prstGeom prst="rect">
            <a:avLst/>
          </a:prstGeom>
        </p:spPr>
      </p:pic>
      <p:sp>
        <p:nvSpPr>
          <p:cNvPr id="2" name="椭圆 1"/>
          <p:cNvSpPr/>
          <p:nvPr>
            <p:custDataLst>
              <p:tags r:id="rId3"/>
            </p:custDataLst>
          </p:nvPr>
        </p:nvSpPr>
        <p:spPr>
          <a:xfrm>
            <a:off x="2343150" y="1699895"/>
            <a:ext cx="6450330" cy="2233930"/>
          </a:xfrm>
          <a:prstGeom prst="ellipse">
            <a:avLst/>
          </a:prstGeom>
          <a:gradFill>
            <a:gsLst>
              <a:gs pos="0">
                <a:srgbClr val="FFFFFF">
                  <a:alpha val="0"/>
                </a:srgbClr>
              </a:gs>
              <a:gs pos="52000">
                <a:srgbClr val="05B4EB">
                  <a:lumMod val="20000"/>
                  <a:lumOff val="80000"/>
                  <a:alpha val="15000"/>
                </a:srgbClr>
              </a:gs>
            </a:gsLst>
            <a:lin ang="5400000" scaled="0"/>
          </a:gradFill>
          <a:ln w="6350" cap="flat" cmpd="sng" algn="ctr">
            <a:solidFill>
              <a:srgbClr val="05B4EB">
                <a:alpha val="10000"/>
              </a:srgbClr>
            </a:solidFill>
            <a:prstDash val="sysDash"/>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3" name="椭圆 2"/>
          <p:cNvSpPr/>
          <p:nvPr>
            <p:custDataLst>
              <p:tags r:id="rId4"/>
            </p:custDataLst>
          </p:nvPr>
        </p:nvSpPr>
        <p:spPr>
          <a:xfrm>
            <a:off x="2731135" y="1699895"/>
            <a:ext cx="5674995" cy="1913890"/>
          </a:xfrm>
          <a:prstGeom prst="ellipse">
            <a:avLst/>
          </a:prstGeom>
          <a:gradFill>
            <a:gsLst>
              <a:gs pos="0">
                <a:srgbClr val="FFFFFF">
                  <a:alpha val="0"/>
                </a:srgbClr>
              </a:gs>
              <a:gs pos="81000">
                <a:srgbClr val="05B4EB">
                  <a:lumMod val="20000"/>
                  <a:lumOff val="80000"/>
                  <a:alpha val="25000"/>
                </a:srgbClr>
              </a:gs>
            </a:gsLst>
            <a:lin ang="5400000" scaled="0"/>
          </a:gradFill>
          <a:ln w="6350" cap="flat" cmpd="sng" algn="ctr">
            <a:solidFill>
              <a:srgbClr val="05B4EB">
                <a:alpha val="25000"/>
              </a:srgbClr>
            </a:solidFill>
            <a:prstDash val="sysDash"/>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4" name="椭圆 3"/>
          <p:cNvSpPr/>
          <p:nvPr>
            <p:custDataLst>
              <p:tags r:id="rId5"/>
            </p:custDataLst>
          </p:nvPr>
        </p:nvSpPr>
        <p:spPr>
          <a:xfrm>
            <a:off x="3320415" y="1699895"/>
            <a:ext cx="4496435" cy="1504950"/>
          </a:xfrm>
          <a:prstGeom prst="ellipse">
            <a:avLst/>
          </a:prstGeom>
          <a:gradFill>
            <a:gsLst>
              <a:gs pos="0">
                <a:srgbClr val="FFFFFF">
                  <a:alpha val="0"/>
                </a:srgbClr>
              </a:gs>
              <a:gs pos="77000">
                <a:srgbClr val="05B4EB">
                  <a:lumMod val="20000"/>
                  <a:lumOff val="80000"/>
                  <a:alpha val="40000"/>
                </a:srgbClr>
              </a:gs>
            </a:gsLst>
            <a:lin ang="5400000" scaled="0"/>
          </a:gradFill>
          <a:ln w="6350" cap="flat" cmpd="sng" algn="ctr">
            <a:solidFill>
              <a:srgbClr val="05B4EB">
                <a:alpha val="40000"/>
              </a:srgbClr>
            </a:solidFill>
            <a:prstDash val="sysDash"/>
            <a:miter lim="800000"/>
          </a:ln>
          <a:effectLst/>
        </p:spPr>
        <p:txBody>
          <a:bodyPr rtlCol="0" anchor="ctr"/>
          <a:lstStyle/>
          <a:p>
            <a:pPr algn="ctr"/>
            <a:endParaRPr lang="zh-CN" altLang="en-US">
              <a:solidFill>
                <a:sysClr val="window" lastClr="FFFFFF"/>
              </a:solidFill>
              <a:latin typeface="Arial" panose="020B0604020202020204" pitchFamily="34" charset="0"/>
              <a:ea typeface="微软雅黑" panose="020B0503020204020204" charset="-122"/>
            </a:endParaRPr>
          </a:p>
        </p:txBody>
      </p:sp>
      <p:sp>
        <p:nvSpPr>
          <p:cNvPr id="5" name="圆角矩形 4"/>
          <p:cNvSpPr/>
          <p:nvPr>
            <p:custDataLst>
              <p:tags r:id="rId6"/>
            </p:custDataLst>
          </p:nvPr>
        </p:nvSpPr>
        <p:spPr>
          <a:xfrm>
            <a:off x="3213100" y="3824605"/>
            <a:ext cx="1447165" cy="401955"/>
          </a:xfrm>
          <a:prstGeom prst="roundRect">
            <a:avLst>
              <a:gd name="adj" fmla="val 50000"/>
            </a:avLst>
          </a:prstGeom>
          <a:gradFill>
            <a:gsLst>
              <a:gs pos="0">
                <a:srgbClr val="03BDD1">
                  <a:lumMod val="40000"/>
                  <a:lumOff val="60000"/>
                </a:srgbClr>
              </a:gs>
              <a:gs pos="48000">
                <a:srgbClr val="03BDD1"/>
              </a:gs>
            </a:gsLst>
            <a:lin ang="5400000" scaled="0"/>
          </a:gradFill>
          <a:ln w="12700" cap="flat" cmpd="sng" algn="ctr">
            <a:solidFill>
              <a:srgbClr val="03BDD1"/>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lvl="0" algn="ctr">
              <a:buClrTx/>
              <a:buSzTx/>
              <a:buFontTx/>
            </a:pPr>
            <a:r>
              <a:rPr lang="zh-CN" altLang="en-US" sz="16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性能优化升级</a:t>
            </a:r>
            <a:endParaRPr lang="zh-CN" altLang="en-US" sz="16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 name="椭圆 8"/>
          <p:cNvSpPr>
            <a:spLocks noChangeAspect="1"/>
          </p:cNvSpPr>
          <p:nvPr>
            <p:custDataLst>
              <p:tags r:id="rId7"/>
            </p:custDataLst>
          </p:nvPr>
        </p:nvSpPr>
        <p:spPr>
          <a:xfrm>
            <a:off x="4079875" y="3486150"/>
            <a:ext cx="95885" cy="95885"/>
          </a:xfrm>
          <a:prstGeom prst="ellipse">
            <a:avLst/>
          </a:prstGeom>
          <a:gradFill>
            <a:gsLst>
              <a:gs pos="4000">
                <a:srgbClr val="03BDD1">
                  <a:lumMod val="60000"/>
                  <a:lumOff val="40000"/>
                </a:srgbClr>
              </a:gs>
              <a:gs pos="100000">
                <a:srgbClr val="03BDD1"/>
              </a:gs>
              <a:gs pos="54000">
                <a:srgbClr val="03BDD1"/>
              </a:gs>
            </a:gsLst>
            <a:lin ang="2700000" scaled="0"/>
          </a:gradFill>
          <a:ln w="19050" cap="flat" cmpd="sng" algn="ctr">
            <a:gradFill>
              <a:gsLst>
                <a:gs pos="0">
                  <a:srgbClr val="FFAE37">
                    <a:lumMod val="20000"/>
                    <a:lumOff val="80000"/>
                  </a:srgbClr>
                </a:gs>
                <a:gs pos="37000">
                  <a:srgbClr val="D7E2FF">
                    <a:lumMod val="5000"/>
                    <a:lumOff val="95000"/>
                  </a:srgbClr>
                </a:gs>
                <a:gs pos="71000">
                  <a:srgbClr val="FFAE37">
                    <a:lumMod val="20000"/>
                    <a:lumOff val="80000"/>
                  </a:srgbClr>
                </a:gs>
                <a:gs pos="100000">
                  <a:srgbClr val="FFFFFF"/>
                </a:gs>
              </a:gsLst>
              <a:lin ang="16200000" scaled="0"/>
            </a:gradFill>
            <a:prstDash val="solid"/>
            <a:miter lim="800000"/>
          </a:ln>
          <a:effectLst>
            <a:outerShdw blurRad="355600" algn="ctr" rotWithShape="0">
              <a:srgbClr val="FFAE37">
                <a:alpha val="46000"/>
              </a:srgbClr>
            </a:outerShdw>
          </a:effectLst>
        </p:spPr>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ysClr val="window" lastClr="FFFFFF"/>
              </a:solidFill>
              <a:latin typeface="Arial" panose="020B0604020202020204" pitchFamily="34" charset="0"/>
              <a:ea typeface="微软雅黑" panose="020B0503020204020204" charset="-122"/>
              <a:sym typeface="思源黑体 CN Regular" panose="020B0500000000000000" charset="-122"/>
            </a:endParaRPr>
          </a:p>
        </p:txBody>
      </p:sp>
      <p:sp>
        <p:nvSpPr>
          <p:cNvPr id="14" name="矩形 13"/>
          <p:cNvSpPr/>
          <p:nvPr>
            <p:custDataLst>
              <p:tags r:id="rId8"/>
            </p:custDataLst>
          </p:nvPr>
        </p:nvSpPr>
        <p:spPr>
          <a:xfrm>
            <a:off x="2467610" y="4278630"/>
            <a:ext cx="2938780" cy="1134110"/>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400" dirty="0">
                <a:solidFill>
                  <a:sysClr val="window" lastClr="FFFFFF">
                    <a:lumMod val="85000"/>
                    <a:lumOff val="15000"/>
                  </a:sysClr>
                </a:solidFill>
                <a:latin typeface="微软雅黑" panose="020B0503020204020204" charset="-122"/>
                <a:cs typeface="微软雅黑" panose="020B0503020204020204" charset="-122"/>
              </a:rPr>
              <a:t>硬件方面，采用低功耗高性能芯片，降低能耗，延长续航时间，优化传感器布局和算法，提高检测精度和反应速度。软件层面，运用人工智能和机器学习算法，分析用户出行习惯和环境数据，实现个性化的智能辅助，还能不断更新软件，提升系统稳定性和兼容性。</a:t>
            </a:r>
            <a:endParaRPr lang="zh-CN" altLang="en-US" sz="1400" dirty="0">
              <a:solidFill>
                <a:sysClr val="window" lastClr="FFFFFF">
                  <a:lumMod val="85000"/>
                  <a:lumOff val="15000"/>
                </a:sysClr>
              </a:solidFill>
              <a:latin typeface="微软雅黑" panose="020B0503020204020204" charset="-122"/>
              <a:cs typeface="微软雅黑" panose="020B0503020204020204" charset="-122"/>
            </a:endParaRPr>
          </a:p>
        </p:txBody>
      </p:sp>
      <p:sp>
        <p:nvSpPr>
          <p:cNvPr id="15" name="圆角矩形 14"/>
          <p:cNvSpPr/>
          <p:nvPr>
            <p:custDataLst>
              <p:tags r:id="rId9"/>
            </p:custDataLst>
          </p:nvPr>
        </p:nvSpPr>
        <p:spPr>
          <a:xfrm>
            <a:off x="791210" y="2533015"/>
            <a:ext cx="1675765" cy="401955"/>
          </a:xfrm>
          <a:prstGeom prst="roundRect">
            <a:avLst>
              <a:gd name="adj" fmla="val 50000"/>
            </a:avLst>
          </a:prstGeom>
          <a:gradFill>
            <a:gsLst>
              <a:gs pos="0">
                <a:srgbClr val="05B4EB">
                  <a:lumMod val="40000"/>
                  <a:lumOff val="60000"/>
                </a:srgbClr>
              </a:gs>
              <a:gs pos="48000">
                <a:srgbClr val="05B4EB"/>
              </a:gs>
            </a:gsLst>
            <a:lin ang="5400000" scaled="0"/>
          </a:gradFill>
          <a:ln w="12700" cap="flat" cmpd="sng" algn="ctr">
            <a:solidFill>
              <a:srgbClr val="05B4EB"/>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lvl="0" algn="ctr">
              <a:spcBef>
                <a:spcPct val="0"/>
              </a:spcBef>
              <a:spcAft>
                <a:spcPct val="0"/>
              </a:spcAft>
              <a:buClrTx/>
              <a:buSzTx/>
              <a:buFontTx/>
            </a:pPr>
            <a:r>
              <a:rPr lang="zh-CN" altLang="en-US" sz="16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功能拓展与深化</a:t>
            </a:r>
            <a:endParaRPr lang="zh-CN" altLang="en-US" sz="16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椭圆 16"/>
          <p:cNvSpPr>
            <a:spLocks noChangeAspect="1"/>
          </p:cNvSpPr>
          <p:nvPr>
            <p:custDataLst>
              <p:tags r:id="rId10"/>
            </p:custDataLst>
          </p:nvPr>
        </p:nvSpPr>
        <p:spPr>
          <a:xfrm>
            <a:off x="2711450" y="2708910"/>
            <a:ext cx="95885" cy="95885"/>
          </a:xfrm>
          <a:prstGeom prst="ellipse">
            <a:avLst/>
          </a:prstGeom>
          <a:gradFill>
            <a:gsLst>
              <a:gs pos="4000">
                <a:srgbClr val="05B4EB">
                  <a:lumMod val="60000"/>
                  <a:lumOff val="40000"/>
                </a:srgbClr>
              </a:gs>
              <a:gs pos="54000">
                <a:srgbClr val="05B4EB"/>
              </a:gs>
            </a:gsLst>
            <a:lin ang="2700000" scaled="0"/>
          </a:gradFill>
          <a:ln w="19050" cap="flat" cmpd="sng" algn="ctr">
            <a:gradFill>
              <a:gsLst>
                <a:gs pos="0">
                  <a:srgbClr val="05B4EB">
                    <a:lumMod val="20000"/>
                    <a:lumOff val="80000"/>
                  </a:srgbClr>
                </a:gs>
                <a:gs pos="37000">
                  <a:srgbClr val="D7E2FF">
                    <a:lumMod val="5000"/>
                    <a:lumOff val="95000"/>
                  </a:srgbClr>
                </a:gs>
                <a:gs pos="71000">
                  <a:srgbClr val="05B4EB">
                    <a:lumMod val="20000"/>
                    <a:lumOff val="80000"/>
                  </a:srgbClr>
                </a:gs>
                <a:gs pos="100000">
                  <a:srgbClr val="FFFFFF"/>
                </a:gs>
              </a:gsLst>
              <a:lin ang="15780000" scaled="0"/>
            </a:gradFill>
            <a:prstDash val="solid"/>
            <a:miter lim="800000"/>
          </a:ln>
          <a:effectLst>
            <a:outerShdw blurRad="355600" algn="ctr" rotWithShape="0">
              <a:srgbClr val="05B4EB">
                <a:alpha val="46000"/>
              </a:srgbClr>
            </a:outerShdw>
          </a:effectLst>
        </p:spPr>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ysClr val="window" lastClr="FFFFFF"/>
              </a:solidFill>
              <a:latin typeface="Arial" panose="020B0604020202020204" pitchFamily="34" charset="0"/>
              <a:ea typeface="微软雅黑" panose="020B0503020204020204" charset="-122"/>
              <a:sym typeface="思源黑体 CN Regular" panose="020B0500000000000000" charset="-122"/>
            </a:endParaRPr>
          </a:p>
        </p:txBody>
      </p:sp>
      <p:sp>
        <p:nvSpPr>
          <p:cNvPr id="21" name="矩形 20"/>
          <p:cNvSpPr/>
          <p:nvPr>
            <p:custDataLst>
              <p:tags r:id="rId11"/>
            </p:custDataLst>
          </p:nvPr>
        </p:nvSpPr>
        <p:spPr>
          <a:xfrm>
            <a:off x="548640" y="3027680"/>
            <a:ext cx="1918335" cy="1134110"/>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400" dirty="0">
                <a:solidFill>
                  <a:sysClr val="window" lastClr="FFFFFF">
                    <a:lumMod val="85000"/>
                    <a:lumOff val="15000"/>
                  </a:sysClr>
                </a:solidFill>
                <a:latin typeface="微软雅黑" panose="020B0503020204020204" charset="-122"/>
                <a:cs typeface="微软雅黑" panose="020B0503020204020204" charset="-122"/>
              </a:rPr>
              <a:t>后续可以接入识别文字、公交站，红绿灯，信息等，帮盲人自主阅读和识别。</a:t>
            </a:r>
            <a:endParaRPr lang="zh-CN" altLang="en-US" sz="1400" dirty="0">
              <a:solidFill>
                <a:sysClr val="window" lastClr="FFFFFF">
                  <a:lumMod val="85000"/>
                  <a:lumOff val="15000"/>
                </a:sysClr>
              </a:solidFill>
              <a:latin typeface="微软雅黑" panose="020B0503020204020204" charset="-122"/>
              <a:cs typeface="微软雅黑" panose="020B0503020204020204" charset="-122"/>
            </a:endParaRPr>
          </a:p>
        </p:txBody>
      </p:sp>
      <p:sp>
        <p:nvSpPr>
          <p:cNvPr id="22" name="圆角矩形 21"/>
          <p:cNvSpPr/>
          <p:nvPr>
            <p:custDataLst>
              <p:tags r:id="rId12"/>
            </p:custDataLst>
          </p:nvPr>
        </p:nvSpPr>
        <p:spPr>
          <a:xfrm>
            <a:off x="6527800" y="3824605"/>
            <a:ext cx="1470025" cy="401955"/>
          </a:xfrm>
          <a:prstGeom prst="roundRect">
            <a:avLst>
              <a:gd name="adj" fmla="val 50000"/>
            </a:avLst>
          </a:prstGeom>
          <a:gradFill>
            <a:gsLst>
              <a:gs pos="0">
                <a:srgbClr val="05B4EB">
                  <a:lumMod val="40000"/>
                  <a:lumOff val="60000"/>
                </a:srgbClr>
              </a:gs>
              <a:gs pos="48000">
                <a:srgbClr val="05B4EB"/>
              </a:gs>
            </a:gsLst>
            <a:lin ang="5400000" scaled="0"/>
          </a:gradFill>
          <a:ln w="12700" cap="flat" cmpd="sng" algn="ctr">
            <a:solidFill>
              <a:srgbClr val="05B4EB"/>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lvl="0" algn="ctr">
              <a:spcBef>
                <a:spcPct val="0"/>
              </a:spcBef>
              <a:spcAft>
                <a:spcPct val="0"/>
              </a:spcAft>
              <a:buClrTx/>
              <a:buSzTx/>
              <a:buFontTx/>
            </a:pPr>
            <a:r>
              <a:rPr lang="zh-CN" altLang="en-US" sz="16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成本与普及</a:t>
            </a:r>
            <a:endParaRPr lang="zh-CN" altLang="en-US" sz="16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椭圆 22"/>
          <p:cNvSpPr>
            <a:spLocks noChangeAspect="1"/>
          </p:cNvSpPr>
          <p:nvPr>
            <p:custDataLst>
              <p:tags r:id="rId13"/>
            </p:custDataLst>
          </p:nvPr>
        </p:nvSpPr>
        <p:spPr>
          <a:xfrm>
            <a:off x="6887845" y="3485515"/>
            <a:ext cx="95885" cy="95885"/>
          </a:xfrm>
          <a:prstGeom prst="ellipse">
            <a:avLst/>
          </a:prstGeom>
          <a:gradFill>
            <a:gsLst>
              <a:gs pos="4000">
                <a:srgbClr val="05B4EB">
                  <a:lumMod val="60000"/>
                  <a:lumOff val="40000"/>
                </a:srgbClr>
              </a:gs>
              <a:gs pos="54000">
                <a:srgbClr val="05B4EB"/>
              </a:gs>
            </a:gsLst>
            <a:lin ang="2700000" scaled="0"/>
          </a:gradFill>
          <a:ln w="19050" cap="flat" cmpd="sng" algn="ctr">
            <a:gradFill>
              <a:gsLst>
                <a:gs pos="0">
                  <a:srgbClr val="05B4EB">
                    <a:lumMod val="20000"/>
                    <a:lumOff val="80000"/>
                  </a:srgbClr>
                </a:gs>
                <a:gs pos="37000">
                  <a:srgbClr val="D7E2FF">
                    <a:lumMod val="5000"/>
                    <a:lumOff val="95000"/>
                  </a:srgbClr>
                </a:gs>
                <a:gs pos="71000">
                  <a:srgbClr val="05B4EB">
                    <a:lumMod val="20000"/>
                    <a:lumOff val="80000"/>
                  </a:srgbClr>
                </a:gs>
                <a:gs pos="100000">
                  <a:srgbClr val="FFFFFF"/>
                </a:gs>
              </a:gsLst>
              <a:lin ang="15780000" scaled="0"/>
            </a:gradFill>
            <a:prstDash val="solid"/>
            <a:miter lim="800000"/>
          </a:ln>
          <a:effectLst>
            <a:outerShdw blurRad="355600" algn="ctr" rotWithShape="0">
              <a:srgbClr val="05B4EB">
                <a:alpha val="46000"/>
              </a:srgbClr>
            </a:outerShdw>
          </a:effectLst>
        </p:spPr>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ysClr val="window" lastClr="FFFFFF"/>
              </a:solidFill>
              <a:latin typeface="Arial" panose="020B0604020202020204" pitchFamily="34" charset="0"/>
              <a:ea typeface="微软雅黑" panose="020B0503020204020204" charset="-122"/>
              <a:sym typeface="思源黑体 CN Regular" panose="020B0500000000000000" charset="-122"/>
            </a:endParaRPr>
          </a:p>
        </p:txBody>
      </p:sp>
      <p:sp>
        <p:nvSpPr>
          <p:cNvPr id="24" name="矩形 23"/>
          <p:cNvSpPr/>
          <p:nvPr>
            <p:custDataLst>
              <p:tags r:id="rId14"/>
            </p:custDataLst>
          </p:nvPr>
        </p:nvSpPr>
        <p:spPr>
          <a:xfrm>
            <a:off x="6311900" y="4316095"/>
            <a:ext cx="2781300" cy="2227580"/>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400" dirty="0">
                <a:solidFill>
                  <a:sysClr val="window" lastClr="FFFFFF">
                    <a:lumMod val="85000"/>
                    <a:lumOff val="15000"/>
                  </a:sysClr>
                </a:solidFill>
                <a:latin typeface="微软雅黑" panose="020B0503020204020204" charset="-122"/>
                <a:cs typeface="微软雅黑" panose="020B0503020204020204" charset="-122"/>
              </a:rPr>
              <a:t>降低生产成本，让更多盲人能够负担得起。加强与残联、公益组织、政府部门合作，通过补贴、捐赠、租赁等形式，扩大头盔的普及范围。开展宣传和培训活动，让盲人了解并正确使用头盔。</a:t>
            </a:r>
            <a:endParaRPr lang="zh-CN" altLang="en-US" sz="1400" dirty="0">
              <a:solidFill>
                <a:sysClr val="window" lastClr="FFFFFF">
                  <a:lumMod val="85000"/>
                  <a:lumOff val="15000"/>
                </a:sysClr>
              </a:solidFill>
              <a:latin typeface="微软雅黑" panose="020B0503020204020204" charset="-122"/>
              <a:cs typeface="微软雅黑" panose="020B0503020204020204" charset="-122"/>
            </a:endParaRPr>
          </a:p>
        </p:txBody>
      </p:sp>
      <p:sp>
        <p:nvSpPr>
          <p:cNvPr id="25" name="圆角矩形 24"/>
          <p:cNvSpPr/>
          <p:nvPr>
            <p:custDataLst>
              <p:tags r:id="rId15"/>
            </p:custDataLst>
          </p:nvPr>
        </p:nvSpPr>
        <p:spPr>
          <a:xfrm>
            <a:off x="8732520" y="2533015"/>
            <a:ext cx="1710690" cy="401955"/>
          </a:xfrm>
          <a:prstGeom prst="roundRect">
            <a:avLst>
              <a:gd name="adj" fmla="val 50000"/>
            </a:avLst>
          </a:prstGeom>
          <a:gradFill>
            <a:gsLst>
              <a:gs pos="0">
                <a:srgbClr val="03BDD1">
                  <a:lumMod val="40000"/>
                  <a:lumOff val="60000"/>
                </a:srgbClr>
              </a:gs>
              <a:gs pos="48000">
                <a:srgbClr val="03BDD1"/>
              </a:gs>
            </a:gsLst>
            <a:lin ang="5400000" scaled="0"/>
          </a:gradFill>
          <a:ln w="12700" cap="flat" cmpd="sng" algn="ctr">
            <a:solidFill>
              <a:srgbClr val="03BDD1"/>
            </a:solidFill>
            <a:prstDash val="solid"/>
            <a:miter lim="800000"/>
          </a:ln>
          <a:effectLst/>
        </p:spPr>
        <p:txBody>
          <a:bodyPr vertOverflow="overflow" horzOverflow="overflow" vert="horz" wrap="square" lIns="0" tIns="0" rIns="0" bIns="0" numCol="1" spcCol="0" rtlCol="0" fromWordArt="0" anchor="ctr" anchorCtr="0" forceAA="0" compatLnSpc="1">
            <a:noAutofit/>
          </a:bodyPr>
          <a:lstStyle/>
          <a:p>
            <a:pPr lvl="0" algn="ctr">
              <a:buClrTx/>
              <a:buSzTx/>
              <a:buFontTx/>
            </a:pPr>
            <a:r>
              <a:rPr lang="zh-CN" altLang="en-US" sz="16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社会融合与反馈</a:t>
            </a:r>
            <a:endParaRPr lang="zh-CN" altLang="en-US" sz="16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 name="椭圆 25"/>
          <p:cNvSpPr>
            <a:spLocks noChangeAspect="1"/>
          </p:cNvSpPr>
          <p:nvPr>
            <p:custDataLst>
              <p:tags r:id="rId16"/>
            </p:custDataLst>
          </p:nvPr>
        </p:nvSpPr>
        <p:spPr>
          <a:xfrm>
            <a:off x="8357235" y="2663190"/>
            <a:ext cx="95885" cy="95885"/>
          </a:xfrm>
          <a:prstGeom prst="ellipse">
            <a:avLst/>
          </a:prstGeom>
          <a:gradFill>
            <a:gsLst>
              <a:gs pos="4000">
                <a:srgbClr val="03BDD1">
                  <a:lumMod val="60000"/>
                  <a:lumOff val="40000"/>
                </a:srgbClr>
              </a:gs>
              <a:gs pos="100000">
                <a:srgbClr val="03BDD1"/>
              </a:gs>
              <a:gs pos="54000">
                <a:srgbClr val="03BDD1"/>
              </a:gs>
            </a:gsLst>
            <a:lin ang="2700000" scaled="0"/>
          </a:gradFill>
          <a:ln w="19050" cap="flat" cmpd="sng" algn="ctr">
            <a:gradFill>
              <a:gsLst>
                <a:gs pos="0">
                  <a:srgbClr val="FFAE37">
                    <a:lumMod val="20000"/>
                    <a:lumOff val="80000"/>
                  </a:srgbClr>
                </a:gs>
                <a:gs pos="37000">
                  <a:srgbClr val="D7E2FF">
                    <a:lumMod val="5000"/>
                    <a:lumOff val="95000"/>
                  </a:srgbClr>
                </a:gs>
                <a:gs pos="71000">
                  <a:srgbClr val="FFAE37">
                    <a:lumMod val="20000"/>
                    <a:lumOff val="80000"/>
                  </a:srgbClr>
                </a:gs>
                <a:gs pos="100000">
                  <a:srgbClr val="FFFFFF"/>
                </a:gs>
              </a:gsLst>
              <a:lin ang="16200000" scaled="0"/>
            </a:gradFill>
            <a:prstDash val="solid"/>
            <a:miter lim="800000"/>
          </a:ln>
          <a:effectLst>
            <a:outerShdw blurRad="355600" algn="ctr" rotWithShape="0">
              <a:srgbClr val="FFAE37">
                <a:alpha val="46000"/>
              </a:srgbClr>
            </a:outerShdw>
          </a:effectLst>
        </p:spPr>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ysClr val="window" lastClr="FFFFFF"/>
              </a:solidFill>
              <a:latin typeface="Arial" panose="020B0604020202020204" pitchFamily="34" charset="0"/>
              <a:ea typeface="微软雅黑" panose="020B0503020204020204" charset="-122"/>
              <a:sym typeface="思源黑体 CN Regular" panose="020B0500000000000000" charset="-122"/>
            </a:endParaRPr>
          </a:p>
        </p:txBody>
      </p:sp>
      <p:sp>
        <p:nvSpPr>
          <p:cNvPr id="27" name="矩形 26"/>
          <p:cNvSpPr/>
          <p:nvPr>
            <p:custDataLst>
              <p:tags r:id="rId17"/>
            </p:custDataLst>
          </p:nvPr>
        </p:nvSpPr>
        <p:spPr>
          <a:xfrm>
            <a:off x="9264015" y="3068955"/>
            <a:ext cx="2333625" cy="1134110"/>
          </a:xfrm>
          <a:prstGeom prst="rect">
            <a:avLst/>
          </a:prstGeom>
          <a:noFill/>
        </p:spPr>
        <p:txBody>
          <a:bodyPr wrap="square" lIns="0" tIns="0" rIns="0" bIns="0" rtlCol="0" anchor="t" anchorCtr="0">
            <a:noAutofit/>
          </a:bodyPr>
          <a:lstStyle/>
          <a:p>
            <a:pPr algn="l">
              <a:lnSpc>
                <a:spcPct val="130000"/>
              </a:lnSpc>
              <a:spcBef>
                <a:spcPct val="0"/>
              </a:spcBef>
              <a:spcAft>
                <a:spcPct val="0"/>
              </a:spcAft>
            </a:pPr>
            <a:r>
              <a:rPr lang="zh-CN" altLang="en-US" sz="1400" dirty="0">
                <a:solidFill>
                  <a:sysClr val="window" lastClr="FFFFFF">
                    <a:lumMod val="85000"/>
                    <a:lumOff val="15000"/>
                  </a:sysClr>
                </a:solidFill>
                <a:latin typeface="微软雅黑" panose="020B0503020204020204" charset="-122"/>
                <a:cs typeface="微软雅黑" panose="020B0503020204020204" charset="-122"/>
              </a:rPr>
              <a:t>收集用户反馈，根据实际使用情况不断改进和完善头盔，形成良性循环，推动产品持续创新</a:t>
            </a:r>
            <a:r>
              <a:rPr lang="en-US" altLang="zh-CN" sz="1400" dirty="0">
                <a:solidFill>
                  <a:sysClr val="window" lastClr="FFFFFF">
                    <a:lumMod val="85000"/>
                    <a:lumOff val="15000"/>
                  </a:sysClr>
                </a:solidFill>
                <a:latin typeface="微软雅黑" panose="020B0503020204020204" charset="-122"/>
                <a:cs typeface="微软雅黑" panose="020B0503020204020204" charset="-122"/>
              </a:rPr>
              <a:t> </a:t>
            </a:r>
            <a:r>
              <a:rPr lang="zh-CN" altLang="en-US" sz="1400" dirty="0">
                <a:solidFill>
                  <a:sysClr val="window" lastClr="FFFFFF">
                    <a:lumMod val="85000"/>
                    <a:lumOff val="15000"/>
                  </a:sysClr>
                </a:solidFill>
                <a:latin typeface="微软雅黑" panose="020B0503020204020204" charset="-122"/>
                <a:cs typeface="微软雅黑" panose="020B0503020204020204" charset="-122"/>
              </a:rPr>
              <a:t>。</a:t>
            </a:r>
            <a:endParaRPr lang="zh-CN" altLang="en-US" sz="1400" dirty="0">
              <a:solidFill>
                <a:sysClr val="window" lastClr="FFFFFF">
                  <a:lumMod val="85000"/>
                  <a:lumOff val="15000"/>
                </a:sysClr>
              </a:solidFill>
              <a:latin typeface="微软雅黑" panose="020B0503020204020204" charset="-122"/>
              <a:cs typeface="微软雅黑" panose="020B0503020204020204" charset="-122"/>
            </a:endParaRPr>
          </a:p>
        </p:txBody>
      </p:sp>
      <p:sp>
        <p:nvSpPr>
          <p:cNvPr id="29" name="椭圆 28"/>
          <p:cNvSpPr/>
          <p:nvPr>
            <p:custDataLst>
              <p:tags r:id="rId18"/>
            </p:custDataLst>
          </p:nvPr>
        </p:nvSpPr>
        <p:spPr>
          <a:xfrm rot="1140000">
            <a:off x="4103370" y="1609725"/>
            <a:ext cx="2931160" cy="690880"/>
          </a:xfrm>
          <a:prstGeom prst="ellipse">
            <a:avLst/>
          </a:prstGeom>
          <a:noFill/>
          <a:ln w="12700" cap="flat" cmpd="sng" algn="ctr">
            <a:gradFill>
              <a:gsLst>
                <a:gs pos="40000">
                  <a:srgbClr val="05B4EB">
                    <a:alpha val="35000"/>
                  </a:srgbClr>
                </a:gs>
                <a:gs pos="88000">
                  <a:srgbClr val="05B4EB">
                    <a:lumMod val="40000"/>
                    <a:lumOff val="60000"/>
                  </a:srgbClr>
                </a:gs>
                <a:gs pos="100000">
                  <a:srgbClr val="05B4EB">
                    <a:alpha val="35000"/>
                  </a:srgbClr>
                </a:gs>
                <a:gs pos="7000">
                  <a:srgbClr val="05B4EB">
                    <a:alpha val="0"/>
                  </a:srgbClr>
                </a:gs>
              </a:gsLst>
              <a:lin ang="5280000" scaled="0"/>
            </a:gradFill>
            <a:prstDash val="solid"/>
            <a:miter lim="800000"/>
          </a:ln>
          <a:effectLst/>
        </p:spPr>
        <p:txBody>
          <a:bodyPr rtlCol="0" anchor="ctr"/>
          <a:lstStyle/>
          <a:p>
            <a:pPr algn="ctr"/>
            <a:endParaRPr lang="en-US" altLang="zh-CN">
              <a:solidFill>
                <a:sysClr val="window" lastClr="FFFFFF"/>
              </a:solidFill>
              <a:latin typeface="Arial" panose="020B0604020202020204" pitchFamily="34" charset="0"/>
              <a:ea typeface="微软雅黑" panose="020B0503020204020204" charset="-122"/>
              <a:sym typeface="微软雅黑" panose="020B0503020204020204" charset="-122"/>
            </a:endParaRPr>
          </a:p>
        </p:txBody>
      </p:sp>
      <p:sp>
        <p:nvSpPr>
          <p:cNvPr id="31" name="椭圆 30"/>
          <p:cNvSpPr/>
          <p:nvPr>
            <p:custDataLst>
              <p:tags r:id="rId19"/>
            </p:custDataLst>
          </p:nvPr>
        </p:nvSpPr>
        <p:spPr>
          <a:xfrm rot="20460000">
            <a:off x="4103370" y="1639570"/>
            <a:ext cx="2931160" cy="690880"/>
          </a:xfrm>
          <a:prstGeom prst="ellipse">
            <a:avLst/>
          </a:prstGeom>
          <a:noFill/>
          <a:ln w="12700" cap="flat" cmpd="sng" algn="ctr">
            <a:gradFill>
              <a:gsLst>
                <a:gs pos="40000">
                  <a:srgbClr val="05B4EB">
                    <a:alpha val="35000"/>
                  </a:srgbClr>
                </a:gs>
                <a:gs pos="88000">
                  <a:srgbClr val="05B4EB">
                    <a:lumMod val="40000"/>
                    <a:lumOff val="60000"/>
                  </a:srgbClr>
                </a:gs>
                <a:gs pos="100000">
                  <a:srgbClr val="05B4EB">
                    <a:alpha val="35000"/>
                  </a:srgbClr>
                </a:gs>
                <a:gs pos="7000">
                  <a:srgbClr val="05B4EB">
                    <a:alpha val="0"/>
                  </a:srgbClr>
                </a:gs>
              </a:gsLst>
              <a:lin ang="5280000" scaled="0"/>
            </a:gradFill>
            <a:prstDash val="solid"/>
            <a:miter lim="800000"/>
          </a:ln>
          <a:effectLst/>
        </p:spPr>
        <p:txBody>
          <a:bodyPr rtlCol="0" anchor="ctr"/>
          <a:lstStyle/>
          <a:p>
            <a:pPr algn="ctr"/>
            <a:endParaRPr lang="en-US" altLang="zh-CN">
              <a:solidFill>
                <a:sysClr val="window" lastClr="FFFFFF"/>
              </a:solidFill>
              <a:latin typeface="Arial" panose="020B0604020202020204" pitchFamily="34" charset="0"/>
              <a:ea typeface="微软雅黑" panose="020B0503020204020204" charset="-122"/>
            </a:endParaRPr>
          </a:p>
        </p:txBody>
      </p:sp>
      <p:sp>
        <p:nvSpPr>
          <p:cNvPr id="32" name="椭圆 31"/>
          <p:cNvSpPr/>
          <p:nvPr>
            <p:custDataLst>
              <p:tags r:id="rId20"/>
            </p:custDataLst>
          </p:nvPr>
        </p:nvSpPr>
        <p:spPr>
          <a:xfrm>
            <a:off x="4799965" y="1081405"/>
            <a:ext cx="1537970" cy="1537970"/>
          </a:xfrm>
          <a:prstGeom prst="ellipse">
            <a:avLst/>
          </a:prstGeom>
          <a:gradFill>
            <a:gsLst>
              <a:gs pos="100000">
                <a:srgbClr val="05B4EB">
                  <a:lumMod val="20000"/>
                  <a:lumOff val="80000"/>
                </a:srgbClr>
              </a:gs>
              <a:gs pos="0">
                <a:srgbClr val="05B4EB">
                  <a:lumMod val="60000"/>
                  <a:lumOff val="40000"/>
                </a:srgbClr>
              </a:gs>
              <a:gs pos="34000">
                <a:srgbClr val="05B4EB"/>
              </a:gs>
              <a:gs pos="62000">
                <a:srgbClr val="05B4EB"/>
              </a:gs>
            </a:gsLst>
            <a:path path="circle">
              <a:fillToRect l="100000" t="100000"/>
            </a:path>
            <a:tileRect r="-100000" b="-100000"/>
          </a:gradFill>
          <a:ln w="12700" cap="flat" cmpd="sng" algn="ctr">
            <a:gradFill>
              <a:gsLst>
                <a:gs pos="0">
                  <a:srgbClr val="05B4EB">
                    <a:lumMod val="20000"/>
                    <a:lumOff val="80000"/>
                  </a:srgbClr>
                </a:gs>
                <a:gs pos="37000">
                  <a:srgbClr val="FFFFFF"/>
                </a:gs>
                <a:gs pos="71000">
                  <a:srgbClr val="05B4EB">
                    <a:lumMod val="20000"/>
                    <a:lumOff val="80000"/>
                  </a:srgbClr>
                </a:gs>
                <a:gs pos="100000">
                  <a:srgbClr val="FFFFFF"/>
                </a:gs>
              </a:gsLst>
              <a:lin ang="16140000" scaled="0"/>
            </a:gradFill>
            <a:prstDash val="solid"/>
            <a:miter lim="800000"/>
          </a:ln>
          <a:effectLst>
            <a:outerShdw blurRad="177800" dir="5400000" sx="90000" sy="-19000" rotWithShape="0">
              <a:srgbClr val="05B4EB">
                <a:alpha val="15000"/>
              </a:srgbClr>
            </a:outerShdw>
          </a:effectLst>
        </p:spPr>
        <p:txBody>
          <a:bodyPr vertOverflow="overflow" horzOverflow="overflow" vert="horz" wrap="square" lIns="0" tIns="0" rIns="0" bIns="0" numCol="1" spcCol="0" rtlCol="0" fromWordArt="0" anchor="ctr" anchorCtr="0" forceAA="0" compatLnSpc="1">
            <a:noAutofit/>
          </a:bodyPr>
          <a:lstStyle/>
          <a:p>
            <a:pPr lvl="0" algn="ctr">
              <a:spcBef>
                <a:spcPct val="0"/>
              </a:spcBef>
              <a:spcAft>
                <a:spcPct val="0"/>
              </a:spcAft>
              <a:buClrTx/>
              <a:buSzTx/>
              <a:buFontTx/>
            </a:pPr>
            <a:r>
              <a:rPr lang="zh-CN" altLang="en-US" sz="20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rPr>
              <a:t>未来展望</a:t>
            </a:r>
            <a:endParaRPr lang="zh-CN" altLang="en-US" sz="2000" b="1">
              <a:solidFill>
                <a:srgbClr val="FFFFFF"/>
              </a:solidFill>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 name="picture 64"/>
          <p:cNvPicPr>
            <a:picLocks noChangeAspect="1"/>
          </p:cNvPicPr>
          <p:nvPr/>
        </p:nvPicPr>
        <p:blipFill>
          <a:blip r:embed="rId1"/>
          <a:stretch>
            <a:fillRect/>
          </a:stretch>
        </p:blipFill>
        <p:spPr>
          <a:xfrm rot="21600000">
            <a:off x="152" y="0"/>
            <a:ext cx="12191695" cy="6858000"/>
          </a:xfrm>
          <a:prstGeom prst="rect">
            <a:avLst/>
          </a:prstGeom>
        </p:spPr>
      </p:pic>
      <p:pic>
        <p:nvPicPr>
          <p:cNvPr id="66" name="picture 66"/>
          <p:cNvPicPr>
            <a:picLocks noChangeAspect="1"/>
          </p:cNvPicPr>
          <p:nvPr/>
        </p:nvPicPr>
        <p:blipFill>
          <a:blip r:embed="rId2"/>
          <a:stretch>
            <a:fillRect/>
          </a:stretch>
        </p:blipFill>
        <p:spPr>
          <a:xfrm rot="21600000">
            <a:off x="1923391" y="692977"/>
            <a:ext cx="8557220" cy="3062849"/>
          </a:xfrm>
          <a:prstGeom prst="rect">
            <a:avLst/>
          </a:prstGeom>
        </p:spPr>
      </p:pic>
      <p:pic>
        <p:nvPicPr>
          <p:cNvPr id="68" name="picture 68"/>
          <p:cNvPicPr>
            <a:picLocks noChangeAspect="1"/>
          </p:cNvPicPr>
          <p:nvPr/>
        </p:nvPicPr>
        <p:blipFill>
          <a:blip r:embed="rId3"/>
          <a:stretch>
            <a:fillRect/>
          </a:stretch>
        </p:blipFill>
        <p:spPr>
          <a:xfrm rot="21600000">
            <a:off x="1715409" y="4009811"/>
            <a:ext cx="9149190" cy="663528"/>
          </a:xfrm>
          <a:prstGeom prst="rect">
            <a:avLst/>
          </a:prstGeom>
        </p:spPr>
      </p:pic>
    </p:spTree>
  </p:cSld>
  <p:clrMapOvr>
    <a:masterClrMapping/>
  </p:clrMapOvr>
</p:sld>
</file>

<file path=ppt/tags/tag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3245_1*n_h_h_f*1_2_1_1"/>
  <p:tag name="KSO_WM_TEMPLATE_CATEGORY" val="diagram"/>
  <p:tag name="KSO_WM_TEMPLATE_INDEX" val="20233245"/>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5"/>
  <p:tag name="KSO_WM_DIAGRAM_MIN_ITEMCNT" val="5"/>
  <p:tag name="KSO_WM_DIAGRAM_VIRTUALLY_FRAME" val="{&quot;height&quot;:493.9,&quot;left&quot;:56.10000000000002,&quot;top&quot;:32.2,&quot;width&quot;:868.77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您的)正文，文字是您思想的提炼，请尽量言简意赅的阐述观点。单击此处输入(您的)智能图形项正文。"/>
  <p:tag name="KSO_WM_UNIT_TEXT_FILL_FORE_SCHEMECOLOR_INDEX" val="1"/>
  <p:tag name="KSO_WM_UNIT_TEXT_FILL_TYPE" val="1"/>
  <p:tag name="KSO_WM_UNIT_USESOURCEFORMAT_APPLY" val="1"/>
</p:tagLst>
</file>

<file path=ppt/tags/tag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3245_1*n_h_h_f*1_2_2_1"/>
  <p:tag name="KSO_WM_TEMPLATE_CATEGORY" val="diagram"/>
  <p:tag name="KSO_WM_TEMPLATE_INDEX" val="20233245"/>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5"/>
  <p:tag name="KSO_WM_DIAGRAM_MIN_ITEMCNT" val="5"/>
  <p:tag name="KSO_WM_DIAGRAM_VIRTUALLY_FRAME" val="{&quot;height&quot;:493.9,&quot;left&quot;:56.10000000000002,&quot;top&quot;:32.2,&quot;width&quot;:868.77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您的)智能图形项正文，文字是您思想的提炼，请尽量言简意赅的阐述观点。单击此处输入(您的)智能图形项正文。"/>
  <p:tag name="KSO_WM_UNIT_TEXT_FILL_FORE_SCHEMECOLOR_INDEX" val="1"/>
  <p:tag name="KSO_WM_UNIT_TEXT_FILL_TYPE" val="1"/>
  <p:tag name="KSO_WM_UNIT_USESOURCEFORMAT_APPLY" val="1"/>
</p:tagLst>
</file>

<file path=ppt/tags/tag3.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3_1"/>
  <p:tag name="KSO_WM_UNIT_ID" val="diagram20233245_1*n_h_h_f*1_2_3_1"/>
  <p:tag name="KSO_WM_TEMPLATE_CATEGORY" val="diagram"/>
  <p:tag name="KSO_WM_TEMPLATE_INDEX" val="20233245"/>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5"/>
  <p:tag name="KSO_WM_DIAGRAM_MIN_ITEMCNT" val="5"/>
  <p:tag name="KSO_WM_DIAGRAM_VIRTUALLY_FRAME" val="{&quot;height&quot;:493.9,&quot;left&quot;:56.10000000000002,&quot;top&quot;:32.2,&quot;width&quot;:868.77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您的)正文，文字是您思想的提炼，请尽量言简意赅的阐述观点。单击此处输入(您的)智能图形项正文。"/>
  <p:tag name="KSO_WM_UNIT_TEXT_FILL_FORE_SCHEMECOLOR_INDEX" val="1"/>
  <p:tag name="KSO_WM_UNIT_TEXT_FILL_TYPE" val="1"/>
  <p:tag name="KSO_WM_UNIT_USESOURCEFORMAT_APPLY" val="1"/>
</p:tagLst>
</file>

<file path=ppt/tags/tag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3245_1*n_h_h_f*1_2_5_1"/>
  <p:tag name="KSO_WM_TEMPLATE_CATEGORY" val="diagram"/>
  <p:tag name="KSO_WM_TEMPLATE_INDEX" val="20233245"/>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5"/>
  <p:tag name="KSO_WM_DIAGRAM_MIN_ITEMCNT" val="5"/>
  <p:tag name="KSO_WM_DIAGRAM_VIRTUALLY_FRAME" val="{&quot;height&quot;:493.9,&quot;left&quot;:56.10000000000002,&quot;top&quot;:32.2,&quot;width&quot;:868.77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您的)正文，文字是您思想的提炼，请尽量言简意赅的阐述观点。单击此处输入(您的)智能图形项正文。"/>
  <p:tag name="KSO_WM_UNIT_TEXT_FILL_FORE_SCHEMECOLOR_INDEX" val="1"/>
  <p:tag name="KSO_WM_UNIT_TEXT_FILL_TYPE" val="1"/>
  <p:tag name="KSO_WM_UNIT_USESOURCEFORMAT_APPLY" val="1"/>
</p:tagLst>
</file>

<file path=ppt/tags/tag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3245_1*n_h_h_f*1_2_4_1"/>
  <p:tag name="KSO_WM_TEMPLATE_CATEGORY" val="diagram"/>
  <p:tag name="KSO_WM_TEMPLATE_INDEX" val="20233245"/>
  <p:tag name="KSO_WM_UNIT_LAYERLEVEL" val="1_1_1_1"/>
  <p:tag name="KSO_WM_TAG_VERSION" val="3.0"/>
  <p:tag name="KSO_WM_UNIT_TEXT_FILL_FORE_SCHEMECOLOR_INDEX_BRIGHTNESS" val="0.15"/>
  <p:tag name="KSO_WM_DIAGRAM_GROUP_CODE" val="n1-1"/>
  <p:tag name="KSO_WM_DIAGRAM_VERSION" val="3"/>
  <p:tag name="KSO_WM_DIAGRAM_COLOR_TRICK" val="1"/>
  <p:tag name="KSO_WM_DIAGRAM_COLOR_TEXT_CAN_REMOVE" val="n"/>
  <p:tag name="KSO_WM_DIAGRAM_MAX_ITEMCNT" val="5"/>
  <p:tag name="KSO_WM_DIAGRAM_MIN_ITEMCNT" val="5"/>
  <p:tag name="KSO_WM_DIAGRAM_VIRTUALLY_FRAME" val="{&quot;height&quot;:493.9,&quot;left&quot;:56.10000000000002,&quot;top&quot;:32.2,&quot;width&quot;:868.77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BEAUTIFY_FLAG" val="#wm#"/>
  <p:tag name="KSO_WM_UNIT_PRESET_TEXT" val="单击此处输入(您的)智能图形项正文，文字是您思想的提炼，请尽量言简意赅的阐述观点。单击此处输入(您的)智能图形项正文。"/>
  <p:tag name="KSO_WM_UNIT_TEXT_FILL_FORE_SCHEMECOLOR_INDEX" val="1"/>
  <p:tag name="KSO_WM_UNIT_TEXT_FILL_TYPE" val="1"/>
  <p:tag name="KSO_WM_UNIT_USESOURCEFORMAT_APPLY" val="1"/>
</p:tagLst>
</file>

<file path=ppt/tags/tag6.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n_h_a"/>
  <p:tag name="KSO_WM_UNIT_INDEX" val="1_1_1"/>
  <p:tag name="KSO_WM_UNIT_ID" val="diagram20233245_1*n_h_a*1_1_1"/>
  <p:tag name="KSO_WM_TEMPLATE_CATEGORY" val="diagram"/>
  <p:tag name="KSO_WM_TEMPLATE_INDEX" val="20233245"/>
  <p:tag name="KSO_WM_UNIT_LAYERLEVEL" val="1_1_1"/>
  <p:tag name="KSO_WM_TAG_VERSION" val="3.0"/>
  <p:tag name="KSO_WM_DIAGRAM_GROUP_CODE" val="n1-1"/>
  <p:tag name="KSO_WM_DIAGRAM_VERSION" val="3"/>
  <p:tag name="KSO_WM_DIAGRAM_COLOR_TRICK" val="1"/>
  <p:tag name="KSO_WM_DIAGRAM_COLOR_TEXT_CAN_REMOVE" val="n"/>
  <p:tag name="KSO_WM_DIAGRAM_MAX_ITEMCNT" val="5"/>
  <p:tag name="KSO_WM_DIAGRAM_MIN_ITEMCNT" val="5"/>
  <p:tag name="KSO_WM_DIAGRAM_VIRTUALLY_FRAME" val="{&quot;height&quot;:493.9,&quot;left&quot;:56.10000000000002,&quot;top&quot;:32.2,&quot;width&quot;:868.7748818897638}"/>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BEAUTIFY_FLAG" val="#wm#"/>
  <p:tag name="KSO_WM_UNIT_PRESET_TEXT" val="添加标题"/>
  <p:tag name="KSO_WM_UNIT_TEXT_FILL_FORE_SCHEMECOLOR_INDEX" val="1"/>
  <p:tag name="KSO_WM_UNIT_TEXT_FILL_TYPE" val="1"/>
  <p:tag name="KSO_WM_UNIT_USESOURCEFORMAT_APPLY"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i*1_1_11"/>
  <p:tag name="KSO_WM_TEMPLATE_CATEGORY" val="diagram"/>
  <p:tag name="KSO_WM_TEMPLATE_INDEX" val="20230321"/>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11"/>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solidLine&quot;:{&quot;brightness&quot;:0,&quot;colorType&quot;:1,&quot;foreColorIndex&quot;:5,&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LINE_FILL_TYPE" val="2"/>
  <p:tag name="KSO_WM_UNIT_TEXT_FILL_FORE_SCHEMECOLOR_INDEX" val="2"/>
  <p:tag name="KSO_WM_UNIT_TEXT_FILL_TYPE" val="1"/>
  <p:tag name="KSO_WM_UNIT_USESOURCEFORMAT_APPLY" val="1"/>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i*1_1_1"/>
  <p:tag name="KSO_WM_TEMPLATE_CATEGORY" val="diagram"/>
  <p:tag name="KSO_WM_TEMPLATE_INDEX" val="20230321"/>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n1-1"/>
  <p:tag name="KSO_WM_UNIT_TYPE" val="n_h_i"/>
  <p:tag name="KSO_WM_UNIT_INDEX" val="1_1_1"/>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5"/>
  <p:tag name="KSO_WM_UNIT_TEXT_FILL_TYPE" val="1"/>
  <p:tag name="KSO_WM_UNIT_USESOURCEFORMAT_APPLY" val="1"/>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i*1_1_2"/>
  <p:tag name="KSO_WM_TEMPLATE_CATEGORY" val="diagram"/>
  <p:tag name="KSO_WM_TEMPLATE_INDEX" val="20230321"/>
  <p:tag name="KSO_WM_UNIT_LAYERLEVEL" val="1_1_1"/>
  <p:tag name="KSO_WM_TAG_VERSION" val="3.0"/>
  <p:tag name="KSO_WM_DIAGRAM_VERSION" val="3"/>
  <p:tag name="KSO_WM_DIAGRAM_COLOR_TRICK" val="1"/>
  <p:tag name="KSO_WM_DIAGRAM_COLOR_TEXT_CAN_REMOVE" val="n"/>
  <p:tag name="KSO_WM_UNIT_ISCONTENTSTITLE" val="0"/>
  <p:tag name="KSO_WM_UNIT_ISNUMDGMTITLE" val="0"/>
  <p:tag name="KSO_WM_UNIT_NOCLEAR" val="0"/>
  <p:tag name="KSO_WM_DIAGRAM_GROUP_CODE" val="n1-1"/>
  <p:tag name="KSO_WM_UNIT_TYPE" val="n_h_i"/>
  <p:tag name="KSO_WM_UNIT_INDEX" val="1_1_2"/>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SHADOW_SCHEMECOLOR_INDEX" val="5"/>
  <p:tag name="KSO_WM_UNIT_TEXT_FILL_FORE_SCHEMECOLOR_INDEX" val="5"/>
  <p:tag name="KSO_WM_UNIT_TEXT_FILL_TYPE" val="1"/>
  <p:tag name="KSO_WM_UNIT_USESOURCEFORMAT_APPLY"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i*1_1_9"/>
  <p:tag name="KSO_WM_TEMPLATE_CATEGORY" val="diagram"/>
  <p:tag name="KSO_WM_TEMPLATE_INDEX" val="20230321"/>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9"/>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solid&quot;:{&quot;brightness&quot;:0,&quot;colorType&quot;:1,&quot;foreColorIndex&quot;:16,&quot;transparency&quot;:0},&quot;type&quot;:1},&quot;glow&quot;:{&quot;colorType&quot;:0},&quot;line&quot;:{&quot;gradient&quot;:[{&quot;brightness&quot;:0.949999988079071,&quot;colorType&quot;:1,&quot;foreColorIndex&quot;:5,&quot;pos&quot;:0.3499999940395355,&quot;transparency&quot;:1},{&quot;brightness&quot;:0.4000000059604645,&quot;colorType&quot;:1,&quot;foreColorIndex&quot;:5,&quot;pos&quot;:1,&quot;transparency&quot;:0},{&quot;brightness&quot;:0.699999988079071,&quot;colorType&quot;:1,&quot;foreColorIndex&quot;:5,&quot;pos&quot;:0.8899999856948853,&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6"/>
  <p:tag name="KSO_WM_UNIT_FILL_FORE_SCHEMECOLOR_INDEX_BRIGHTNESS" val="0"/>
  <p:tag name="KSO_WM_UNIT_LINE_FORE_SCHEMECOLOR_INDEX" val="5"/>
  <p:tag name="KSO_WM_UNIT_TEXT_FILL_FORE_SCHEMECOLOR_INDEX" val="2"/>
  <p:tag name="KSO_WM_UNIT_TEXT_FILL_TYPE" val="1"/>
  <p:tag name="KSO_WM_UNIT_USESOURCEFORMAT_APPLY"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i*1_1_10"/>
  <p:tag name="KSO_WM_TEMPLATE_CATEGORY" val="diagram"/>
  <p:tag name="KSO_WM_TEMPLATE_INDEX" val="20230321"/>
  <p:tag name="KSO_WM_UNIT_LAYERLEVEL" val="1_1_1"/>
  <p:tag name="KSO_WM_TAG_VERSION" val="3.0"/>
  <p:tag name="KSO_WM_DIAGRAM_VERSION" val="3"/>
  <p:tag name="KSO_WM_DIAGRAM_COLOR_TRICK" val="1"/>
  <p:tag name="KSO_WM_DIAGRAM_COLOR_TEXT_CAN_REMOVE" val="n"/>
  <p:tag name="KSO_WM_DIAGRAM_GROUP_CODE" val="n1-1"/>
  <p:tag name="KSO_WM_UNIT_TYPE" val="n_h_i"/>
  <p:tag name="KSO_WM_UNIT_INDEX" val="1_1_10"/>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solid&quot;:{&quot;brightness&quot;:0.4000000059604645,&quot;colorType&quot;:1,&quot;foreColorIndex&quot;:13,&quot;transparency&quot;:0.8500000238418579},&quot;type&quot;:1},&quot;glow&quot;:{&quot;colorType&quot;:0},&quot;line&quot;:{&quot;gradient&quot;:[{&quot;brightness&quot;:0.949999988079071,&quot;colorType&quot;:1,&quot;foreColorIndex&quot;:5,&quot;pos&quot;:0.3499999940395355,&quot;transparency&quot;:1},{&quot;brightness&quot;:0.4000000059604645,&quot;colorType&quot;:1,&quot;foreColorIndex&quot;:5,&quot;pos&quot;:1,&quot;transparency&quot;:0},{&quot;brightness&quot;:0.699999988079071,&quot;colorType&quot;:1,&quot;foreColorIndex&quot;:5,&quot;pos&quot;:0.8899999856948853,&quot;transparency&quot;:0}],&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13"/>
  <p:tag name="KSO_WM_UNIT_FILL_FORE_SCHEMECOLOR_INDEX_BRIGHTNESS" val="0.4"/>
  <p:tag name="KSO_WM_UNIT_LINE_FORE_SCHEMECOLOR_INDEX" val="5"/>
  <p:tag name="KSO_WM_UNIT_TEXT_FILL_FORE_SCHEMECOLOR_INDEX" val="2"/>
  <p:tag name="KSO_WM_UNIT_TEXT_FILL_TYPE" val="1"/>
  <p:tag name="KSO_WM_UNIT_USESOURCEFORMAT_APPLY" val="1"/>
</p:tagLst>
</file>

<file path=ppt/tags/tag1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n1-1"/>
  <p:tag name="KSO_WM_UNIT_TYPE" val="n_h_a"/>
  <p:tag name="KSO_WM_UNIT_INDEX" val="1_1_1"/>
  <p:tag name="KSO_WM_UNIT_ID" val="diagram20230321_3*n_h_a*1_1_1"/>
  <p:tag name="KSO_WM_TEMPLATE_CATEGORY" val="diagram"/>
  <p:tag name="KSO_WM_TEMPLATE_INDEX" val="20230321"/>
  <p:tag name="KSO_WM_UNIT_LAYERLEVEL" val="1_1_1"/>
  <p:tag name="KSO_WM_TAG_VERSION" val="3.0"/>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单击此处&#10;添加项标题"/>
  <p:tag name="KSO_WM_UNIT_TEXT_FILL_FORE_SCHEMECOLOR_INDEX" val="1"/>
  <p:tag name="KSO_WM_UNIT_TEXT_FILL_TYPE" val="1"/>
  <p:tag name="KSO_WM_UNIT_USESOURCEFORMAT_APPLY"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i*1_2_2_2"/>
  <p:tag name="KSO_WM_TEMPLATE_CATEGORY" val="diagram"/>
  <p:tag name="KSO_WM_TEMPLATE_INDEX" val="20230321"/>
  <p:tag name="KSO_WM_UNIT_LAYERLEVEL" val="1_1_1_1"/>
  <p:tag name="KSO_WM_TAG_VERSION" val="3.0"/>
  <p:tag name="KSO_WM_DIAGRAM_GROUP_CODE" val="n1-1"/>
  <p:tag name="KSO_WM_UNIT_TYPE" val="n_h_h_i"/>
  <p:tag name="KSO_WM_UNIT_INDEX" val="1_2_2_2"/>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i*1_2_3_2"/>
  <p:tag name="KSO_WM_TEMPLATE_CATEGORY" val="diagram"/>
  <p:tag name="KSO_WM_TEMPLATE_INDEX" val="20230321"/>
  <p:tag name="KSO_WM_UNIT_LAYERLEVEL" val="1_1_1_1"/>
  <p:tag name="KSO_WM_TAG_VERSION" val="3.0"/>
  <p:tag name="KSO_WM_DIAGRAM_GROUP_CODE" val="n1-1"/>
  <p:tag name="KSO_WM_UNIT_TYPE" val="n_h_h_i"/>
  <p:tag name="KSO_WM_UNIT_INDEX" val="1_2_3_2"/>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i*1_2_4_2"/>
  <p:tag name="KSO_WM_TEMPLATE_CATEGORY" val="diagram"/>
  <p:tag name="KSO_WM_TEMPLATE_INDEX" val="20230321"/>
  <p:tag name="KSO_WM_UNIT_LAYERLEVEL" val="1_1_1_1"/>
  <p:tag name="KSO_WM_TAG_VERSION" val="3.0"/>
  <p:tag name="KSO_WM_DIAGRAM_GROUP_CODE" val="n1-1"/>
  <p:tag name="KSO_WM_UNIT_TYPE" val="n_h_h_i"/>
  <p:tag name="KSO_WM_UNIT_INDEX" val="1_2_4_2"/>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i*1_2_1_2"/>
  <p:tag name="KSO_WM_TEMPLATE_CATEGORY" val="diagram"/>
  <p:tag name="KSO_WM_TEMPLATE_INDEX" val="20230321"/>
  <p:tag name="KSO_WM_UNIT_LAYERLEVEL" val="1_1_1_1"/>
  <p:tag name="KSO_WM_TAG_VERSION" val="3.0"/>
  <p:tag name="KSO_WM_DIAGRAM_GROUP_CODE" val="n1-1"/>
  <p:tag name="KSO_WM_UNIT_TYPE" val="n_h_h_i"/>
  <p:tag name="KSO_WM_UNIT_INDEX" val="1_2_1_2"/>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quot;colorType&quot;:2,&quot;pos&quot;:0.3700000047683716,&quot;rgb&quot;:&quot;#ffffff&quot;,&quot;transparency&quot;:0},{&quot;brightness&quot;:0.550000011920929,&quot;colorType&quot;:1,&quot;foreColorIndex&quot;:5,&quot;pos&quot;:0,&quot;transparency&quot;:0},{&quot;brightness&quot;:0,&quot;colorType&quot;:2,&quot;pos&quot;:1,&quot;rgb&quot;:&quot;#ffffff&quot;,&quot;transparency&quot;:0},{&quot;brightness&quot;:0.699999988079071,&quot;colorType&quot;:1,&quot;foreColorIndex&quot;:5,&quot;pos&quot;:0.7099999785423279,&quot;transparency&quot;:0}],&quot;type&quot;:2},&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SHADOW_SCHEMECOLOR_INDEX" val="5"/>
  <p:tag name="KSO_WM_UNIT_TEXT_FILL_FORE_SCHEMECOLOR_INDEX" val="2"/>
  <p:tag name="KSO_WM_UNIT_TEXT_FILL_TYPE" val="1"/>
  <p:tag name="KSO_WM_UNIT_USESOURCEFORMAT_APPLY"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i*1_2_1_1"/>
  <p:tag name="KSO_WM_TEMPLATE_CATEGORY" val="diagram"/>
  <p:tag name="KSO_WM_TEMPLATE_INDEX" val="20230321"/>
  <p:tag name="KSO_WM_UNIT_LAYERLEVEL" val="1_1_1_1"/>
  <p:tag name="KSO_WM_TAG_VERSION" val="3.0"/>
  <p:tag name="KSO_WM_DIAGRAM_GROUP_CODE" val="n1-1"/>
  <p:tag name="KSO_WM_UNIT_TYPE" val="n_h_h_i"/>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gradient&quot;:[{&quot;brightness&quot;:0.800000011920929,&quot;colorType&quot;:1,&quot;foreColorIndex&quot;:5,&quot;pos&quot;:0,&quot;transparency&quot;:1},{&quot;brightness&quot;:0,&quot;colorType&quot;:1,&quot;foreColorIndex&quot;:5,&quot;pos&quot;:0.94999998807907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f*1_2_1_1"/>
  <p:tag name="KSO_WM_TEMPLATE_CATEGORY" val="diagram"/>
  <p:tag name="KSO_WM_TEMPLATE_INDEX" val="20230321"/>
  <p:tag name="KSO_WM_UNIT_LAYERLEVEL" val="1_1_1_1"/>
  <p:tag name="KSO_WM_TAG_VERSION" val="3.0"/>
  <p:tag name="KSO_WM_UNIT_SUBTYPE" val="a"/>
  <p:tag name="KSO_WM_UNIT_NOCLEAR" val="0"/>
  <p:tag name="KSO_WM_UNIT_VALUE" val="90"/>
  <p:tag name="KSO_WM_DIAGRAM_GROUP_CODE" val="n1-1"/>
  <p:tag name="KSO_WM_UNIT_TYPE" val="n_h_h_f"/>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UNIT_USESOURCEFORMAT_APPLY"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a*1_2_1_1"/>
  <p:tag name="KSO_WM_TEMPLATE_CATEGORY" val="diagram"/>
  <p:tag name="KSO_WM_TEMPLATE_INDEX" val="20230321"/>
  <p:tag name="KSO_WM_UNIT_LAYERLEVEL" val="1_1_1_1"/>
  <p:tag name="KSO_WM_TAG_VERSION" val="3.0"/>
  <p:tag name="KSO_WM_UNIT_ISCONTENTSTITLE" val="0"/>
  <p:tag name="KSO_WM_UNIT_ISNUMDGMTITLE" val="0"/>
  <p:tag name="KSO_WM_UNIT_NOCLEAR" val="0"/>
  <p:tag name="KSO_WM_UNIT_VALUE" val="24"/>
  <p:tag name="KSO_WM_DIAGRAM_GROUP_CODE" val="n1-1"/>
  <p:tag name="KSO_WM_UNIT_TYPE" val="n_h_h_a"/>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f*1_2_4_1"/>
  <p:tag name="KSO_WM_TEMPLATE_CATEGORY" val="diagram"/>
  <p:tag name="KSO_WM_TEMPLATE_INDEX" val="20230321"/>
  <p:tag name="KSO_WM_UNIT_LAYERLEVEL" val="1_1_1_1"/>
  <p:tag name="KSO_WM_TAG_VERSION" val="3.0"/>
  <p:tag name="KSO_WM_UNIT_SUBTYPE" val="a"/>
  <p:tag name="KSO_WM_UNIT_NOCLEAR" val="0"/>
  <p:tag name="KSO_WM_UNIT_VALUE" val="90"/>
  <p:tag name="KSO_WM_DIAGRAM_GROUP_CODE" val="n1-1"/>
  <p:tag name="KSO_WM_UNIT_TYPE" val="n_h_h_f"/>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添加文本，简明扼要地阐述您的观点"/>
  <p:tag name="KSO_WM_UNIT_TEXT_FILL_FORE_SCHEMECOLOR_INDEX" val="1"/>
  <p:tag name="KSO_WM_UNIT_TEXT_FILL_TYPE" val="1"/>
  <p:tag name="KSO_WM_UNIT_USESOURCEFORMAT_APPLY"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i*1_2_4_1"/>
  <p:tag name="KSO_WM_TEMPLATE_CATEGORY" val="diagram"/>
  <p:tag name="KSO_WM_TEMPLATE_INDEX" val="20230321"/>
  <p:tag name="KSO_WM_UNIT_LAYERLEVEL" val="1_1_1_1"/>
  <p:tag name="KSO_WM_TAG_VERSION" val="3.0"/>
  <p:tag name="KSO_WM_DIAGRAM_GROUP_CODE" val="n1-1"/>
  <p:tag name="KSO_WM_UNIT_TYPE" val="n_h_h_i"/>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gradient&quot;:[{&quot;brightness&quot;:0.800000011920929,&quot;colorType&quot;:1,&quot;foreColorIndex&quot;:5,&quot;pos&quot;:0,&quot;transparency&quot;:1},{&quot;brightness&quot;:0,&quot;colorType&quot;:1,&quot;foreColorIndex&quot;:5,&quot;pos&quot;:0.94999998807907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a*1_2_4_1"/>
  <p:tag name="KSO_WM_TEMPLATE_CATEGORY" val="diagram"/>
  <p:tag name="KSO_WM_TEMPLATE_INDEX" val="20230321"/>
  <p:tag name="KSO_WM_UNIT_LAYERLEVEL" val="1_1_1_1"/>
  <p:tag name="KSO_WM_TAG_VERSION" val="3.0"/>
  <p:tag name="KSO_WM_UNIT_ISCONTENTSTITLE" val="0"/>
  <p:tag name="KSO_WM_UNIT_ISNUMDGMTITLE" val="0"/>
  <p:tag name="KSO_WM_UNIT_NOCLEAR" val="0"/>
  <p:tag name="KSO_WM_UNIT_VALUE" val="24"/>
  <p:tag name="KSO_WM_DIAGRAM_GROUP_CODE" val="n1-1"/>
  <p:tag name="KSO_WM_UNIT_TYPE" val="n_h_h_a"/>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i*1_2_2_1"/>
  <p:tag name="KSO_WM_TEMPLATE_CATEGORY" val="diagram"/>
  <p:tag name="KSO_WM_TEMPLATE_INDEX" val="20230321"/>
  <p:tag name="KSO_WM_UNIT_LAYERLEVEL" val="1_1_1_1"/>
  <p:tag name="KSO_WM_TAG_VERSION" val="3.0"/>
  <p:tag name="KSO_WM_DIAGRAM_GROUP_CODE" val="n1-1"/>
  <p:tag name="KSO_WM_UNIT_TYPE" val="n_h_h_i"/>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gradient&quot;:[{&quot;brightness&quot;:0,&quot;colorType&quot;:2,&quot;pos&quot;:0,&quot;rgb&quot;:&quot;#afc6ff&quot;,&quot;transparency&quot;:1},{&quot;brightness&quot;:0,&quot;colorType&quot;:1,&quot;foreColorIndex&quot;:5,&quot;pos&quot;:0.94999998807907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f*1_2_2_1"/>
  <p:tag name="KSO_WM_TEMPLATE_CATEGORY" val="diagram"/>
  <p:tag name="KSO_WM_TEMPLATE_INDEX" val="20230321"/>
  <p:tag name="KSO_WM_UNIT_LAYERLEVEL" val="1_1_1_1"/>
  <p:tag name="KSO_WM_TAG_VERSION" val="3.0"/>
  <p:tag name="KSO_WM_UNIT_SUBTYPE" val="a"/>
  <p:tag name="KSO_WM_UNIT_NOCLEAR" val="0"/>
  <p:tag name="KSO_WM_UNIT_VALUE" val="90"/>
  <p:tag name="KSO_WM_DIAGRAM_GROUP_CODE" val="n1-1"/>
  <p:tag name="KSO_WM_UNIT_TYPE" val="n_h_h_f"/>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简明扼要地阐述您的观点"/>
  <p:tag name="KSO_WM_UNIT_TEXT_FILL_FORE_SCHEMECOLOR_INDEX" val="1"/>
  <p:tag name="KSO_WM_UNIT_TEXT_FILL_TYPE" val="1"/>
  <p:tag name="KSO_WM_UNIT_USESOURCEFORMAT_APPLY"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a*1_2_2_1"/>
  <p:tag name="KSO_WM_TEMPLATE_CATEGORY" val="diagram"/>
  <p:tag name="KSO_WM_TEMPLATE_INDEX" val="20230321"/>
  <p:tag name="KSO_WM_UNIT_LAYERLEVEL" val="1_1_1_1"/>
  <p:tag name="KSO_WM_TAG_VERSION" val="3.0"/>
  <p:tag name="KSO_WM_UNIT_ISCONTENTSTITLE" val="0"/>
  <p:tag name="KSO_WM_UNIT_ISNUMDGMTITLE" val="0"/>
  <p:tag name="KSO_WM_UNIT_NOCLEAR" val="0"/>
  <p:tag name="KSO_WM_UNIT_VALUE" val="24"/>
  <p:tag name="KSO_WM_DIAGRAM_GROUP_CODE" val="n1-1"/>
  <p:tag name="KSO_WM_UNIT_TYPE" val="n_h_h_a"/>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i*1_2_3_1"/>
  <p:tag name="KSO_WM_TEMPLATE_CATEGORY" val="diagram"/>
  <p:tag name="KSO_WM_TEMPLATE_INDEX" val="20230321"/>
  <p:tag name="KSO_WM_UNIT_LAYERLEVEL" val="1_1_1_1"/>
  <p:tag name="KSO_WM_TAG_VERSION" val="3.0"/>
  <p:tag name="KSO_WM_DIAGRAM_GROUP_CODE" val="n1-1"/>
  <p:tag name="KSO_WM_UNIT_TYPE" val="n_h_h_i"/>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gradient&quot;:[{&quot;brightness&quot;:0,&quot;colorType&quot;:2,&quot;pos&quot;:0,&quot;rgb&quot;:&quot;#afc6ff&quot;,&quot;transparency&quot;:1},{&quot;brightness&quot;:0,&quot;colorType&quot;:1,&quot;foreColorIndex&quot;:5,&quot;pos&quot;:0.94999998807907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USESOURCEFORMAT_APPLY" val="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321_3*n_h_h_x*1_2_1_1"/>
  <p:tag name="KSO_WM_TEMPLATE_CATEGORY" val="diagram"/>
  <p:tag name="KSO_WM_TEMPLATE_INDEX" val="20230321"/>
  <p:tag name="KSO_WM_UNIT_LAYERLEVEL" val="1_1_1_1"/>
  <p:tag name="KSO_WM_TAG_VERSION" val="3.0"/>
  <p:tag name="KSO_WM_DIAGRAM_VERSION" val="3"/>
  <p:tag name="KSO_WM_DIAGRAM_COLOR_TRICK" val="1"/>
  <p:tag name="KSO_WM_DIAGRAM_COLOR_TEXT_CAN_REMOVE" val="n"/>
  <p:tag name="KSO_WM_UNIT_VALUE" val="62*72"/>
  <p:tag name="KSO_WM_UNIT_TYPE" val="n_h_h_x"/>
  <p:tag name="KSO_WM_UNIT_INDEX" val="1_2_1_1"/>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321_3*n_h_h_x*1_2_2_1"/>
  <p:tag name="KSO_WM_TEMPLATE_CATEGORY" val="diagram"/>
  <p:tag name="KSO_WM_TEMPLATE_INDEX" val="20230321"/>
  <p:tag name="KSO_WM_UNIT_LAYERLEVEL" val="1_1_1_1"/>
  <p:tag name="KSO_WM_TAG_VERSION" val="3.0"/>
  <p:tag name="KSO_WM_DIAGRAM_VERSION" val="3"/>
  <p:tag name="KSO_WM_DIAGRAM_COLOR_TRICK" val="1"/>
  <p:tag name="KSO_WM_DIAGRAM_COLOR_TEXT_CAN_REMOVE" val="n"/>
  <p:tag name="KSO_WM_UNIT_VALUE" val="58*65"/>
  <p:tag name="KSO_WM_UNIT_TYPE" val="n_h_h_x"/>
  <p:tag name="KSO_WM_UNIT_INDEX" val="1_2_2_1"/>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f*1_2_3_1"/>
  <p:tag name="KSO_WM_TEMPLATE_CATEGORY" val="diagram"/>
  <p:tag name="KSO_WM_TEMPLATE_INDEX" val="20230321"/>
  <p:tag name="KSO_WM_UNIT_LAYERLEVEL" val="1_1_1_1"/>
  <p:tag name="KSO_WM_TAG_VERSION" val="3.0"/>
  <p:tag name="KSO_WM_UNIT_SUBTYPE" val="a"/>
  <p:tag name="KSO_WM_UNIT_NOCLEAR" val="0"/>
  <p:tag name="KSO_WM_UNIT_VALUE" val="90"/>
  <p:tag name="KSO_WM_DIAGRAM_GROUP_CODE" val="n1-1"/>
  <p:tag name="KSO_WM_UNIT_TYPE" val="n_h_h_f"/>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TEXT_LAYER_COUNT" val="1"/>
  <p:tag name="KSO_WM_UNIT_PRESET_TEXT" val="单击此处添加文本内容，简明扼要地阐述您的观点"/>
  <p:tag name="KSO_WM_UNIT_TEXT_FILL_FORE_SCHEMECOLOR_INDEX" val="1"/>
  <p:tag name="KSO_WM_UNIT_TEXT_FILL_TYPE" val="1"/>
  <p:tag name="KSO_WM_UNIT_USESOURCEFORMAT_APPLY"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321_3*n_h_h_a*1_2_3_1"/>
  <p:tag name="KSO_WM_TEMPLATE_CATEGORY" val="diagram"/>
  <p:tag name="KSO_WM_TEMPLATE_INDEX" val="20230321"/>
  <p:tag name="KSO_WM_UNIT_LAYERLEVEL" val="1_1_1_1"/>
  <p:tag name="KSO_WM_TAG_VERSION" val="3.0"/>
  <p:tag name="KSO_WM_UNIT_ISCONTENTSTITLE" val="0"/>
  <p:tag name="KSO_WM_UNIT_ISNUMDGMTITLE" val="0"/>
  <p:tag name="KSO_WM_UNIT_NOCLEAR" val="0"/>
  <p:tag name="KSO_WM_UNIT_VALUE" val="24"/>
  <p:tag name="KSO_WM_DIAGRAM_GROUP_CODE" val="n1-1"/>
  <p:tag name="KSO_WM_UNIT_TYPE" val="n_h_h_a"/>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UNIT_PRESET_TEXT" val="添加标题"/>
  <p:tag name="KSO_WM_UNIT_TEXT_FILL_FORE_SCHEMECOLOR_INDEX" val="1"/>
  <p:tag name="KSO_WM_UNIT_TEXT_FILL_TYPE" val="1"/>
  <p:tag name="KSO_WM_UNIT_USESOURCEFORMAT_APPLY"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321_3*n_h_h_x*1_2_3_1"/>
  <p:tag name="KSO_WM_TEMPLATE_CATEGORY" val="diagram"/>
  <p:tag name="KSO_WM_TEMPLATE_INDEX" val="20230321"/>
  <p:tag name="KSO_WM_UNIT_LAYERLEVEL" val="1_1_1_1"/>
  <p:tag name="KSO_WM_TAG_VERSION" val="3.0"/>
  <p:tag name="KSO_WM_DIAGRAM_VERSION" val="3"/>
  <p:tag name="KSO_WM_DIAGRAM_COLOR_TRICK" val="1"/>
  <p:tag name="KSO_WM_DIAGRAM_COLOR_TEXT_CAN_REMOVE" val="n"/>
  <p:tag name="KSO_WM_UNIT_VALUE" val="71*61"/>
  <p:tag name="KSO_WM_UNIT_TYPE" val="n_h_h_x"/>
  <p:tag name="KSO_WM_UNIT_INDEX" val="1_2_3_1"/>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230321_3*n_h_h_x*1_2_4_1"/>
  <p:tag name="KSO_WM_TEMPLATE_CATEGORY" val="diagram"/>
  <p:tag name="KSO_WM_TEMPLATE_INDEX" val="20230321"/>
  <p:tag name="KSO_WM_UNIT_LAYERLEVEL" val="1_1_1_1"/>
  <p:tag name="KSO_WM_TAG_VERSION" val="3.0"/>
  <p:tag name="KSO_WM_DIAGRAM_VERSION" val="3"/>
  <p:tag name="KSO_WM_DIAGRAM_COLOR_TRICK" val="1"/>
  <p:tag name="KSO_WM_DIAGRAM_COLOR_TEXT_CAN_REMOVE" val="n"/>
  <p:tag name="KSO_WM_UNIT_VALUE" val="71*71"/>
  <p:tag name="KSO_WM_UNIT_TYPE" val="n_h_h_x"/>
  <p:tag name="KSO_WM_UNIT_INDEX" val="1_2_4_1"/>
  <p:tag name="KSO_WM_DIAGRAM_MAX_ITEMCNT" val="6"/>
  <p:tag name="KSO_WM_DIAGRAM_MIN_ITEMCNT" val="2"/>
  <p:tag name="KSO_WM_DIAGRAM_VIRTUALLY_FRAME" val="{&quot;height&quot;:424.1444094488189,&quot;left&quot;:0.05,&quot;top&quot;:114.35559055118111,&quot;width&quot;:934}"/>
  <p:tag name="KSO_WM_DIAGRAM_COLOR_MATCH_VALUE" val="{&quot;shape&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quot;text&quot;:{&quot;fill&quot;:{},&quot;glow&quot;:{},&quot;line&quot;:{},&quot;shadow&quot;:{},&quot;threeD&quot;:{}}}"/>
  <p:tag name="KSO_WM_UNIT_USESOURCEFORMAT_APPLY" val="1"/>
</p:tagLst>
</file>

<file path=ppt/tags/tag3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307_2*a*1"/>
  <p:tag name="KSO_WM_TEMPLATE_CATEGORY" val="diagram"/>
  <p:tag name="KSO_WM_TEMPLATE_INDEX" val="20231307"/>
  <p:tag name="KSO_WM_UNIT_LAYERLEVEL" val="1"/>
  <p:tag name="KSO_WM_TAG_VERSION" val="3.0"/>
  <p:tag name="KSO_WM_BEAUTIFY_FLAG" val="#wm#"/>
  <p:tag name="KSO_WM_UNIT_TEXT_TYPE" val="1"/>
  <p:tag name="KSO_WM_UNIT_PRESET_TEXT" val="单击此处添加标题"/>
  <p:tag name="KSO_WM_UNIT_TEXT_FILL_FORE_SCHEMECOLOR_INDEX" val="5"/>
  <p:tag name="KSO_WM_UNIT_USESOURCEFORMAT_APPLY" val="1"/>
</p:tagLst>
</file>

<file path=ppt/tags/tag3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307_2*l_h_i*1_3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523.4,&quot;left&quot;:37.75,&quot;top&quot;:26.2,&quot;width&quot;:868.8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FILL_TYPE" val="1"/>
  <p:tag name="KSO_WM_UNIT_FILL_FORE_SCHEMECOLOR_INDEX" val="5"/>
  <p:tag name="KSO_WM_UNIT_FILL_FORE_SCHEMECOLOR_INDEX_BRIGHTNESS" val="0"/>
  <p:tag name="KSO_WM_UNIT_USESOURCEFORMAT_APPLY" val="1"/>
</p:tagLst>
</file>

<file path=ppt/tags/tag35.xml><?xml version="1.0" encoding="utf-8"?>
<p:tagLst xmlns:p="http://schemas.openxmlformats.org/presentationml/2006/main">
  <p:tag name="KSO_WM_DIAGRAM_VIRTUALLY_FRAME" val="{&quot;height&quot;:523.4,&quot;left&quot;:37.75,&quot;top&quot;:26.2,&quot;width&quot;:868.8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307_2*l_h_f*1_3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LINE_FORE_SCHEMECOLOR_INDEX" val="5"/>
  <p:tag name="KSO_WM_UNIT_LINE_FILL_TYPE" val="2"/>
  <p:tag name="KSO_WM_UNIT_TEXT_FILL_FORE_SCHEMECOLOR_INDEX" val="13"/>
  <p:tag name="KSO_WM_UNIT_TEXT_FILL_TYPE" val="1"/>
  <p:tag name="KSO_WM_UNIT_USESOURCEFORMAT_APPLY" val="1"/>
</p:tagLst>
</file>

<file path=ppt/tags/tag36.xml><?xml version="1.0" encoding="utf-8"?>
<p:tagLst xmlns:p="http://schemas.openxmlformats.org/presentationml/2006/main">
  <p:tag name="KSO_WM_DIAGRAM_VIRTUALLY_FRAME" val="{&quot;height&quot;:523.4,&quot;left&quot;:37.75,&quot;top&quot;:26.2,&quot;width&quot;:868.85}"/>
  <p:tag name="KSO_WM_DIAGRAM_VERSION" val="3"/>
  <p:tag name="KSO_WM_DIAGRAM_COLOR_TRICK" val="1"/>
  <p:tag name="KSO_WM_DIAGRAM_COLOR_TEXT_CAN_REMOVE" val="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1307_2*l_h_f*1_3_1"/>
  <p:tag name="KSO_WM_TEMPLATE_CATEGORY" val="diagram"/>
  <p:tag name="KSO_WM_TEMPLATE_INDEX" val="20231307"/>
  <p:tag name="KSO_WM_UNIT_LAYERLEVEL" val="1_1_1"/>
  <p:tag name="KSO_WM_TAG_VERSION" val="3.0"/>
  <p:tag name="KSO_WM_UNIT_TEXT_TYPE" val="1"/>
  <p:tag name="KSO_WM_DIAGRAM_MAX_ITEMCNT" val="4"/>
  <p:tag name="KSO_WM_DIAGRAM_MIN_ITEMCNT" val="2"/>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17"/>
  <p:tag name="KSO_WM_UNIT_PRESET_TEXT" val="单击此处添加文本具体内容，简明扼要地阐述您的观点。根据需要可酌情增减文字，以便观者准确地理解您传达的思想。单击此处添加文本具体内容，简明扼要地阐述您的观点。根据需要可酌情增减文字，以便观者准确地理解。"/>
  <p:tag name="KSO_WM_UNIT_LINE_FORE_SCHEMECOLOR_INDEX" val="5"/>
  <p:tag name="KSO_WM_UNIT_LINE_FILL_TYPE" val="2"/>
  <p:tag name="KSO_WM_UNIT_TEXT_FILL_FORE_SCHEMECOLOR_INDEX" val="13"/>
  <p:tag name="KSO_WM_UNIT_TEXT_FILL_TYPE" val="1"/>
  <p:tag name="KSO_WM_UNIT_USESOURCEFORMAT_APPLY" val="1"/>
</p:tagLst>
</file>

<file path=ppt/tags/tag3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307_2*l_h_i*1_3_2"/>
  <p:tag name="KSO_WM_TEMPLATE_CATEGORY" val="diagram"/>
  <p:tag name="KSO_WM_TEMPLATE_INDEX" val="20231307"/>
  <p:tag name="KSO_WM_UNIT_LAYERLEVEL" val="1_1_1"/>
  <p:tag name="KSO_WM_TAG_VERSION" val="3.0"/>
  <p:tag name="KSO_WM_DIAGRAM_MAX_ITEMCNT" val="4"/>
  <p:tag name="KSO_WM_DIAGRAM_MIN_ITEMCNT" val="2"/>
  <p:tag name="KSO_WM_DIAGRAM_VIRTUALLY_FRAME" val="{&quot;height&quot;:523.4,&quot;left&quot;:37.75,&quot;top&quot;:26.2,&quot;width&quot;:868.8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262626&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USESOURCEFORMAT_APPLY" val="1"/>
</p:tagLst>
</file>

<file path=ppt/tags/tag3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diagram20235009_1*a*1"/>
  <p:tag name="KSO_WM_TEMPLATE_CATEGORY" val="diagram"/>
  <p:tag name="KSO_WM_TEMPLATE_INDEX" val="20235009"/>
  <p:tag name="KSO_WM_UNIT_LAYERLEVEL" val="1"/>
  <p:tag name="KSO_WM_TAG_VERSION" val="3.0"/>
  <p:tag name="KSO_WM_BEAUTIFY_FLAG" val="#wm#"/>
  <p:tag name="KSO_WM_DIAGRAM_GROUP_CODE" val="l1-1"/>
  <p:tag name="KSO_WM_UNIT_TEXT_TYPE" val="1"/>
  <p:tag name="KSO_WM_UNIT_PRESET_TEXT" val="单击此处添加标题"/>
  <p:tag name="KSO_WM_UNIT_TEXT_FILL_FORE_SCHEMECOLOR_INDEX" val="5"/>
  <p:tag name="KSO_WM_UNIT_USESOURCEFORMAT_APPLY" val="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5009_1*l_h_i*1_1_3"/>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gradient&quot;:[{&quot;brightness&quot;:0,&quot;colorType&quot;:1,&quot;foreColorIndex&quot;:5,&quot;pos&quot;:0,&quot;transparency&quot;:0.6000000238418579},{&quot;brightness&quot;:0,&quot;colorType&quot;:2,&quot;pos&quot;:1,&quot;rgb&quot;:&quot;#ffffff&quot;,&quot;transparency&quot;:1}],&quot;type&quot;:3},&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FILL_FORE_SCHEMECOLOR_INDEX" val="5"/>
  <p:tag name="KSO_WM_UNIT_LINE_FILL_TYPE" val="2"/>
  <p:tag name="KSO_WM_UNIT_TEXT_FILL_FORE_SCHEMECOLOR_INDEX" val="2"/>
  <p:tag name="KSO_WM_UNIT_TEXT_FILL_TYPE" val="1"/>
  <p:tag name="KSO_WM_UNIT_USESOURCEFORMAT_APPLY" val="1"/>
</p:tagLst>
</file>

<file path=ppt/tags/tag40.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5009_1*l_h_a*1_1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_INDEX" val="0"/>
  <p:tag name="KSO_WM_UNIT_PRESET_TEXT_LEN" val="0"/>
  <p:tag name="KSO_WM_UNIT_PRESET_TEXT" val="项标题"/>
  <p:tag name="KSO_WM_UNIT_TEXT_FILL_FORE_SCHEMECOLOR_INDEX" val="1"/>
  <p:tag name="KSO_WM_UNIT_TEXT_FILL_TYPE" val="1"/>
  <p:tag name="KSO_WM_UNIT_USESOURCEFORMAT_APPLY"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diagram20235009_1*l_h_i*1_2_3"/>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gradient&quot;:[{&quot;brightness&quot;:0,&quot;colorType&quot;:1,&quot;foreColorIndex&quot;:5,&quot;pos&quot;:0,&quot;transparency&quot;:0.6000000238418579},{&quot;brightness&quot;:0,&quot;colorType&quot;:2,&quot;pos&quot;:1,&quot;rgb&quot;:&quot;#ffffff&quot;,&quot;transparency&quot;:1}],&quot;type&quot;:3},&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FILL_FORE_SCHEMECOLOR_INDEX" val="5"/>
  <p:tag name="KSO_WM_UNIT_LINE_FILL_TYPE" val="2"/>
  <p:tag name="KSO_WM_UNIT_TEXT_FILL_FORE_SCHEMECOLOR_INDEX" val="2"/>
  <p:tag name="KSO_WM_UNIT_TEXT_FILL_TYPE" val="1"/>
  <p:tag name="KSO_WM_UNIT_USESOURCEFORMAT_APPLY" val="1"/>
</p:tagLst>
</file>

<file path=ppt/tags/tag42.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2_1"/>
  <p:tag name="KSO_WM_UNIT_ID" val="diagram20235009_1*l_h_a*1_2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_INDEX" val="0"/>
  <p:tag name="KSO_WM_UNIT_PRESET_TEXT_LEN" val="0"/>
  <p:tag name="KSO_WM_UNIT_PRESET_TEXT" val="添加标题"/>
  <p:tag name="KSO_WM_UNIT_TEXT_FILL_FORE_SCHEMECOLOR_INDEX" val="1"/>
  <p:tag name="KSO_WM_UNIT_TEXT_FILL_TYPE" val="1"/>
  <p:tag name="KSO_WM_UNIT_USESOURCEFORMAT_APPLY" val="1"/>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5009_1*l_h_i*1_3_3"/>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gradient&quot;:[{&quot;brightness&quot;:0,&quot;colorType&quot;:1,&quot;foreColorIndex&quot;:5,&quot;pos&quot;:0,&quot;transparency&quot;:0.6000000238418579},{&quot;brightness&quot;:0,&quot;colorType&quot;:2,&quot;pos&quot;:1,&quot;rgb&quot;:&quot;#ffffff&quot;,&quot;transparency&quot;:1}],&quot;type&quot;:3},&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FILL_FORE_SCHEMECOLOR_INDEX" val="5"/>
  <p:tag name="KSO_WM_UNIT_LINE_FILL_TYPE" val="2"/>
  <p:tag name="KSO_WM_UNIT_TEXT_FILL_FORE_SCHEMECOLOR_INDEX" val="2"/>
  <p:tag name="KSO_WM_UNIT_TEXT_FILL_TYPE" val="1"/>
  <p:tag name="KSO_WM_UNIT_USESOURCEFORMAT_APPLY" val="1"/>
</p:tagLst>
</file>

<file path=ppt/tags/tag44.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3_1"/>
  <p:tag name="KSO_WM_UNIT_ID" val="diagram20235009_1*l_h_a*1_3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_INDEX" val="0"/>
  <p:tag name="KSO_WM_UNIT_PRESET_TEXT_LEN" val="0"/>
  <p:tag name="KSO_WM_UNIT_PRESET_TEXT" val="添加标题"/>
  <p:tag name="KSO_WM_UNIT_TEXT_FILL_FORE_SCHEMECOLOR_INDEX" val="1"/>
  <p:tag name="KSO_WM_UNIT_TEXT_FILL_TYPE" val="1"/>
  <p:tag name="KSO_WM_UNIT_USESOURCEFORMAT_APPLY"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diagram20235009_1*l_h_i*1_4_3"/>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gradient&quot;:[{&quot;brightness&quot;:0,&quot;colorType&quot;:1,&quot;foreColorIndex&quot;:5,&quot;pos&quot;:0,&quot;transparency&quot;:0.6000000238418579},{&quot;brightness&quot;:0,&quot;colorType&quot;:2,&quot;pos&quot;:1,&quot;rgb&quot;:&quot;#ffffff&quot;,&quot;transparency&quot;:1}],&quot;type&quot;:3},&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FILL_FORE_SCHEMECOLOR_INDEX" val="5"/>
  <p:tag name="KSO_WM_UNIT_LINE_FILL_TYPE" val="2"/>
  <p:tag name="KSO_WM_UNIT_TEXT_FILL_FORE_SCHEMECOLOR_INDEX" val="2"/>
  <p:tag name="KSO_WM_UNIT_TEXT_FILL_TYPE" val="1"/>
  <p:tag name="KSO_WM_UNIT_USESOURCEFORMAT_APPLY" val="1"/>
</p:tagLst>
</file>

<file path=ppt/tags/tag46.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4_1"/>
  <p:tag name="KSO_WM_UNIT_ID" val="diagram20235009_1*l_h_a*1_4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_INDEX" val="0"/>
  <p:tag name="KSO_WM_UNIT_PRESET_TEXT_LEN" val="0"/>
  <p:tag name="KSO_WM_UNIT_PRESET_TEXT" val="项标题"/>
  <p:tag name="KSO_WM_UNIT_TEXT_FILL_FORE_SCHEMECOLOR_INDEX" val="1"/>
  <p:tag name="KSO_WM_UNIT_TEXT_FILL_TYPE" val="1"/>
  <p:tag name="KSO_WM_UNIT_USESOURCEFORMAT_APPLY"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3"/>
  <p:tag name="KSO_WM_UNIT_ID" val="diagram20235009_1*l_h_i*1_5_3"/>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gradient&quot;:[{&quot;brightness&quot;:0,&quot;colorType&quot;:1,&quot;foreColorIndex&quot;:5,&quot;pos&quot;:0,&quot;transparency&quot;:0.6000000238418579},{&quot;brightness&quot;:0,&quot;colorType&quot;:2,&quot;pos&quot;:1,&quot;rgb&quot;:&quot;#ffffff&quot;,&quot;transparency&quot;:1}],&quot;type&quot;:3},&quot;glow&quot;:{&quot;colorType&quot;:0},&quot;line&quot;:{&quot;solidLine&quot;:{&quot;brightness&quot;:0,&quot;colorType&quot;:1,&quot;foreColorIndex&quot;:5,&quot;transparency&quot;:0.80000001192092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FILL_FORE_SCHEMECOLOR_INDEX" val="5"/>
  <p:tag name="KSO_WM_UNIT_LINE_FILL_TYPE" val="2"/>
  <p:tag name="KSO_WM_UNIT_TEXT_FILL_FORE_SCHEMECOLOR_INDEX" val="2"/>
  <p:tag name="KSO_WM_UNIT_TEXT_FILL_TYPE" val="1"/>
  <p:tag name="KSO_WM_UNIT_USESOURCEFORMAT_APPLY" val="1"/>
</p:tagLst>
</file>

<file path=ppt/tags/tag48.xml><?xml version="1.0" encoding="utf-8"?>
<p:tagLst xmlns:p="http://schemas.openxmlformats.org/presentationml/2006/main">
  <p:tag name="KSO_WM_UNIT_ISCONTENTSTITLE" val="0"/>
  <p:tag name="KSO_WM_UNIT_ISNUMDGMTITLE" val="0"/>
  <p:tag name="KSO_WM_UNIT_NOCLEAR" val="0"/>
  <p:tag name="KSO_WM_UNIT_VALUE" val="18"/>
  <p:tag name="KSO_WM_UNIT_HIGHLIGHT" val="0"/>
  <p:tag name="KSO_WM_UNIT_COMPATIBLE" val="0"/>
  <p:tag name="KSO_WM_UNIT_DIAGRAM_ISNUMVISUAL" val="0"/>
  <p:tag name="KSO_WM_UNIT_DIAGRAM_ISREFERUNIT" val="0"/>
  <p:tag name="KSO_WM_DIAGRAM_GROUP_CODE" val="l1-1"/>
  <p:tag name="KSO_WM_UNIT_TYPE" val="l_h_a"/>
  <p:tag name="KSO_WM_UNIT_INDEX" val="1_5_1"/>
  <p:tag name="KSO_WM_UNIT_ID" val="diagram20235009_1*l_h_a*1_5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PRESET_TEXT_INDEX" val="0"/>
  <p:tag name="KSO_WM_UNIT_PRESET_TEXT_LEN" val="0"/>
  <p:tag name="KSO_WM_UNIT_PRESET_TEXT" val="项标题"/>
  <p:tag name="KSO_WM_UNIT_TEXT_FILL_FORE_SCHEMECOLOR_INDEX" val="1"/>
  <p:tag name="KSO_WM_UNIT_TEXT_FILL_TYPE" val="1"/>
  <p:tag name="KSO_WM_UNIT_USESOURCEFORMAT_APPLY" val="1"/>
</p:tagLst>
</file>

<file path=ppt/tags/tag49.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5009_1*l_h_f*1_1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TEXT_LAYER_COUNT" val="1"/>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5"/>
  <p:tag name="KSO_WM_UNIT_ID" val="diagram20235009_1*l_h_i*1_1_5"/>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SHADOW_SCHEMECOLOR_INDEX" val="5"/>
  <p:tag name="KSO_WM_UNIT_USESOURCEFORMAT_APPLY" val="1"/>
</p:tagLst>
</file>

<file path=ppt/tags/tag51.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5009_1*l_h_f*1_2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TEXT_LAYER_COUNT" val="1"/>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5"/>
  <p:tag name="KSO_WM_UNIT_ID" val="diagram20235009_1*l_h_i*1_2_5"/>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SHADOW_SCHEMECOLOR_INDEX" val="5"/>
  <p:tag name="KSO_WM_UNIT_USESOURCEFORMAT_APPLY" val="1"/>
</p:tagLst>
</file>

<file path=ppt/tags/tag53.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diagram20235009_1*l_h_f*1_3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TEXT_LAYER_COUNT" val="1"/>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5"/>
  <p:tag name="KSO_WM_UNIT_ID" val="diagram20235009_1*l_h_i*1_3_5"/>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SHADOW_SCHEMECOLOR_INDEX" val="5"/>
  <p:tag name="KSO_WM_UNIT_USESOURCEFORMAT_APPLY" val="1"/>
</p:tagLst>
</file>

<file path=ppt/tags/tag55.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diagram20235009_1*l_h_f*1_4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TEXT_LAYER_COUNT" val="1"/>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5"/>
  <p:tag name="KSO_WM_UNIT_ID" val="diagram20235009_1*l_h_i*1_4_5"/>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SHADOW_SCHEMECOLOR_INDEX" val="5"/>
  <p:tag name="KSO_WM_UNIT_USESOURCEFORMAT_APPLY" val="1"/>
</p:tagLst>
</file>

<file path=ppt/tags/tag57.xml><?xml version="1.0" encoding="utf-8"?>
<p:tagLst xmlns:p="http://schemas.openxmlformats.org/presentationml/2006/main">
  <p:tag name="KSO_WM_UNIT_SUBTYPE" val="a"/>
  <p:tag name="KSO_WM_UNIT_NOCLEAR" val="0"/>
  <p:tag name="KSO_WM_UNIT_VALUE" val="40"/>
  <p:tag name="KSO_WM_UNIT_HIGHLIGHT" val="0"/>
  <p:tag name="KSO_WM_UNIT_COMPATIBLE" val="0"/>
  <p:tag name="KSO_WM_UNIT_DIAGRAM_ISNUMVISUAL" val="0"/>
  <p:tag name="KSO_WM_UNIT_DIAGRAM_ISREFERUNIT" val="0"/>
  <p:tag name="KSO_WM_DIAGRAM_GROUP_CODE" val="l1-1"/>
  <p:tag name="KSO_WM_UNIT_TYPE" val="l_h_f"/>
  <p:tag name="KSO_WM_UNIT_INDEX" val="1_5_1"/>
  <p:tag name="KSO_WM_UNIT_ID" val="diagram20235009_1*l_h_f*1_5_1"/>
  <p:tag name="KSO_WM_TEMPLATE_CATEGORY" val="diagram"/>
  <p:tag name="KSO_WM_TEMPLATE_INDEX" val="20235009"/>
  <p:tag name="KSO_WM_UNIT_LAYERLEVEL" val="1_1_1"/>
  <p:tag name="KSO_WM_TAG_VERSION" val="3.0"/>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1"/>
  <p:tag name="KSO_WM_DIAGRAM_COLOR_TEXT_CAN_REMOVE" val="n"/>
  <p:tag name="KSO_WM_UNIT_TEXT_TYPE" val="1"/>
  <p:tag name="KSO_WM_UNIT_TEXT_LAYER_COUNT" val="1"/>
  <p:tag name="KSO_WM_UNIT_PRESET_TEXT" val="单击此处添加文本具体内容，简明扼要地阐述您的观点。根据需要可酌情增减文字，以便观者准确地理解您传达的思想"/>
  <p:tag name="KSO_WM_UNIT_TEXT_FILL_FORE_SCHEMECOLOR_INDEX" val="1"/>
  <p:tag name="KSO_WM_UNIT_TEXT_FILL_TYPE" val="1"/>
  <p:tag name="KSO_WM_UNIT_USESOURCEFORMAT_APPLY" val="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5_5"/>
  <p:tag name="KSO_WM_UNIT_ID" val="diagram20235009_1*l_h_i*1_5_5"/>
  <p:tag name="KSO_WM_TEMPLATE_CATEGORY" val="diagram"/>
  <p:tag name="KSO_WM_TEMPLATE_INDEX" val="20235009"/>
  <p:tag name="KSO_WM_UNIT_LAYERLEVEL" val="1_1_1"/>
  <p:tag name="KSO_WM_TAG_VERSION" val="3.0"/>
  <p:tag name="KSO_WM_BEAUTIFY_FLAG" val="#wm#"/>
  <p:tag name="KSO_WM_DIAGRAM_VERSION" val="3"/>
  <p:tag name="KSO_WM_DIAGRAM_COLOR_TRICK" val="1"/>
  <p:tag name="KSO_WM_DIAGRAM_COLOR_TEXT_CAN_REMOVE" val="n"/>
  <p:tag name="KSO_WM_DIAGRAM_MAX_ITEMCNT" val="5"/>
  <p:tag name="KSO_WM_DIAGRAM_MIN_ITEMCNT" val="5"/>
  <p:tag name="KSO_WM_DIAGRAM_VIRTUALLY_FRAME" val="{&quot;height&quot;:473.3,&quot;left&quot;:37.1,&quot;top&quot;:48,&quot;width&quot;:869.1}"/>
  <p:tag name="KSO_WM_DIAGRAM_COLOR_MATCH_VALUE" val="{&quot;shape&quot;:{&quot;fill&quot;:{&quot;type&quot;:0},&quot;glow&quot;:{&quot;colorType&quot;:0},&quot;line&quot;:{&quot;gradient&quot;:[{&quot;brightness&quot;:0,&quot;colorType&quot;:1,&quot;foreColorIndex&quot;:5,&quot;pos&quot;:1,&quot;transparency&quot;:1},{&quot;brightness&quot;:0,&quot;colorType&quot;:1,&quot;foreColorIndex&quot;:5,&quot;pos&quot;:0,&quot;transparency&quot;:0.5600000023841858}],&quot;type&quot;:2},&quot;shadow&quot;:{&quot;brightness&quot;:-0.25,&quot;colorType&quot;:1,&quot;foreColorIndex&quot;:5,&quot;transparency&quot;:0.8399999737739563},&quot;threeD&quot;:{&quot;curvedSurface&quot;:{&quot;brightness&quot;:0,&quot;colorType&quot;:2,&quot;rgb&quot;:&quot;#000000&quot;},&quot;depth&quot;:{&quot;colorType&quot;:0}}},&quot;text&quot;:{&quot;fill&quot;:{},&quot;glow&quot;:{},&quot;line&quot;:{},&quot;shadow&quot;:{},&quot;threeD&quot;:{}}}"/>
  <p:tag name="KSO_WM_UNIT_LINE_FORE_SCHEMECOLOR_INDEX" val="5"/>
  <p:tag name="KSO_WM_UNIT_SHADOW_SCHEMECOLOR_INDEX" val="5"/>
  <p:tag name="KSO_WM_UNIT_USESOURCEFORMAT_APPLY" val="1"/>
</p:tagLst>
</file>

<file path=ppt/tags/tag59.xml><?xml version="1.0" encoding="utf-8"?>
<p:tagLst xmlns:p="http://schemas.openxmlformats.org/presentationml/2006/main">
  <p:tag name="KSO_WM_MEDIACOVER_FLAG" val="1"/>
  <p:tag name="KSO_WM_UNIT_MEDIACOVER_BTN_STATE" val="1"/>
  <p:tag name="KSO_WM_UNIT_MEDIACOVER_BTNRECT" val="0*0*0*0"/>
</p:tagLst>
</file>

<file path=ppt/tags/tag60.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67_3*a*1"/>
  <p:tag name="KSO_WM_TEMPLATE_CATEGORY" val="diagram"/>
  <p:tag name="KSO_WM_TEMPLATE_INDEX" val="20231967"/>
  <p:tag name="KSO_WM_UNIT_LAYERLEVEL" val="1"/>
  <p:tag name="KSO_WM_TAG_VERSION" val="3.0"/>
  <p:tag name="KSO_WM_BEAUTIFY_FLAG" val="#wm#"/>
  <p:tag name="KSO_WM_UNIT_PRESET_TEXT" val="单击此处添加标题"/>
  <p:tag name="KSO_WM_UNIT_TEXT_TYPE" val="1"/>
  <p:tag name="KSO_WM_UNIT_TEXT_FILL_FORE_SCHEMECOLOR_INDEX" val="5"/>
  <p:tag name="KSO_WM_UNIT_USESOURCEFORMAT_APPLY" val="1"/>
</p:tagLst>
</file>

<file path=ppt/tags/tag61.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diagram20231967_1*l_h_f*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94.08138047237014,&quot;left&quot;:31.85,&quot;top&quot;:94.24850393700788,&quot;width&quot;:931.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156"/>
  <p:tag name="KSO_WM_UNIT_TEXT_FILL_FORE_SCHEMECOLOR_INDEX" val="1"/>
  <p:tag name="KSO_WM_UNIT_TEXT_FILL_TYPE" val="1"/>
  <p:tag name="KSO_WM_UNIT_PRESET_TEXT" val="单击此处添加您的文本具体内容，简明扼要地阐述您的观点。根据需要可酌情增减文字，以便观者准确地理解您传达的思想。单击此处添加您的文本具体内容，简明扼要地阐述您的观点。根据需要可酌情增减文字，以便观者准确地理解您传达的思想。"/>
  <p:tag name="KSO_WM_UNIT_TEXT_TYPE" val="1"/>
  <p:tag name="KSO_WM_UNIT_USESOURCEFORMAT_APPLY" val="1"/>
</p:tagLst>
</file>

<file path=ppt/tags/tag62.xml><?xml version="1.0" encoding="utf-8"?>
<p:tagLst xmlns:p="http://schemas.openxmlformats.org/presentationml/2006/main">
  <p:tag name="KSO_WM_DIAGRAM_VERSION" val="3"/>
  <p:tag name="KSO_WM_DIAGRAM_COLOR_TRICK" val="1"/>
  <p:tag name="KSO_WM_DIAGRAM_COLOR_TEXT_CAN_REMOVE" val="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l_h_a"/>
  <p:tag name="KSO_WM_UNIT_INDEX" val="1_1_1"/>
  <p:tag name="KSO_WM_UNIT_ID" val="diagram20231967_1*l_h_a*1_1_1"/>
  <p:tag name="KSO_WM_TEMPLATE_CATEGORY" val="diagram"/>
  <p:tag name="KSO_WM_TEMPLATE_INDEX" val="20231967"/>
  <p:tag name="KSO_WM_UNIT_LAYERLEVEL" val="1_1_1"/>
  <p:tag name="KSO_WM_TAG_VERSION" val="3.0"/>
  <p:tag name="KSO_WM_BEAUTIFY_FLAG" val="#wm#"/>
  <p:tag name="KSO_WM_DIAGRAM_MAX_ITEMCNT" val="4"/>
  <p:tag name="KSO_WM_DIAGRAM_MIN_ITEMCNT" val="2"/>
  <p:tag name="KSO_WM_DIAGRAM_VIRTUALLY_FRAME" val="{&quot;height&quot;:394.08138047237014,&quot;left&quot;:31.85,&quot;top&quot;:94.24850393700788,&quot;width&quot;:931.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35"/>
  <p:tag name="KSO_WM_UNIT_TEXT_FILL_FORE_SCHEMECOLOR_INDEX" val="1"/>
  <p:tag name="KSO_WM_UNIT_TEXT_FILL_TYPE" val="1"/>
  <p:tag name="KSO_WM_UNIT_PRESET_TEXT" val="单击此处添加标题"/>
  <p:tag name="KSO_WM_UNIT_TEXT_TYPE" val="1"/>
  <p:tag name="KSO_WM_UNIT_USESOURCEFORMAT_APPLY" val="1"/>
</p:tagLst>
</file>

<file path=ppt/tags/tag63.xml><?xml version="1.0" encoding="utf-8"?>
<p:tagLst xmlns:p="http://schemas.openxmlformats.org/presentationml/2006/main">
  <p:tag name="KSO_WM_DIAGRAM_VERSION" val="3"/>
  <p:tag name="KSO_WM_DIAGRAM_COLOR_TRICK" val="1"/>
  <p:tag name="KSO_WM_DIAGRAM_COLOR_TEXT_CAN_REMOVE" val="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diagram20231967_1*l_h_f*1_2_1"/>
  <p:tag name="KSO_WM_TEMPLATE_CATEGORY" val="diagram"/>
  <p:tag name="KSO_WM_TEMPLATE_INDEX" val="20231967"/>
  <p:tag name="KSO_WM_UNIT_LAYERLEVEL" val="1_1_1"/>
  <p:tag name="KSO_WM_TAG_VERSION" val="3.0"/>
  <p:tag name="KSO_WM_BEAUTIFY_FLAG" val="#wm#"/>
  <p:tag name="KSO_WM_UNIT_VALUE" val="156"/>
  <p:tag name="KSO_WM_DIAGRAM_MAX_ITEMCNT" val="4"/>
  <p:tag name="KSO_WM_DIAGRAM_MIN_ITEMCNT" val="2"/>
  <p:tag name="KSO_WM_DIAGRAM_VIRTUALLY_FRAME" val="{&quot;height&quot;:394.08138047237014,&quot;left&quot;:31.85,&quot;top&quot;:94.24850393700788,&quot;width&quot;:931.7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1"/>
  <p:tag name="KSO_WM_UNIT_TEXT_FILL_TYPE" val="1"/>
  <p:tag name="KSO_WM_UNIT_PRESET_TEXT" val="单击此处添加您的文本具体内容，简明扼要地阐述您的观点。根据需要可酌情增减文字，以便观者准确地理解您传达的思想。单击此处添加您的文本具体内容，简明扼要地阐述您的观点。根据需要可酌情增减文字，以便观者准确地理解您传达的思想。"/>
  <p:tag name="KSO_WM_UNIT_TEXT_TYPE" val="1"/>
  <p:tag name="KSO_WM_UNIT_USESOURCEFORMAT_APPLY" val="1"/>
</p:tagLst>
</file>

<file path=ppt/tags/tag64.xml><?xml version="1.0" encoding="utf-8"?>
<p:tagLst xmlns:p="http://schemas.openxmlformats.org/presentationml/2006/main">
  <p:tag name="KSO_WM_BEAUTIFY_FLAG" val="#wm#"/>
  <p:tag name="KSO_WM_UNIT_TYPE" val="l_h_a"/>
  <p:tag name="KSO_WM_UNIT_INDEX" val="1_2_1"/>
  <p:tag name="KSO_WM_TEMPLATE_INDEX" val="19882022"/>
  <p:tag name="KSO_WM_TAG_VERSION" val="2.0"/>
  <p:tag name="KSO_WM_DIAGRAM_GROUP_CODE" val="l1-1"/>
  <p:tag name="KSO_WM_DIAGRAM_VIRTUALLY_FRAME" val="{&quot;height&quot;:425.711968503937,&quot;left&quot;:15.05,&quot;top&quot;:60.18803149606299,&quot;width&quot;:866.25}"/>
</p:tagLst>
</file>

<file path=ppt/tags/tag65.xml><?xml version="1.0" encoding="utf-8"?>
<p:tagLst xmlns:p="http://schemas.openxmlformats.org/presentationml/2006/main">
  <p:tag name="KSO_WM_BEAUTIFY_FLAG" val="#wm#"/>
  <p:tag name="KSO_WM_UNIT_TYPE" val="l_h_f"/>
  <p:tag name="KSO_WM_UNIT_INDEX" val="1_2_1"/>
  <p:tag name="KSO_WM_TEMPLATE_INDEX" val="19882022"/>
  <p:tag name="KSO_WM_TAG_VERSION" val="2.0"/>
  <p:tag name="KSO_WM_DIAGRAM_GROUP_CODE" val="l1-1"/>
  <p:tag name="KSO_WM_DIAGRAM_VIRTUALLY_FRAME" val="{&quot;height&quot;:425.711968503937,&quot;left&quot;:15.05,&quot;top&quot;:60.18803149606299,&quot;width&quot;:866.25}"/>
</p:tagLst>
</file>

<file path=ppt/tags/tag66.xml><?xml version="1.0" encoding="utf-8"?>
<p:tagLst xmlns:p="http://schemas.openxmlformats.org/presentationml/2006/main">
  <p:tag name="KSO_WM_BEAUTIFY_FLAG" val="#wm#"/>
  <p:tag name="KSO_WM_UNIT_TYPE" val="l_h_x"/>
  <p:tag name="KSO_WM_UNIT_INDEX" val="1_1_1"/>
  <p:tag name="KSO_WM_TEMPLATE_INDEX" val="19882022"/>
  <p:tag name="KSO_WM_TAG_VERSION" val="2.0"/>
  <p:tag name="KSO_WM_DIAGRAM_GROUP_CODE" val="l1-1"/>
  <p:tag name="KSO_WM_DIAGRAM_VIRTUALLY_FRAME" val="{&quot;height&quot;:425.711968503937,&quot;left&quot;:15.05,&quot;top&quot;:60.18803149606299,&quot;width&quot;:866.25}"/>
</p:tagLst>
</file>

<file path=ppt/tags/tag67.xml><?xml version="1.0" encoding="utf-8"?>
<p:tagLst xmlns:p="http://schemas.openxmlformats.org/presentationml/2006/main">
  <p:tag name="KSO_WM_BEAUTIFY_FLAG" val="#wm#"/>
  <p:tag name="KSO_WM_UNIT_TYPE" val="l_h_a"/>
  <p:tag name="KSO_WM_UNIT_INDEX" val="1_1_1"/>
  <p:tag name="KSO_WM_TEMPLATE_INDEX" val="19882022"/>
  <p:tag name="KSO_WM_TAG_VERSION" val="2.0"/>
  <p:tag name="KSO_WM_DIAGRAM_GROUP_CODE" val="l1-1"/>
  <p:tag name="KSO_WM_DIAGRAM_VIRTUALLY_FRAME" val="{&quot;height&quot;:425.711968503937,&quot;left&quot;:15.05,&quot;top&quot;:60.18803149606299,&quot;width&quot;:866.25}"/>
</p:tagLst>
</file>

<file path=ppt/tags/tag68.xml><?xml version="1.0" encoding="utf-8"?>
<p:tagLst xmlns:p="http://schemas.openxmlformats.org/presentationml/2006/main">
  <p:tag name="KSO_WM_BEAUTIFY_FLAG" val="#wm#"/>
  <p:tag name="KSO_WM_UNIT_TYPE" val="l_h_f"/>
  <p:tag name="KSO_WM_UNIT_INDEX" val="1_1_1"/>
  <p:tag name="KSO_WM_TEMPLATE_INDEX" val="19882022"/>
  <p:tag name="KSO_WM_TAG_VERSION" val="2.0"/>
  <p:tag name="KSO_WM_DIAGRAM_GROUP_CODE" val="l1-1"/>
  <p:tag name="KSO_WM_DIAGRAM_VIRTUALLY_FRAME" val="{&quot;height&quot;:425.711968503937,&quot;left&quot;:15.05,&quot;top&quot;:60.18803149606299,&quot;width&quot;:866.25}"/>
</p:tagLst>
</file>

<file path=ppt/tags/tag69.xml><?xml version="1.0" encoding="utf-8"?>
<p:tagLst xmlns:p="http://schemas.openxmlformats.org/presentationml/2006/main">
  <p:tag name="KSO_WM_UNIT_INDEX" val="14"/>
  <p:tag name="KSO_WM_UNIT_TYPE" val="j"/>
  <p:tag name="KSO_WM_BEAUTIFY_FLAG" val="#wm#"/>
</p:tagLst>
</file>

<file path=ppt/tags/tag70.xml><?xml version="1.0" encoding="utf-8"?>
<p:tagLst xmlns:p="http://schemas.openxmlformats.org/presentationml/2006/main">
  <p:tag name="KSO_WM_DIAGRAM_VIRTUALLY_FRAME" val="{&quot;height&quot;:417.47716535433074,&quot;left&quot;:32.2,&quot;top&quot;:83.87283464566929,&quot;width&quot;:883.55}"/>
  <p:tag name="KSO_WM_UNIT_INDEX" val="7"/>
  <p:tag name="KSO_WM_UNIT_TYPE" val="f"/>
  <p:tag name="KSO_WM_UNIT_SUBTYPE" val="a"/>
  <p:tag name="KSO_WM_BEAUTIFY_FLAG" val="#wm#"/>
</p:tagLst>
</file>

<file path=ppt/tags/tag71.xml><?xml version="1.0" encoding="utf-8"?>
<p:tagLst xmlns:p="http://schemas.openxmlformats.org/presentationml/2006/main">
  <p:tag name="KSO_WM_DIAGRAM_VIRTUALLY_FRAME" val="{&quot;height&quot;:417.47716535433074,&quot;left&quot;:32.2,&quot;top&quot;:83.87283464566929,&quot;width&quot;:883.55}"/>
  <p:tag name="KSO_WM_UNIT_INDEX" val="10"/>
  <p:tag name="KSO_WM_UNIT_TYPE" val="f"/>
  <p:tag name="KSO_WM_UNIT_SUBTYPE" val="a"/>
  <p:tag name="KSO_WM_BEAUTIFY_FLAG" val="#wm#"/>
</p:tagLst>
</file>

<file path=ppt/tags/tag72.xml><?xml version="1.0" encoding="utf-8"?>
<p:tagLst xmlns:p="http://schemas.openxmlformats.org/presentationml/2006/main">
  <p:tag name="KSO_WM_UNIT_INDEX" val="4"/>
  <p:tag name="KSO_WM_UNIT_TYPE" val="j"/>
  <p:tag name="KSO_WM_BEAUTIFY_FLAG" val="#wm#"/>
</p:tagLst>
</file>

<file path=ppt/tags/tag73.xml><?xml version="1.0" encoding="utf-8"?>
<p:tagLst xmlns:p="http://schemas.openxmlformats.org/presentationml/2006/main">
  <p:tag name="KSO_WM_UNIT_INDEX" val="5"/>
  <p:tag name="KSO_WM_UNIT_TYPE" val="j"/>
  <p:tag name="KSO_WM_BEAUTIFY_FLAG" val="#wm#"/>
</p:tagLst>
</file>

<file path=ppt/tags/tag74.xml><?xml version="1.0" encoding="utf-8"?>
<p:tagLst xmlns:p="http://schemas.openxmlformats.org/presentationml/2006/main">
  <p:tag name="KSO_WM_UNIT_INDEX" val="3"/>
  <p:tag name="KSO_WM_UNIT_TYPE" val="j"/>
  <p:tag name="KSO_WM_BEAUTIFY_FLAG" val="#wm#"/>
</p:tagLst>
</file>

<file path=ppt/tags/tag75.xml><?xml version="1.0" encoding="utf-8"?>
<p:tagLst xmlns:p="http://schemas.openxmlformats.org/presentationml/2006/main">
  <p:tag name="KSO_WM_UNIT_INDEX" val="8"/>
  <p:tag name="KSO_WM_UNIT_TYPE" val="j"/>
  <p:tag name="KSO_WM_BEAUTIFY_FLAG" val="#wm#"/>
</p:tagLst>
</file>

<file path=ppt/tags/tag76.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diagram20231967_3*a*1"/>
  <p:tag name="KSO_WM_TEMPLATE_CATEGORY" val="diagram"/>
  <p:tag name="KSO_WM_TEMPLATE_INDEX" val="20231967"/>
  <p:tag name="KSO_WM_UNIT_LAYERLEVEL" val="1"/>
  <p:tag name="KSO_WM_TAG_VERSION" val="3.0"/>
  <p:tag name="KSO_WM_BEAUTIFY_FLAG" val="#wm#"/>
  <p:tag name="KSO_WM_UNIT_PRESET_TEXT" val="单击此处添加标题"/>
  <p:tag name="KSO_WM_UNIT_TEXT_TYPE" val="1"/>
  <p:tag name="KSO_WM_UNIT_TEXT_FILL_FORE_SCHEMECOLOR_INDEX" val="5"/>
  <p:tag name="KSO_WM_UNIT_USESOURCEFORMAT_APPLY" val="1"/>
</p:tagLst>
</file>

<file path=ppt/tags/tag77.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47833251953125,&quot;left&quot;:53.899993896484375,&quot;top&quot;:126.96083374023438,&quot;width&quot;:852.2000122070312}"/>
  <p:tag name="KSO_WM_DIAGRAM_VERSION" val="3"/>
  <p:tag name="KSO_WM_DIAGRAM_COLOR_TEXT_CAN_REMOVE" val="n"/>
  <p:tag name="KSO_WM_UNIT_NOCLEAR" val="0"/>
  <p:tag name="KSO_WM_UNIT_HIGHLIGHT" val="0"/>
  <p:tag name="KSO_WM_UNIT_DIAGRAM_ISNUMVISUAL" val="0"/>
  <p:tag name="KSO_WM_UNIT_TYPE" val="l_h_i"/>
  <p:tag name="KSO_WM_UNIT_INDEX" val="1_1_1"/>
  <p:tag name="KSO_WM_UNIT_ID" val="diagram20231438_2*l_h_i*1_1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solid&quot;:{&quot;brightness&quot;:0,&quot;colorType&quot;:2,&quot;rgb&quot;:&quot;#ffffff&quot;,&quot;transparency&quot;:0.949999988079071},&quot;type&quot;:1},&quot;glow&quot;:{&quot;colorType&quot;:0},&quot;line&quot;:{&quot;type&quot;:0},&quot;shadow&quot;:{&quot;brightness&quot;:0,&quot;colorType&quot;:1,&quot;foreColorIndex&quot;:5,&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FILL_FORE_SCHEMECOLOR_INDEX" val="1"/>
  <p:tag name="KSO_WM_UNIT_TEXT_FILL_TYPE" val="1"/>
  <p:tag name="KSO_WM_UNIT_TEXT_TYPE" val="1"/>
  <p:tag name="KSO_WM_UNIT_TEXT_LAYER_COUNT" val="1"/>
  <p:tag name="KSO_WM_UNIT_SHADOW_SCHEMECOLOR_INDEX" val="5"/>
  <p:tag name="KSO_WM_UNIT_USESOURCEFORMAT_APPLY" val="1"/>
</p:tagLst>
</file>

<file path=ppt/tags/tag78.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47833251953125,&quot;left&quot;:53.899993896484375,&quot;top&quot;:126.96083374023438,&quot;width&quot;:852.2000122070312}"/>
  <p:tag name="KSO_WM_DIAGRAM_VERSION" val="3"/>
  <p:tag name="KSO_WM_DIAGRAM_COLOR_TEXT_CAN_REMOVE" val="n"/>
  <p:tag name="KSO_WM_UNIT_NOCLEAR" val="0"/>
  <p:tag name="KSO_WM_UNIT_HIGHLIGHT" val="0"/>
  <p:tag name="KSO_WM_UNIT_DIAGRAM_ISNUMVISUAL" val="0"/>
  <p:tag name="KSO_WM_UNIT_TYPE" val="l_h_i"/>
  <p:tag name="KSO_WM_UNIT_INDEX" val="1_2_1"/>
  <p:tag name="KSO_WM_UNIT_ID" val="diagram20231438_2*l_h_i*1_2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solid&quot;:{&quot;brightness&quot;:0,&quot;colorType&quot;:2,&quot;rgb&quot;:&quot;#ffffff&quot;,&quot;transparency&quot;:0.949999988079071},&quot;type&quot;:1},&quot;glow&quot;:{&quot;colorType&quot;:0},&quot;line&quot;:{&quot;type&quot;:0},&quot;shadow&quot;:{&quot;brightness&quot;:0,&quot;colorType&quot;:1,&quot;foreColorIndex&quot;:8,&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FILL_FORE_SCHEMECOLOR_INDEX" val="1"/>
  <p:tag name="KSO_WM_UNIT_TEXT_FILL_TYPE" val="1"/>
  <p:tag name="KSO_WM_UNIT_TEXT_TYPE" val="1"/>
  <p:tag name="KSO_WM_UNIT_TEXT_LAYER_COUNT" val="1"/>
  <p:tag name="KSO_WM_UNIT_SHADOW_SCHEMECOLOR_INDEX" val="8"/>
  <p:tag name="KSO_WM_UNIT_USESOURCEFORMAT_APPLY" val="1"/>
</p:tagLst>
</file>

<file path=ppt/tags/tag79.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47833251953125,&quot;left&quot;:53.899993896484375,&quot;top&quot;:126.96083374023438,&quot;width&quot;:852.2000122070312}"/>
  <p:tag name="KSO_WM_DIAGRAM_VERSION" val="3"/>
  <p:tag name="KSO_WM_DIAGRAM_COLOR_TEXT_CAN_REMOVE" val="n"/>
  <p:tag name="KSO_WM_UNIT_NOCLEAR" val="0"/>
  <p:tag name="KSO_WM_UNIT_HIGHLIGHT" val="0"/>
  <p:tag name="KSO_WM_UNIT_DIAGRAM_ISNUMVISUAL" val="0"/>
  <p:tag name="KSO_WM_UNIT_TYPE" val="l_h_i"/>
  <p:tag name="KSO_WM_UNIT_INDEX" val="1_3_1"/>
  <p:tag name="KSO_WM_UNIT_ID" val="diagram20231438_2*l_h_i*1_3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solid&quot;:{&quot;brightness&quot;:0,&quot;colorType&quot;:2,&quot;rgb&quot;:&quot;#ffffff&quot;,&quot;transparency&quot;:0.949999988079071},&quot;type&quot;:1},&quot;glow&quot;:{&quot;colorType&quot;:0},&quot;line&quot;:{&quot;type&quot;:0},&quot;shadow&quot;:{&quot;brightness&quot;:0,&quot;colorType&quot;:1,&quot;foreColorIndex&quot;:5,&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FILL_FORE_SCHEMECOLOR_INDEX" val="1"/>
  <p:tag name="KSO_WM_UNIT_TEXT_FILL_TYPE" val="1"/>
  <p:tag name="KSO_WM_UNIT_TEXT_TYPE" val="1"/>
  <p:tag name="KSO_WM_UNIT_TEXT_LAYER_COUNT" val="1"/>
  <p:tag name="KSO_WM_UNIT_SHADOW_SCHEMECOLOR_INDEX" val="5"/>
  <p:tag name="KSO_WM_UNIT_USESOURCEFORMAT_APPLY" val="1"/>
</p:tagLst>
</file>

<file path=ppt/tags/tag80.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47833251953125,&quot;left&quot;:53.899993896484375,&quot;top&quot;:126.96083374023438,&quot;width&quot;:852.2000122070312}"/>
  <p:tag name="KSO_WM_DIAGRAM_VERSION" val="3"/>
  <p:tag name="KSO_WM_DIAGRAM_COLOR_TEXT_CAN_REMOVE" val="n"/>
  <p:tag name="KSO_WM_UNIT_SUBTYPE" val="a"/>
  <p:tag name="KSO_WM_UNIT_NOCLEAR" val="0"/>
  <p:tag name="KSO_WM_UNIT_VALUE" val="60"/>
  <p:tag name="KSO_WM_UNIT_HIGHLIGHT" val="0"/>
  <p:tag name="KSO_WM_UNIT_DIAGRAM_ISNUMVISUAL" val="0"/>
  <p:tag name="KSO_WM_UNIT_TYPE" val="l_h_f"/>
  <p:tag name="KSO_WM_UNIT_INDEX" val="1_1_1"/>
  <p:tag name="KSO_WM_UNIT_ID" val="diagram20231438_2*l_h_f*1_1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gradient&quot;:[{&quot;brightness&quot;:0.800000011920929,&quot;colorType&quot;:1,&quot;foreColorIndex&quot;:5,&quot;pos&quot;:0,&quot;transparency&quot;:0.800000011920929},{&quot;brightness&quot;:0,&quot;colorType&quot;:1,&quot;foreColorIndex&quot;:14,&quot;pos&quot;:1,&quot;transparency&quot;:1}],&quot;type&quot;:3},&quot;glow&quot;:{&quot;colorType&quot;:0},&quot;line&quot;:{&quot;solidLine&quot;:{&quot;brightness&quot;:0.6000000238418579,&quot;colorType&quot;:1,&quot;foreColorIndex&quot;:5,&quot;transparency&quot;:0.4000000059604645},&quot;type&quot;:1},&quot;shadow&quot;:{&quot;brightness&quot;:0,&quot;colorType&quot;:1,&quot;foreColorIndex&quot;:5,&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TYPE" val="1"/>
  <p:tag name="KSO_WM_UNIT_TEXT_LAYER_COUNT" val="1"/>
  <p:tag name="KSO_WM_UNIT_PRESET_TEXT" val="单击此处输入你的项正文，文字是您思想的提炼，请言简意赅的阐述观点。单击此处输入你的正文，文字是您思想的提炼，为了最终演示发布的良好效果，请言简意赅的阐述观点。"/>
  <p:tag name="KSO_WM_UNIT_FILL_TYPE" val="3"/>
  <p:tag name="KSO_WM_UNIT_LINE_FORE_SCHEMECOLOR_INDEX" val="5"/>
  <p:tag name="KSO_WM_UNIT_TEXT_FILL_FORE_SCHEMECOLOR_INDEX" val="1"/>
  <p:tag name="KSO_WM_UNIT_TEXT_FILL_TYPE" val="1"/>
  <p:tag name="KSO_WM_UNIT_SHADOW_SCHEMECOLOR_INDEX" val="5"/>
  <p:tag name="KSO_WM_UNIT_USESOURCEFORMAT_APPLY" val="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DIAGRAM_MAX_ITEMCNT" val="6"/>
  <p:tag name="KSO_WM_DIAGRAM_MIN_ITEMCNT" val="2"/>
  <p:tag name="KSO_WM_DIAGRAM_VIRTUALLY_FRAME" val="{&quot;height&quot;:330.47833251953125,&quot;left&quot;:53.899993896484375,&quot;top&quot;:126.96083374023438,&quot;width&quot;:852.2000122070312}"/>
  <p:tag name="KSO_WM_DIAGRAM_COLOR_MATCH_VALUE" val="{&quot;shape&quot;:{&quot;fill&quot;:{&quot;gradient&quot;:[{&quot;brightness&quot;:0.6000000238418579,&quot;colorType&quot;:1,&quot;foreColorIndex&quot;:5,&quot;pos&quot;:0,&quot;transparency&quot;:0},{&quot;brightness&quot;:0,&quot;colorType&quot;:1,&quot;foreColorIndex&quot;:5,&quot;pos&quot;:0.6899999976158142,&quot;transparency&quot;:0},{&quot;brightness&quot;:0,&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1_1"/>
  <p:tag name="KSO_WM_UNIT_ID" val="diagram20231438_2*l_h_a*1_1_1"/>
  <p:tag name="KSO_WM_TEMPLATE_CATEGORY" val="diagram"/>
  <p:tag name="KSO_WM_TEMPLATE_INDEX" val="20231438"/>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UNIT_TEXT_FILL_TYPE" val="1"/>
  <p:tag name="KSO_WM_UNIT_TEXT_TYPE" val="1"/>
  <p:tag name="KSO_WM_UNIT_PRESET_TEXT" val="添加标题"/>
  <p:tag name="KSO_WM_UNIT_FILL_TYPE" val="3"/>
  <p:tag name="KSO_WM_UNIT_SHADOW_SCHEMECOLOR_INDEX" val="5"/>
  <p:tag name="KSO_WM_UNIT_USESOURCEFORMAT_APPLY" val="1"/>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diagram20231438_2*l_h_i*1_1_3"/>
  <p:tag name="KSO_WM_TEMPLATE_CATEGORY" val="diagram"/>
  <p:tag name="KSO_WM_TEMPLATE_INDEX" val="20231438"/>
  <p:tag name="KSO_WM_UNIT_LAYERLEVEL" val="1_1_1"/>
  <p:tag name="KSO_WM_TAG_VERSION" val="3.0"/>
  <p:tag name="KSO_WM_DIAGRAM_MAX_ITEMCNT" val="6"/>
  <p:tag name="KSO_WM_DIAGRAM_MIN_ITEMCNT" val="2"/>
  <p:tag name="KSO_WM_DIAGRAM_VIRTUALLY_FRAME" val="{&quot;height&quot;:330.47833251953125,&quot;left&quot;:53.899993896484375,&quot;top&quot;:126.96083374023438,&quot;width&quot;:852.20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1438_2*l_h_i*1_1_2"/>
  <p:tag name="KSO_WM_TEMPLATE_CATEGORY" val="diagram"/>
  <p:tag name="KSO_WM_TEMPLATE_INDEX" val="20231438"/>
  <p:tag name="KSO_WM_UNIT_LAYERLEVEL" val="1_1_1"/>
  <p:tag name="KSO_WM_TAG_VERSION" val="3.0"/>
  <p:tag name="KSO_WM_DIAGRAM_MAX_ITEMCNT" val="6"/>
  <p:tag name="KSO_WM_DIAGRAM_MIN_ITEMCNT" val="2"/>
  <p:tag name="KSO_WM_DIAGRAM_VIRTUALLY_FRAME" val="{&quot;height&quot;:330.47833251953125,&quot;left&quot;:53.899993896484375,&quot;top&quot;:126.96083374023438,&quot;width&quot;:852.20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1"/>
</p:tagLst>
</file>

<file path=ppt/tags/tag84.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47833251953125,&quot;left&quot;:53.899993896484375,&quot;top&quot;:126.96083374023438,&quot;width&quot;:852.2000122070312}"/>
  <p:tag name="KSO_WM_DIAGRAM_VERSION" val="3"/>
  <p:tag name="KSO_WM_DIAGRAM_COLOR_TEXT_CAN_REMOVE" val="n"/>
  <p:tag name="KSO_WM_UNIT_SUBTYPE" val="a"/>
  <p:tag name="KSO_WM_UNIT_NOCLEAR" val="0"/>
  <p:tag name="KSO_WM_UNIT_VALUE" val="60"/>
  <p:tag name="KSO_WM_UNIT_HIGHLIGHT" val="0"/>
  <p:tag name="KSO_WM_UNIT_DIAGRAM_ISNUMVISUAL" val="0"/>
  <p:tag name="KSO_WM_UNIT_TYPE" val="l_h_f"/>
  <p:tag name="KSO_WM_UNIT_INDEX" val="1_2_1"/>
  <p:tag name="KSO_WM_UNIT_ID" val="diagram20231438_2*l_h_f*1_2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gradient&quot;:[{&quot;brightness&quot;:0.800000011920929,&quot;colorType&quot;:1,&quot;foreColorIndex&quot;:8,&quot;pos&quot;:0,&quot;transparency&quot;:0.800000011920929},{&quot;brightness&quot;:0,&quot;colorType&quot;:1,&quot;foreColorIndex&quot;:14,&quot;pos&quot;:1,&quot;transparency&quot;:1}],&quot;type&quot;:3},&quot;glow&quot;:{&quot;colorType&quot;:0},&quot;line&quot;:{&quot;solidLine&quot;:{&quot;brightness&quot;:0.6000000238418579,&quot;colorType&quot;:1,&quot;foreColorIndex&quot;:8,&quot;transparency&quot;:0.4000000059604645},&quot;type&quot;:1},&quot;shadow&quot;:{&quot;brightness&quot;:0,&quot;colorType&quot;:1,&quot;foreColorIndex&quot;:8,&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TYPE" val="1"/>
  <p:tag name="KSO_WM_UNIT_TEXT_LAYER_COUNT" val="1"/>
  <p:tag name="KSO_WM_UNIT_PRESET_TEXT" val="单击此处输入你的项正文，文字是您思想的提炼，请尽量言简意赅的阐述内容观点。单击此处输入你的项正文，文字是您思想的提炼，请尽量言简意赅的阐述内容观点。"/>
  <p:tag name="KSO_WM_UNIT_FILL_TYPE" val="3"/>
  <p:tag name="KSO_WM_UNIT_LINE_FORE_SCHEMECOLOR_INDEX" val="8"/>
  <p:tag name="KSO_WM_UNIT_TEXT_FILL_FORE_SCHEMECOLOR_INDEX" val="1"/>
  <p:tag name="KSO_WM_UNIT_TEXT_FILL_TYPE" val="1"/>
  <p:tag name="KSO_WM_UNIT_SHADOW_SCHEMECOLOR_INDEX" val="8"/>
  <p:tag name="KSO_WM_UNIT_USESOURCEFORMAT_APPLY" val="1"/>
</p:tagLst>
</file>

<file path=ppt/tags/tag85.xml><?xml version="1.0" encoding="utf-8"?>
<p:tagLst xmlns:p="http://schemas.openxmlformats.org/presentationml/2006/main">
  <p:tag name="KSO_WM_UNIT_COMPATIBLE" val="0"/>
  <p:tag name="KSO_WM_UNIT_DIAGRAM_ISREFERUNIT" val="0"/>
  <p:tag name="KSO_WM_TEMPLATE_INDEX" val="20231438"/>
  <p:tag name="KSO_WM_TAG_VERSION" val="3.0"/>
  <p:tag name="KSO_WM_DIAGRAM_MAX_ITEMCNT" val="6"/>
  <p:tag name="KSO_WM_DIAGRAM_VIRTUALLY_FRAME" val="{&quot;height&quot;:330.47833251953125,&quot;left&quot;:53.899993896484375,&quot;top&quot;:126.96083374023438,&quot;width&quot;:852.2000122070312}"/>
  <p:tag name="KSO_WM_DIAGRAM_VERSION" val="3"/>
  <p:tag name="KSO_WM_DIAGRAM_COLOR_TEXT_CAN_REMOVE" val="n"/>
  <p:tag name="KSO_WM_UNIT_SUBTYPE" val="a"/>
  <p:tag name="KSO_WM_UNIT_NOCLEAR" val="0"/>
  <p:tag name="KSO_WM_UNIT_VALUE" val="60"/>
  <p:tag name="KSO_WM_UNIT_HIGHLIGHT" val="0"/>
  <p:tag name="KSO_WM_UNIT_DIAGRAM_ISNUMVISUAL" val="0"/>
  <p:tag name="KSO_WM_UNIT_TYPE" val="l_h_f"/>
  <p:tag name="KSO_WM_UNIT_INDEX" val="1_3_1"/>
  <p:tag name="KSO_WM_UNIT_ID" val="diagram20231438_2*l_h_f*1_3_1"/>
  <p:tag name="KSO_WM_TEMPLATE_CATEGORY" val="diagram"/>
  <p:tag name="KSO_WM_UNIT_LAYERLEVEL" val="1_1_1"/>
  <p:tag name="KSO_WM_DIAGRAM_GROUP_CODE" val="l1-1"/>
  <p:tag name="KSO_WM_DIAGRAM_MIN_ITEMCNT" val="2"/>
  <p:tag name="KSO_WM_DIAGRAM_COLOR_TRICK" val="2"/>
  <p:tag name="KSO_WM_DIAGRAM_COLOR_MATCH_VALUE" val="{&quot;shape&quot;:{&quot;fill&quot;:{&quot;gradient&quot;:[{&quot;brightness&quot;:0.800000011920929,&quot;colorType&quot;:1,&quot;foreColorIndex&quot;:5,&quot;pos&quot;:0,&quot;transparency&quot;:0.800000011920929},{&quot;brightness&quot;:0,&quot;colorType&quot;:1,&quot;foreColorIndex&quot;:14,&quot;pos&quot;:1,&quot;transparency&quot;:1}],&quot;type&quot;:3},&quot;glow&quot;:{&quot;colorType&quot;:0},&quot;line&quot;:{&quot;solidLine&quot;:{&quot;brightness&quot;:0.6000000238418579,&quot;colorType&quot;:1,&quot;foreColorIndex&quot;:5,&quot;transparency&quot;:0.4000000059604645},&quot;type&quot;:1},&quot;shadow&quot;:{&quot;brightness&quot;:0,&quot;colorType&quot;:1,&quot;foreColorIndex&quot;:5,&quot;transparency&quot;:0.9200000166893005},&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FORE_SCHEMECOLOR_INDEX_BRIGHTNESS" val="0"/>
  <p:tag name="KSO_WM_UNIT_LINE_FILL_TYPE" val="2"/>
  <p:tag name="KSO_WM_UNIT_TEXT_TYPE" val="1"/>
  <p:tag name="KSO_WM_UNIT_TEXT_LAYER_COUNT" val="1"/>
  <p:tag name="KSO_WM_UNIT_PRESET_TEXT" val="单击此处输入你的项正文，文字是您思想的提炼，请言简意赅的阐述观点。单击此处输入你的正文，文字是您思想的提炼，为了最终演示发布的良好效果，请言简意赅的阐述观点。"/>
  <p:tag name="KSO_WM_UNIT_FILL_TYPE" val="3"/>
  <p:tag name="KSO_WM_UNIT_LINE_FORE_SCHEMECOLOR_INDEX" val="5"/>
  <p:tag name="KSO_WM_UNIT_TEXT_FILL_FORE_SCHEMECOLOR_INDEX" val="1"/>
  <p:tag name="KSO_WM_UNIT_TEXT_FILL_TYPE" val="1"/>
  <p:tag name="KSO_WM_UNIT_SHADOW_SCHEMECOLOR_INDEX" val="5"/>
  <p:tag name="KSO_WM_UNIT_USESOURCEFORMAT_APPLY" val="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DIAGRAM_MAX_ITEMCNT" val="6"/>
  <p:tag name="KSO_WM_DIAGRAM_MIN_ITEMCNT" val="2"/>
  <p:tag name="KSO_WM_DIAGRAM_VIRTUALLY_FRAME" val="{&quot;height&quot;:330.47833251953125,&quot;left&quot;:53.899993896484375,&quot;top&quot;:126.96083374023438,&quot;width&quot;:852.2000122070312}"/>
  <p:tag name="KSO_WM_DIAGRAM_COLOR_MATCH_VALUE" val="{&quot;shape&quot;:{&quot;fill&quot;:{&quot;gradient&quot;:[{&quot;brightness&quot;:0.6000000238418579,&quot;colorType&quot;:1,&quot;foreColorIndex&quot;:5,&quot;pos&quot;:0,&quot;transparency&quot;:0},{&quot;brightness&quot;:0,&quot;colorType&quot;:1,&quot;foreColorIndex&quot;:5,&quot;pos&quot;:0.6899999976158142,&quot;transparency&quot;:0},{&quot;brightness&quot;:0,&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3_1"/>
  <p:tag name="KSO_WM_UNIT_ID" val="diagram20231438_2*l_h_a*1_3_1"/>
  <p:tag name="KSO_WM_TEMPLATE_CATEGORY" val="diagram"/>
  <p:tag name="KSO_WM_TEMPLATE_INDEX" val="20231438"/>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UNIT_TEXT_FILL_TYPE" val="1"/>
  <p:tag name="KSO_WM_UNIT_TEXT_TYPE" val="1"/>
  <p:tag name="KSO_WM_UNIT_PRESET_TEXT" val="添加标题"/>
  <p:tag name="KSO_WM_UNIT_FILL_TYPE" val="3"/>
  <p:tag name="KSO_WM_UNIT_SHADOW_SCHEMECOLOR_INDEX" val="5"/>
  <p:tag name="KSO_WM_UNIT_USESOURCEFORMAT_APPLY" val="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diagram20231438_2*l_h_i*1_3_3"/>
  <p:tag name="KSO_WM_TEMPLATE_CATEGORY" val="diagram"/>
  <p:tag name="KSO_WM_TEMPLATE_INDEX" val="20231438"/>
  <p:tag name="KSO_WM_UNIT_LAYERLEVEL" val="1_1_1"/>
  <p:tag name="KSO_WM_TAG_VERSION" val="3.0"/>
  <p:tag name="KSO_WM_DIAGRAM_MAX_ITEMCNT" val="6"/>
  <p:tag name="KSO_WM_DIAGRAM_MIN_ITEMCNT" val="2"/>
  <p:tag name="KSO_WM_DIAGRAM_VIRTUALLY_FRAME" val="{&quot;height&quot;:330.47833251953125,&quot;left&quot;:53.899993896484375,&quot;top&quot;:126.96083374023438,&quot;width&quot;:852.20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1"/>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diagram20231438_2*l_h_i*1_3_2"/>
  <p:tag name="KSO_WM_TEMPLATE_CATEGORY" val="diagram"/>
  <p:tag name="KSO_WM_TEMPLATE_INDEX" val="20231438"/>
  <p:tag name="KSO_WM_UNIT_LAYERLEVEL" val="1_1_1"/>
  <p:tag name="KSO_WM_TAG_VERSION" val="3.0"/>
  <p:tag name="KSO_WM_DIAGRAM_MAX_ITEMCNT" val="6"/>
  <p:tag name="KSO_WM_DIAGRAM_MIN_ITEMCNT" val="2"/>
  <p:tag name="KSO_WM_DIAGRAM_VIRTUALLY_FRAME" val="{&quot;height&quot;:330.47833251953125,&quot;left&quot;:53.899993896484375,&quot;top&quot;:126.96083374023438,&quot;width&quot;:852.2000122070312}"/>
  <p:tag name="KSO_WM_DIAGRAM_COLOR_MATCH_VALUE" val="{&quot;shape&quot;:{&quot;fill&quot;:{&quot;solid&quot;:{&quot;brightness&quot;:-0.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FILL_TYPE" val="1"/>
  <p:tag name="KSO_WM_UNIT_FILL_FORE_SCHEMECOLOR_INDEX" val="5"/>
  <p:tag name="KSO_WM_UNIT_FILL_FORE_SCHEMECOLOR_INDEX_BRIGHTNESS" val="-0.5"/>
  <p:tag name="KSO_WM_UNIT_TEXT_FILL_FORE_SCHEMECOLOR_INDEX" val="2"/>
  <p:tag name="KSO_WM_UNIT_TEXT_FILL_TYPE" val="1"/>
  <p:tag name="KSO_WM_UNIT_USESOURCEFORMAT_APPLY" val="1"/>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DIAGRAM_MAX_ITEMCNT" val="6"/>
  <p:tag name="KSO_WM_DIAGRAM_MIN_ITEMCNT" val="2"/>
  <p:tag name="KSO_WM_DIAGRAM_VIRTUALLY_FRAME" val="{&quot;height&quot;:330.47833251953125,&quot;left&quot;:53.899993896484375,&quot;top&quot;:126.96083374023438,&quot;width&quot;:852.2000122070312}"/>
  <p:tag name="KSO_WM_DIAGRAM_COLOR_MATCH_VALUE" val="{&quot;shape&quot;:{&quot;fill&quot;:{&quot;gradient&quot;:[{&quot;brightness&quot;:0.6000000238418579,&quot;colorType&quot;:1,&quot;foreColorIndex&quot;:5,&quot;pos&quot;:0,&quot;transparency&quot;:0},{&quot;brightness&quot;:0,&quot;colorType&quot;:1,&quot;foreColorIndex&quot;:5,&quot;pos&quot;:0.6899999976158142,&quot;transparency&quot;:0},{&quot;brightness&quot;:0,&quot;colorType&quot;:1,&quot;foreColorIndex&quot;:5,&quot;pos&quot;:1,&quot;transparency&quot;:0}],&quot;type&quot;:3},&quot;glow&quot;:{&quot;colorType&quot;:0},&quot;line&quot;:{&quot;type&quot;:0},&quot;shadow&quot;:{&quot;brightness&quot;:0,&quot;colorType&quot;:1,&quot;foreColorIndex&quot;:5,&quot;transparency&quot;:0.75},&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ISCONTENTSTITLE" val="0"/>
  <p:tag name="KSO_WM_UNIT_ISNUMDGMTITLE" val="0"/>
  <p:tag name="KSO_WM_UNIT_NOCLEAR" val="0"/>
  <p:tag name="KSO_WM_UNIT_VALUE" val="10"/>
  <p:tag name="KSO_WM_UNIT_TYPE" val="l_h_a"/>
  <p:tag name="KSO_WM_UNIT_INDEX" val="1_1_1"/>
  <p:tag name="KSO_WM_UNIT_ID" val="diagram20231438_2*l_h_a*1_1_1"/>
  <p:tag name="KSO_WM_TEMPLATE_CATEGORY" val="diagram"/>
  <p:tag name="KSO_WM_TEMPLATE_INDEX" val="20231438"/>
  <p:tag name="KSO_WM_UNIT_LAYERLEVEL" val="1_1_1"/>
  <p:tag name="KSO_WM_TAG_VERSION" val="3.0"/>
  <p:tag name="KSO_WM_UNIT_TEXT_FILL_FORE_SCHEMECOLOR_INDEX_BRIGHTNESS" val="0.15"/>
  <p:tag name="KSO_WM_DIAGRAM_VERSION" val="3"/>
  <p:tag name="KSO_WM_DIAGRAM_COLOR_TRICK" val="2"/>
  <p:tag name="KSO_WM_DIAGRAM_COLOR_TEXT_CAN_REMOVE" val="n"/>
  <p:tag name="KSO_WM_UNIT_TEXT_FILL_TYPE" val="1"/>
  <p:tag name="KSO_WM_UNIT_TEXT_TYPE" val="1"/>
  <p:tag name="KSO_WM_UNIT_PRESET_TEXT" val="添加标题"/>
  <p:tag name="KSO_WM_UNIT_FILL_TYPE" val="3"/>
  <p:tag name="KSO_WM_UNIT_SHADOW_SCHEMECOLOR_INDEX" val="5"/>
  <p:tag name="KSO_WM_UNIT_USESOURCEFORMAT_APPLY" val="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i*1_4"/>
  <p:tag name="KSO_WM_TEMPLATE_CATEGORY" val="diagram"/>
  <p:tag name="KSO_WM_TEMPLATE_INDEX" val="20231660"/>
  <p:tag name="KSO_WM_UNIT_LAYERLEVEL" val="1_1"/>
  <p:tag name="KSO_WM_TAG_VERSION" val="3.0"/>
  <p:tag name="KSO_WM_BEAUTIFY_FLAG" val="#wm#"/>
  <p:tag name="KSO_WM_UNIT_TYPE" val="q_i"/>
  <p:tag name="KSO_WM_UNIT_INDEX" val="1_4"/>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gradient&quot;:[{&quot;brightness&quot;:0.4000000059604645,&quot;colorType&quot;:1,&quot;foreColorIndex&quot;:5,&quot;pos&quot;:0,&quot;transparency&quot;:0.6000000238418579},{&quot;brightness&quot;:0.4000000059604645,&quot;colorType&quot;:1,&quot;foreColorIndex&quot;:5,&quot;pos&quot;:1,&quot;transparency&quot;:1}],&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3"/>
  <p:tag name="KSO_WM_UNIT_USESOURCEFORMAT_APPLY" val="1"/>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i*1_3"/>
  <p:tag name="KSO_WM_TEMPLATE_CATEGORY" val="diagram"/>
  <p:tag name="KSO_WM_TEMPLATE_INDEX" val="20231660"/>
  <p:tag name="KSO_WM_UNIT_LAYERLEVEL" val="1_1"/>
  <p:tag name="KSO_WM_TAG_VERSION" val="3.0"/>
  <p:tag name="KSO_WM_BEAUTIFY_FLAG" val="#wm#"/>
  <p:tag name="KSO_WM_UNIT_TYPE" val="q_i"/>
  <p:tag name="KSO_WM_UNIT_INDEX" val="1_3"/>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gradient&quot;:[{&quot;brightness&quot;:0,&quot;colorType&quot;:1,&quot;foreColorIndex&quot;:5,&quot;pos&quot;:0.43799999356269836,&quot;transparency&quot;:0.30000001192092896},{&quot;brightness&quot;:0.49000000953674316,&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USESOURCEFORMAT_APPLY" val="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i*1_2"/>
  <p:tag name="KSO_WM_TEMPLATE_CATEGORY" val="diagram"/>
  <p:tag name="KSO_WM_TEMPLATE_INDEX" val="20231660"/>
  <p:tag name="KSO_WM_UNIT_LAYERLEVEL" val="1_1"/>
  <p:tag name="KSO_WM_TAG_VERSION" val="3.0"/>
  <p:tag name="KSO_WM_BEAUTIFY_FLAG" val="#wm#"/>
  <p:tag name="KSO_WM_UNIT_TYPE" val="q_i"/>
  <p:tag name="KSO_WM_UNIT_INDEX" val="1_2"/>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gradient&quot;:[{&quot;brightness&quot;:0,&quot;colorType&quot;:1,&quot;foreColorIndex&quot;:5,&quot;pos&quot;:0,&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USESOURCEFORMAT_APPLY" val="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i*1_1"/>
  <p:tag name="KSO_WM_TEMPLATE_CATEGORY" val="diagram"/>
  <p:tag name="KSO_WM_TEMPLATE_INDEX" val="20231660"/>
  <p:tag name="KSO_WM_UNIT_LAYERLEVEL" val="1_1"/>
  <p:tag name="KSO_WM_TAG_VERSION" val="3.0"/>
  <p:tag name="KSO_WM_BEAUTIFY_FLAG" val="#wm#"/>
  <p:tag name="KSO_WM_UNIT_TYPE" val="q_i"/>
  <p:tag name="KSO_WM_UNIT_INDEX" val="1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gradient&quot;:[{&quot;brightness&quot;:0,&quot;colorType&quot;:1,&quot;foreColorIndex&quot;:5,&quot;pos&quot;:0,&quot;transparency&quot;:0},{&quot;brightness&quot;:0,&quot;colorType&quot;:1,&quot;foreColorIndex&quot;:5,&quot;pos&quot;:0.5600000023841858,&quot;transparency&quot;:0.7200000286102295},{&quot;brightness&quot;:0,&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LINE_FORE_SCHEMECOLOR_INDEX" val="5"/>
  <p:tag name="KSO_WM_UNIT_USESOURCEFORMAT_APPLY" val="1"/>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h_i*1_2_1"/>
  <p:tag name="KSO_WM_TEMPLATE_CATEGORY" val="diagram"/>
  <p:tag name="KSO_WM_TEMPLATE_INDEX" val="20231660"/>
  <p:tag name="KSO_WM_UNIT_LAYERLEVEL" val="1_1_1"/>
  <p:tag name="KSO_WM_TAG_VERSION" val="3.0"/>
  <p:tag name="KSO_WM_BEAUTIFY_FLAG" val="#wm#"/>
  <p:tag name="KSO_WM_UNIT_TYPE" val="q_h_i"/>
  <p:tag name="KSO_WM_UNIT_INDEX" val="1_2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h_x*1_2_1"/>
  <p:tag name="KSO_WM_TEMPLATE_CATEGORY" val="diagram"/>
  <p:tag name="KSO_WM_TEMPLATE_INDEX" val="20231660"/>
  <p:tag name="KSO_WM_UNIT_LAYERLEVEL" val="1_1_1"/>
  <p:tag name="KSO_WM_TAG_VERSION" val="3.0"/>
  <p:tag name="KSO_WM_BEAUTIFY_FLAG" val="#wm#"/>
  <p:tag name="KSO_WM_UNIT_VALUE" val="54*54"/>
  <p:tag name="KSO_WM_UNIT_TYPE" val="q_h_x"/>
  <p:tag name="KSO_WM_UNIT_INDEX" val="1_2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TEXT_FILL_FORE_SCHEMECOLOR_INDEX" val="2"/>
  <p:tag name="KSO_WM_UNIT_TEXT_FILL_TYPE" val="1"/>
  <p:tag name="KSO_WM_UNIT_USESOURCEFORMAT_APPLY" val="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h_i*1_3_1"/>
  <p:tag name="KSO_WM_TEMPLATE_CATEGORY" val="diagram"/>
  <p:tag name="KSO_WM_TEMPLATE_INDEX" val="20231660"/>
  <p:tag name="KSO_WM_UNIT_LAYERLEVEL" val="1_1_1"/>
  <p:tag name="KSO_WM_TAG_VERSION" val="3.0"/>
  <p:tag name="KSO_WM_BEAUTIFY_FLAG" val="#wm#"/>
  <p:tag name="KSO_WM_UNIT_TYPE" val="q_h_i"/>
  <p:tag name="KSO_WM_UNIT_INDEX" val="1_3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h_x*1_3_1"/>
  <p:tag name="KSO_WM_TEMPLATE_CATEGORY" val="diagram"/>
  <p:tag name="KSO_WM_TEMPLATE_INDEX" val="20231660"/>
  <p:tag name="KSO_WM_UNIT_LAYERLEVEL" val="1_1_1"/>
  <p:tag name="KSO_WM_TAG_VERSION" val="3.0"/>
  <p:tag name="KSO_WM_BEAUTIFY_FLAG" val="#wm#"/>
  <p:tag name="KSO_WM_UNIT_VALUE" val="52*54"/>
  <p:tag name="KSO_WM_UNIT_TYPE" val="q_h_x"/>
  <p:tag name="KSO_WM_UNIT_INDEX" val="1_3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TEXT_FILL_FORE_SCHEMECOLOR_INDEX" val="2"/>
  <p:tag name="KSO_WM_UNIT_TEXT_FILL_TYPE" val="1"/>
  <p:tag name="KSO_WM_UNIT_USESOURCEFORMAT_APPLY"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h_i*1_4_1"/>
  <p:tag name="KSO_WM_TEMPLATE_CATEGORY" val="diagram"/>
  <p:tag name="KSO_WM_TEMPLATE_INDEX" val="20231660"/>
  <p:tag name="KSO_WM_UNIT_LAYERLEVEL" val="1_1_1"/>
  <p:tag name="KSO_WM_TAG_VERSION" val="3.0"/>
  <p:tag name="KSO_WM_BEAUTIFY_FLAG" val="#wm#"/>
  <p:tag name="KSO_WM_UNIT_TYPE" val="q_h_i"/>
  <p:tag name="KSO_WM_UNIT_INDEX" val="1_4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h_x*1_4_1"/>
  <p:tag name="KSO_WM_TEMPLATE_CATEGORY" val="diagram"/>
  <p:tag name="KSO_WM_TEMPLATE_INDEX" val="20231660"/>
  <p:tag name="KSO_WM_UNIT_LAYERLEVEL" val="1_1_1"/>
  <p:tag name="KSO_WM_TAG_VERSION" val="3.0"/>
  <p:tag name="KSO_WM_BEAUTIFY_FLAG" val="#wm#"/>
  <p:tag name="KSO_WM_UNIT_VALUE" val="54*52"/>
  <p:tag name="KSO_WM_UNIT_TYPE" val="q_h_x"/>
  <p:tag name="KSO_WM_UNIT_INDEX" val="1_4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TEXT_FILL_FORE_SCHEMECOLOR_INDEX" val="2"/>
  <p:tag name="KSO_WM_UNIT_TEXT_FILL_TYPE" val="1"/>
  <p:tag name="KSO_WM_UNIT_USESOURCEFORMAT_APPLY"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h_i*1_5_1"/>
  <p:tag name="KSO_WM_TEMPLATE_CATEGORY" val="diagram"/>
  <p:tag name="KSO_WM_TEMPLATE_INDEX" val="20231660"/>
  <p:tag name="KSO_WM_UNIT_LAYERLEVEL" val="1_1_1"/>
  <p:tag name="KSO_WM_TAG_VERSION" val="3.0"/>
  <p:tag name="KSO_WM_BEAUTIFY_FLAG" val="#wm#"/>
  <p:tag name="KSO_WM_UNIT_TYPE" val="q_h_i"/>
  <p:tag name="KSO_WM_UNIT_INDEX" val="1_5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1660_4*q_h_x*1_5_1"/>
  <p:tag name="KSO_WM_TEMPLATE_CATEGORY" val="diagram"/>
  <p:tag name="KSO_WM_TEMPLATE_INDEX" val="20231660"/>
  <p:tag name="KSO_WM_UNIT_LAYERLEVEL" val="1_1_1"/>
  <p:tag name="KSO_WM_TAG_VERSION" val="3.0"/>
  <p:tag name="KSO_WM_BEAUTIFY_FLAG" val="#wm#"/>
  <p:tag name="KSO_WM_UNIT_VALUE" val="52*54"/>
  <p:tag name="KSO_WM_UNIT_TYPE" val="q_h_x"/>
  <p:tag name="KSO_WM_UNIT_INDEX" val="1_5_1"/>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FILL_TYPE" val="1"/>
  <p:tag name="KSO_WM_UNIT_FILL_FORE_SCHEMECOLOR_INDEX" val="2"/>
  <p:tag name="KSO_WM_UNIT_FILL_FORE_SCHEMECOLOR_INDEX_BRIGHTNESS" val="0"/>
  <p:tag name="KSO_WM_UNIT_TEXT_FILL_FORE_SCHEMECOLOR_INDEX" val="2"/>
  <p:tag name="KSO_WM_UNIT_TEXT_FILL_TYPE" val="1"/>
  <p:tag name="KSO_WM_UNIT_USESOURCEFORMAT_APPLY" val="1"/>
</p:tagLst>
</file>

<file path=ppt/tags/tag10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2_1"/>
  <p:tag name="KSO_WM_UNIT_ID" val="diagram20231660_4*q_h_f*1_2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Lst>
</file>

<file path=ppt/tags/tag1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2_1"/>
  <p:tag name="KSO_WM_UNIT_ID" val="diagram20231660_4*q_h_a*1_2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1"/>
</p:tagLst>
</file>

<file path=ppt/tags/tag104.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3_1"/>
  <p:tag name="KSO_WM_UNIT_ID" val="diagram20231660_4*q_h_f*1_3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Lst>
</file>

<file path=ppt/tags/tag10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3_1"/>
  <p:tag name="KSO_WM_UNIT_ID" val="diagram20231660_4*q_h_a*1_3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1"/>
</p:tagLst>
</file>

<file path=ppt/tags/tag1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4_1"/>
  <p:tag name="KSO_WM_UNIT_ID" val="diagram20231660_4*q_h_f*1_4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Lst>
</file>

<file path=ppt/tags/tag10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4_1"/>
  <p:tag name="KSO_WM_UNIT_ID" val="diagram20231660_4*q_h_a*1_4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1"/>
</p:tagLst>
</file>

<file path=ppt/tags/tag108.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5_1"/>
  <p:tag name="KSO_WM_UNIT_ID" val="diagram20231660_4*q_h_f*1_5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Lst>
</file>

<file path=ppt/tags/tag1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5_1"/>
  <p:tag name="KSO_WM_UNIT_ID" val="diagram20231660_4*q_h_a*1_5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1"/>
</p:tagLst>
</file>

<file path=ppt/tags/tag11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q_h_f"/>
  <p:tag name="KSO_WM_UNIT_INDEX" val="1_1_1"/>
  <p:tag name="KSO_WM_UNIT_ID" val="diagram20231660_4*q_h_f*1_1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单击此处输入您的项正文文字是您思想的提炼"/>
  <p:tag name="KSO_WM_UNIT_TEXT_TYPE" val="1"/>
  <p:tag name="KSO_WM_UNIT_USESOURCEFORMAT_APPLY" val="1"/>
</p:tagLst>
</file>

<file path=ppt/tags/tag1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q_h_a"/>
  <p:tag name="KSO_WM_UNIT_INDEX" val="1_1_1"/>
  <p:tag name="KSO_WM_UNIT_ID" val="diagram20231660_4*q_h_a*1_1_1"/>
  <p:tag name="KSO_WM_TEMPLATE_CATEGORY" val="diagram"/>
  <p:tag name="KSO_WM_TEMPLATE_INDEX" val="20231660"/>
  <p:tag name="KSO_WM_UNIT_LAYERLEVEL" val="1_1_1"/>
  <p:tag name="KSO_WM_TAG_VERSION" val="3.0"/>
  <p:tag name="KSO_WM_BEAUTIFY_FLAG" val="#wm#"/>
  <p:tag name="KSO_WM_DIAGRAM_GROUP_CODE" val="q1-1"/>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1"/>
  <p:tag name="KSO_WM_DIAGRAM_COLOR_TEXT_CAN_REMOVE" val="n"/>
  <p:tag name="KSO_WM_UNIT_TEXT_FILL_FORE_SCHEMECOLOR_INDEX" val="1"/>
  <p:tag name="KSO_WM_UNIT_TEXT_FILL_TYPE" val="1"/>
  <p:tag name="KSO_WM_UNIT_PRESET_TEXT" val="此处添加标题"/>
  <p:tag name="KSO_WM_UNIT_TEXT_TYPE" val="1"/>
  <p:tag name="KSO_WM_UNIT_USESOURCEFORMAT_APPLY" val="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i"/>
  <p:tag name="KSO_WM_UNIT_INDEX" val="1_1_1"/>
  <p:tag name="KSO_WM_UNIT_ID" val="diagram20231660_4*q_h_i*1_1_1"/>
  <p:tag name="KSO_WM_TEMPLATE_CATEGORY" val="diagram"/>
  <p:tag name="KSO_WM_TEMPLATE_INDEX" val="20231660"/>
  <p:tag name="KSO_WM_UNIT_LAYERLEVEL" val="1_1_1"/>
  <p:tag name="KSO_WM_TAG_VERSION" val="3.0"/>
  <p:tag name="KSO_WM_BEAUTIFY_FLAG" val="#wm#"/>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UNIT_TEXT_FILL_FORE_SCHEMECOLOR_INDEX" val="1"/>
  <p:tag name="KSO_WM_UNIT_TEXT_FILL_TYPE" val="1"/>
  <p:tag name="KSO_WM_UNIT_USESOURCEFORMAT_APPLY" val="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q_h_x"/>
  <p:tag name="KSO_WM_UNIT_INDEX" val="1_1_1"/>
  <p:tag name="KSO_WM_UNIT_ID" val="diagram20231660_4*q_h_x*1_1_1"/>
  <p:tag name="KSO_WM_TEMPLATE_CATEGORY" val="diagram"/>
  <p:tag name="KSO_WM_TEMPLATE_INDEX" val="20231660"/>
  <p:tag name="KSO_WM_UNIT_LAYERLEVEL" val="1_1_1"/>
  <p:tag name="KSO_WM_TAG_VERSION" val="3.0"/>
  <p:tag name="KSO_WM_BEAUTIFY_FLAG" val="#wm#"/>
  <p:tag name="KSO_WM_UNIT_VALUE" val="54*50"/>
  <p:tag name="KSO_WM_DIAGRAM_GROUP_CODE" val="q1-1"/>
  <p:tag name="KSO_WM_DIAGRAM_VERSION" val="3"/>
  <p:tag name="KSO_WM_DIAGRAM_COLOR_TRICK" val="1"/>
  <p:tag name="KSO_WM_DIAGRAM_COLOR_TEXT_CAN_REMOVE" val="n"/>
  <p:tag name="KSO_WM_DIAGRAM_MAX_ITEMCNT" val="6"/>
  <p:tag name="KSO_WM_DIAGRAM_MIN_ITEMCNT" val="2"/>
  <p:tag name="KSO_WM_DIAGRAM_VIRTUALLY_FRAME" val="{&quot;height&quot;:402.69189400259904,&quot;left&quot;:20.726299212598427,&quot;top&quot;:81.68031496062993,&quot;width&quot;:924.3737007874015}"/>
  <p:tag name="KSO_WM_DIAGRAM_COLOR_MATCH_VALUE" val="{&quot;shape&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2"/>
  <p:tag name="KSO_WM_UNIT_FILL_FORE_SCHEMECOLOR_INDEX_BRIGHTNESS" val="0"/>
  <p:tag name="KSO_WM_UNIT_TEXT_FILL_FORE_SCHEMECOLOR_INDEX" val="2"/>
  <p:tag name="KSO_WM_UNIT_TEXT_FILL_TYPE" val="1"/>
  <p:tag name="KSO_WM_UNIT_USESOURCEFORMAT_APPLY" val="1"/>
</p:tagLst>
</file>

<file path=ppt/tags/tag114.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FILL_FORE_SCHEMECOLOR_INDEX_2_BRIGHTNESS" val="0.8"/>
  <p:tag name="KSO_WM_UNIT_FILL_FORE_SCHEMECOLOR_INDEX_2" val="5"/>
  <p:tag name="KSO_WM_UNIT_FILL_FORE_SCHEMECOLOR_INDEX_2_POS" val="0.52"/>
  <p:tag name="KSO_WM_UNIT_FILL_FORE_SCHEMECOLOR_INDEX_2_TRANS" val="0.85"/>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4*n_h_i*1_1_6"/>
  <p:tag name="KSO_WM_TEMPLATE_CATEGORY" val="diagram"/>
  <p:tag name="KSO_WM_TEMPLATE_INDEX" val="20230964"/>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1_6"/>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quot;colorType&quot;:2,&quot;pos&quot;:0,&quot;rgb&quot;:&quot;#ffffff&quot;,&quot;transparency&quot;:1},{&quot;brightness&quot;:0.800000011920929,&quot;colorType&quot;:1,&quot;foreColorIndex&quot;:5,&quot;pos&quot;:0.5199999809265137,&quot;transparency&quot;:0.8500000238418579}],&quot;type&quot;:3},&quot;glow&quot;:{&quot;colorType&quot;:0},&quot;line&quot;:{&quot;solidLine&quot;:{&quot;brightness&quot;:0,&quot;colorType&quot;:1,&quot;foreColorIndex&quot;:5,&quot;transparency&quot;:0.8999999761581421},&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USESOURCEFORMAT_APPLY" val="1"/>
</p:tagLst>
</file>

<file path=ppt/tags/tag115.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FILL_FORE_SCHEMECOLOR_INDEX_2_BRIGHTNESS" val="0.8"/>
  <p:tag name="KSO_WM_UNIT_FILL_FORE_SCHEMECOLOR_INDEX_2" val="5"/>
  <p:tag name="KSO_WM_UNIT_FILL_FORE_SCHEMECOLOR_INDEX_2_POS" val="0.81"/>
  <p:tag name="KSO_WM_UNIT_FILL_FORE_SCHEMECOLOR_INDEX_2_TRANS" val="0.75"/>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4*n_h_i*1_1_5"/>
  <p:tag name="KSO_WM_TEMPLATE_CATEGORY" val="diagram"/>
  <p:tag name="KSO_WM_TEMPLATE_INDEX" val="20230964"/>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1_5"/>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quot;colorType&quot;:2,&quot;pos&quot;:0,&quot;rgb&quot;:&quot;#ffffff&quot;,&quot;transparency&quot;:1},{&quot;brightness&quot;:0.800000011920929,&quot;colorType&quot;:1,&quot;foreColorIndex&quot;:5,&quot;pos&quot;:0.8100000023841858,&quot;transparency&quot;:0.75}],&quot;type&quot;:3},&quot;glow&quot;:{&quot;colorType&quot;:0},&quot;line&quot;:{&quot;solidLine&quot;:{&quot;brightness&quot;:0,&quot;colorType&quot;:1,&quot;foreColorIndex&quot;:5,&quot;transparency&quot;:0.75},&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USESOURCEFORMAT_APPLY" val="1"/>
</p:tagLst>
</file>

<file path=ppt/tags/tag11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FILL_FORE_SCHEMECOLOR_INDEX_2_BRIGHTNESS" val="0.8"/>
  <p:tag name="KSO_WM_UNIT_FILL_FORE_SCHEMECOLOR_INDEX_2" val="5"/>
  <p:tag name="KSO_WM_UNIT_FILL_FORE_SCHEMECOLOR_INDEX_2_POS" val="0.77"/>
  <p:tag name="KSO_WM_UNIT_FILL_FORE_SCHEMECOLOR_INDEX_2_TRANS" val="0.5"/>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4*n_h_i*1_1_4"/>
  <p:tag name="KSO_WM_TEMPLATE_CATEGORY" val="diagram"/>
  <p:tag name="KSO_WM_TEMPLATE_INDEX" val="20230964"/>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1_4"/>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quot;colorType&quot;:2,&quot;pos&quot;:0,&quot;rgb&quot;:&quot;#ffffff&quot;,&quot;transparency&quot;:1},{&quot;brightness&quot;:0.800000011920929,&quot;colorType&quot;:1,&quot;foreColorIndex&quot;:5,&quot;pos&quot;:0.7699999809265137,&quot;transparency&quot;:0.6000000238418579}],&quot;type&quot;:3},&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LINE_FORE_SCHEMECOLOR_INDEX" val="5"/>
  <p:tag name="KSO_WM_UNIT_USESOURCEFORMAT_APPLY" val="1"/>
</p:tagLst>
</file>

<file path=ppt/tags/tag117.xml><?xml version="1.0" encoding="utf-8"?>
<p:tagLst xmlns:p="http://schemas.openxmlformats.org/presentationml/2006/main">
  <p:tag name="KSO_WM_UNIT_FILL_FORE_SCHEMECOLOR_INDEX_1_BRIGHTNESS" val="0.4"/>
  <p:tag name="KSO_WM_UNIT_FILL_FORE_SCHEMECOLOR_INDEX_1" val="10"/>
  <p:tag name="KSO_WM_UNIT_FILL_FORE_SCHEMECOLOR_INDEX_1_POS" val="0"/>
  <p:tag name="KSO_WM_UNIT_FILL_FORE_SCHEMECOLOR_INDEX_1_TRANS" val="0"/>
  <p:tag name="KSO_WM_UNIT_FILL_FORE_SCHEMECOLOR_INDEX_2_BRIGHTNESS" val="0"/>
  <p:tag name="KSO_WM_UNIT_FILL_FORE_SCHEMECOLOR_INDEX_2" val="10"/>
  <p:tag name="KSO_WM_UNIT_FILL_FORE_SCHEMECOLOR_INDEX_2_POS" val="0.48"/>
  <p:tag name="KSO_WM_UNIT_FILL_FORE_SCHEMECOLOR_INDEX_2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4*n_h_h_a*1_2_2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2_1"/>
  <p:tag name="KSO_WM_DIAGRAM_VERSION" val="3"/>
  <p:tag name="KSO_WM_DIAGRAM_COLOR_TRICK" val="3"/>
  <p:tag name="KSO_WM_DIAGRAM_COLOR_TEXT_CAN_REMOVE" val="n"/>
  <p:tag name="KSO_WM_UNIT_VALUE" val="6"/>
  <p:tag name="KSO_WM_DIAGRAM_GROUP_CODE" val="n1-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6000000238418579,&quot;colorType&quot;:1,&quot;foreColorIndex&quot;:6,&quot;pos&quot;:0,&quot;transparency&quot;:0},{&quot;brightness&quot;:0,&quot;colorType&quot;:1,&quot;foreColorIndex&quot;:6,&quot;pos&quot;:0.47999998927116394,&quot;transparency&quot;:0}],&quot;type&quot;:3},&quot;glow&quot;:{&quot;colorType&quot;:0},&quot;line&quot;:{&quot;solidLine&quot;:{&quot;brightness&quot;:0,&quot;colorType&quot;:1,&quot;foreColorIndex&quot;:6,&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标题"/>
  <p:tag name="KSO_WM_UNIT_FILL_TYPE" val="3"/>
  <p:tag name="KSO_WM_UNIT_LINE_FORE_SCHEMECOLOR_INDEX" val="6"/>
  <p:tag name="KSO_WM_UNIT_TEXT_TYPE" val="1"/>
  <p:tag name="KSO_WM_UNIT_USESOURCEFORMAT_APPLY" val="1"/>
</p:tagLst>
</file>

<file path=ppt/tags/tag118.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55"/>
  <p:tag name="KSO_WM_UNIT_LINE_FORE_SCHEMECOLOR_INDEX_1" val="5"/>
  <p:tag name="KSO_WM_UNIT_LINE_FORE_SCHEMECOLOR_INDEX_1_POS" val="0"/>
  <p:tag name="KSO_WM_UNIT_LINE_FORE_SCHEMECOLOR_INDEX_1_TRANS" val="0"/>
  <p:tag name="KSO_WM_UNIT_LINE_FORE_SCHEMECOLOR_INDEX_2_BRIGHTNESS" val="0.95"/>
  <p:tag name="KSO_WM_UNIT_LINE_FORE_SCHEMECOLOR_INDEX_2" val="5"/>
  <p:tag name="KSO_WM_UNIT_LINE_FORE_SCHEMECOLOR_INDEX_2_POS" val="0.37"/>
  <p:tag name="KSO_WM_UNIT_LINE_FORE_SCHEMECOLOR_INDEX_2_TRANS" val="0"/>
  <p:tag name="KSO_WM_UNIT_LINE_FORE_SCHEMECOLOR_INDEX_3_BRIGHTNESS" val="0.7"/>
  <p:tag name="KSO_WM_UNIT_LINE_FORE_SCHEMECOLOR_INDEX_3" val="5"/>
  <p:tag name="KSO_WM_UNIT_LINE_FORE_SCHEMECOLOR_INDEX_3_POS" val="0.71"/>
  <p:tag name="KSO_WM_UNIT_LINE_FORE_SCHEMECOLOR_INDEX_3_TRANS" val="0"/>
  <p:tag name="KSO_WM_UNIT_LINE_FORE_SCHEMECOLOR_INDEX_4_BRIGHTNESS" val="0"/>
  <p:tag name="KSO_WM_UNIT_LINE_FORE_SCHEMECOLOR_INDEX_4" val="14"/>
  <p:tag name="KSO_WM_UNIT_LINE_FORE_SCHEMECOLOR_INDEX_4_POS" val="1"/>
  <p:tag name="KSO_WM_UNIT_LINE_FORE_SCHEMECOLOR_INDEX_4_TRANS" val="0"/>
  <p:tag name="KSO_WM_UNIT_LINE_GRADIENT_TYPE" val="0"/>
  <p:tag name="KSO_WM_UNIT_LINE_GRADIENT_ANGLE" val="270"/>
  <p:tag name="KSO_WM_UNIT_LINE_GRADIENT_DIRECTION" val="6"/>
  <p:tag name="KSO_WM_UNIT_LINE_FILL_TYPE" val="5"/>
  <p:tag name="KSO_WM_UNIT_SHADOW_SCHEMECOLOR_INDEX_BRIGHTNESS" val="0"/>
  <p:tag name="KSO_WM_UNIT_SHADOW_SCHEMECOLOR_INDEX" val="5"/>
  <p:tag name="KSO_WM_UNIT_HIGHLIGHT" val="0"/>
  <p:tag name="KSO_WM_UNIT_COMPATIBLE" val="0"/>
  <p:tag name="KSO_WM_UNIT_DIAGRAM_ISNUMVISUAL" val="0"/>
  <p:tag name="KSO_WM_UNIT_DIAGRAM_ISREFERUNIT" val="0"/>
  <p:tag name="KSO_WM_UNIT_ID" val="diagram20230964_4*n_h_h_i*1_2_2_1"/>
  <p:tag name="KSO_WM_TEMPLATE_CATEGORY" val="diagram"/>
  <p:tag name="KSO_WM_TEMPLATE_INDEX" val="20230964"/>
  <p:tag name="KSO_WM_UNIT_LAYERLEVEL" val="1_1_1_1"/>
  <p:tag name="KSO_WM_TAG_VERSION" val="3.0"/>
  <p:tag name="KSO_WM_DIAGRAM_VERSION" val="3"/>
  <p:tag name="KSO_WM_DIAGRAM_COLOR_TRICK" val="3"/>
  <p:tag name="KSO_WM_DIAGRAM_COLOR_TEXT_CAN_REMOVE" val="n"/>
  <p:tag name="KSO_WM_DIAGRAM_GROUP_CODE" val="n1-1"/>
  <p:tag name="KSO_WM_UNIT_TYPE" val="n_h_h_i"/>
  <p:tag name="KSO_WM_UNIT_INDEX" val="1_2_2_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4000000059604645,&quot;colorType&quot;:1,&quot;foreColorIndex&quot;:6,&quot;pos&quot;:0.03999999910593033,&quot;transparency&quot;:0},{&quot;brightness&quot;:0,&quot;colorType&quot;:1,&quot;foreColorIndex&quot;:6,&quot;pos&quot;:1,&quot;transparency&quot;:0},{&quot;brightness&quot;:0,&quot;colorType&quot;:1,&quot;foreColorIndex&quot;:6,&quot;pos&quot;:0.5400000214576721,&quot;transparency&quot;:0}],&quot;type&quot;:3},&quot;glow&quot;:{&quot;colorType&quot;:0},&quot;line&quot;:{&quot;gradient&quot;:[{&quot;brightness&quot;:0.800000011920929,&quot;colorType&quot;:1,&quot;foreColorIndex&quot;:8,&quot;pos&quot;:0,&quot;transparency&quot;:0},{&quot;brightness&quot;:0.949999988079071,&quot;colorType&quot;:2,&quot;pos&quot;:0.3700000047683716,&quot;rgb&quot;:&quot;#fdfeff&quot;,&quot;transparency&quot;:0},{&quot;brightness&quot;:0.800000011920929,&quot;colorType&quot;:1,&quot;foreColorIndex&quot;:8,&quot;pos&quot;:0.7099999785423279,&quot;transparency&quot;:0},{&quot;brightness&quot;:0,&quot;colorType&quot;:2,&quot;pos&quot;:1,&quot;rgb&quot;:&quot;#ffffff&quot;,&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19.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n_h_h_f"/>
  <p:tag name="KSO_WM_UNIT_INDEX" val="1_2_2_1"/>
  <p:tag name="KSO_WM_UNIT_ID" val="diagram20230964_4*n_h_h_f*1_2_2_1"/>
  <p:tag name="KSO_WM_TEMPLATE_CATEGORY" val="diagram"/>
  <p:tag name="KSO_WM_TEMPLATE_INDEX" val="20230964"/>
  <p:tag name="KSO_WM_UNIT_LAYERLEVEL" val="1_1_1_1"/>
  <p:tag name="KSO_WM_TAG_VERSION" val="3.0"/>
  <p:tag name="KSO_WM_DIAGRAM_VERSION" val="3"/>
  <p:tag name="KSO_WM_DIAGRAM_COLOR_TRICK" val="3"/>
  <p:tag name="KSO_WM_DIAGRAM_COLOR_TEXT_CAN_REMOVE" val="n"/>
  <p:tag name="KSO_WM_UNIT_VALUE" val="48"/>
  <p:tag name="KSO_WM_DIAGRAM_GROUP_CODE" val="n1-1"/>
  <p:tag name="KSO_WM_DIAGRAM_MAX_ITEMCNT" val="6"/>
  <p:tag name="KSO_WM_DIAGRAM_MIN_ITEMCNT" val="2"/>
  <p:tag name="KSO_WM_DIAGRAM_VIRTUALLY_FRAME" val="{&quot;height&quot;:453.2,&quot;left&quot;:43.2,&quot;top&quot;:85.15,&quot;width&quot;:87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10;智能图形项正文"/>
  <p:tag name="KSO_WM_UNIT_TEXT_FILL_FORE_SCHEMECOLOR_INDEX" val="1"/>
  <p:tag name="KSO_WM_UNIT_TEXT_FILL_TYPE" val="1"/>
  <p:tag name="KSO_WM_UNIT_TEXT_TYPE" val="1"/>
  <p:tag name="KSO_WM_UNIT_USESOURCEFORMAT_APPLY" val="1"/>
</p:tagLst>
</file>

<file path=ppt/tags/tag120.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4*n_h_h_a*1_2_1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1_1"/>
  <p:tag name="KSO_WM_DIAGRAM_VERSION" val="3"/>
  <p:tag name="KSO_WM_DIAGRAM_COLOR_TRICK" val="3"/>
  <p:tag name="KSO_WM_DIAGRAM_COLOR_TEXT_CAN_REMOVE" val="n"/>
  <p:tag name="KSO_WM_UNIT_VALUE" val="6"/>
  <p:tag name="KSO_WM_DIAGRAM_GROUP_CODE" val="n1-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6000000238418579,&quot;colorType&quot;:1,&quot;foreColorIndex&quot;:5,&quot;pos&quot;:0,&quot;transparency&quot;:0},{&quot;brightness&quot;:0,&quot;colorType&quot;:1,&quot;foreColorIndex&quot;:5,&quot;pos&quot;:0.47999998927116394,&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标题"/>
  <p:tag name="KSO_WM_UNIT_FILL_TYPE" val="3"/>
  <p:tag name="KSO_WM_UNIT_LINE_FORE_SCHEMECOLOR_INDEX" val="5"/>
  <p:tag name="KSO_WM_UNIT_TEXT_TYPE" val="1"/>
  <p:tag name="KSO_WM_UNIT_USESOURCEFORMAT_APPLY" val="1"/>
</p:tagLst>
</file>

<file path=ppt/tags/tag121.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8"/>
  <p:tag name="KSO_WM_UNIT_LINE_FORE_SCHEMECOLOR_INDEX_1" val="8"/>
  <p:tag name="KSO_WM_UNIT_LINE_FORE_SCHEMECOLOR_INDEX_1_POS" val="0"/>
  <p:tag name="KSO_WM_UNIT_LINE_FORE_SCHEMECOLOR_INDEX_1_TRANS" val="0"/>
  <p:tag name="KSO_WM_UNIT_LINE_FORE_SCHEMECOLOR_INDEX_2_BRIGHTNESS" val="0.95"/>
  <p:tag name="KSO_WM_UNIT_LINE_FORE_SCHEMECOLOR_INDEX_2" val="5"/>
  <p:tag name="KSO_WM_UNIT_LINE_FORE_SCHEMECOLOR_INDEX_2_POS" val="0.37"/>
  <p:tag name="KSO_WM_UNIT_LINE_FORE_SCHEMECOLOR_INDEX_2_TRANS" val="0"/>
  <p:tag name="KSO_WM_UNIT_LINE_FORE_SCHEMECOLOR_INDEX_3_BRIGHTNESS" val="0.8"/>
  <p:tag name="KSO_WM_UNIT_LINE_FORE_SCHEMECOLOR_INDEX_3" val="8"/>
  <p:tag name="KSO_WM_UNIT_LINE_FORE_SCHEMECOLOR_INDEX_3_POS" val="0.71"/>
  <p:tag name="KSO_WM_UNIT_LINE_FORE_SCHEMECOLOR_INDEX_3_TRANS" val="0"/>
  <p:tag name="KSO_WM_UNIT_LINE_FORE_SCHEMECOLOR_INDEX_4_BRIGHTNESS" val="0"/>
  <p:tag name="KSO_WM_UNIT_LINE_FORE_SCHEMECOLOR_INDEX_4" val="14"/>
  <p:tag name="KSO_WM_UNIT_LINE_FORE_SCHEMECOLOR_INDEX_4_POS" val="1"/>
  <p:tag name="KSO_WM_UNIT_LINE_FORE_SCHEMECOLOR_INDEX_4_TRANS" val="0"/>
  <p:tag name="KSO_WM_UNIT_LINE_GRADIENT_TYPE" val="0"/>
  <p:tag name="KSO_WM_UNIT_LINE_GRADIENT_ANGLE" val="270"/>
  <p:tag name="KSO_WM_UNIT_LINE_GRADIENT_DIRECTION" val="6"/>
  <p:tag name="KSO_WM_UNIT_LINE_FILL_TYPE" val="5"/>
  <p:tag name="KSO_WM_UNIT_SHADOW_SCHEMECOLOR_INDEX_BRIGHTNESS" val="0"/>
  <p:tag name="KSO_WM_UNIT_SHADOW_SCHEMECOLOR_INDEX" val="8"/>
  <p:tag name="KSO_WM_UNIT_HIGHLIGHT" val="0"/>
  <p:tag name="KSO_WM_UNIT_COMPATIBLE" val="0"/>
  <p:tag name="KSO_WM_UNIT_DIAGRAM_ISNUMVISUAL" val="0"/>
  <p:tag name="KSO_WM_UNIT_DIAGRAM_ISREFERUNIT" val="0"/>
  <p:tag name="KSO_WM_UNIT_ID" val="diagram20230964_4*n_h_h_i*1_2_1_1"/>
  <p:tag name="KSO_WM_TEMPLATE_CATEGORY" val="diagram"/>
  <p:tag name="KSO_WM_TEMPLATE_INDEX" val="20230964"/>
  <p:tag name="KSO_WM_UNIT_LAYERLEVEL" val="1_1_1_1"/>
  <p:tag name="KSO_WM_TAG_VERSION" val="3.0"/>
  <p:tag name="KSO_WM_DIAGRAM_VERSION" val="3"/>
  <p:tag name="KSO_WM_DIAGRAM_COLOR_TRICK" val="3"/>
  <p:tag name="KSO_WM_DIAGRAM_COLOR_TEXT_CAN_REMOVE" val="n"/>
  <p:tag name="KSO_WM_DIAGRAM_GROUP_CODE" val="n1-1"/>
  <p:tag name="KSO_WM_UNIT_TYPE" val="n_h_h_i"/>
  <p:tag name="KSO_WM_UNIT_INDEX" val="1_2_1_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4000000059604645,&quot;colorType&quot;:1,&quot;foreColorIndex&quot;:5,&quot;pos&quot;:0.03999999910593033,&quot;transparency&quot;:0},{&quot;brightness&quot;:0,&quot;colorType&quot;:1,&quot;foreColorIndex&quot;:5,&quot;pos&quot;:0.5400000214576721,&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22.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n_h_h_f"/>
  <p:tag name="KSO_WM_UNIT_INDEX" val="1_2_1_1"/>
  <p:tag name="KSO_WM_UNIT_ID" val="diagram20230964_4*n_h_h_f*1_2_1_1"/>
  <p:tag name="KSO_WM_TEMPLATE_CATEGORY" val="diagram"/>
  <p:tag name="KSO_WM_TEMPLATE_INDEX" val="20230964"/>
  <p:tag name="KSO_WM_UNIT_LAYERLEVEL" val="1_1_1_1"/>
  <p:tag name="KSO_WM_TAG_VERSION" val="3.0"/>
  <p:tag name="KSO_WM_DIAGRAM_VERSION" val="3"/>
  <p:tag name="KSO_WM_DIAGRAM_COLOR_TRICK" val="3"/>
  <p:tag name="KSO_WM_DIAGRAM_COLOR_TEXT_CAN_REMOVE" val="n"/>
  <p:tag name="KSO_WM_UNIT_VALUE" val="48"/>
  <p:tag name="KSO_WM_DIAGRAM_GROUP_CODE" val="n1-1"/>
  <p:tag name="KSO_WM_DIAGRAM_MAX_ITEMCNT" val="6"/>
  <p:tag name="KSO_WM_DIAGRAM_MIN_ITEMCNT" val="2"/>
  <p:tag name="KSO_WM_DIAGRAM_VIRTUALLY_FRAME" val="{&quot;height&quot;:453.2,&quot;left&quot;:43.2,&quot;top&quot;:85.15,&quot;width&quot;:87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10;智能图形项正文"/>
  <p:tag name="KSO_WM_UNIT_TEXT_FILL_FORE_SCHEMECOLOR_INDEX" val="1"/>
  <p:tag name="KSO_WM_UNIT_TEXT_FILL_TYPE" val="1"/>
  <p:tag name="KSO_WM_UNIT_TEXT_TYPE" val="1"/>
  <p:tag name="KSO_WM_UNIT_USESOURCEFORMAT_APPLY" val="1"/>
</p:tagLst>
</file>

<file path=ppt/tags/tag123.xml><?xml version="1.0" encoding="utf-8"?>
<p:tagLst xmlns:p="http://schemas.openxmlformats.org/presentationml/2006/main">
  <p:tag name="KSO_WM_UNIT_FILL_FORE_SCHEMECOLOR_INDEX_1_BRIGHTNESS" val="0.4"/>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8"/>
  <p:tag name="KSO_WM_UNIT_FILL_FORE_SCHEMECOLOR_INDEX_2_POS" val="0.48"/>
  <p:tag name="KSO_WM_UNIT_FILL_FORE_SCHEMECOLOR_INDEX_2_TRANS" val="0"/>
  <p:tag name="KSO_WM_UNIT_FILL_FORE_SCHEMECOLOR_INDEX_3_BRIGHTNESS" val="0.4"/>
  <p:tag name="KSO_WM_UNIT_FILL_FORE_SCHEMECOLOR_INDEX_3" val="8"/>
  <p:tag name="KSO_WM_UNIT_FILL_FORE_SCHEMECOLOR_INDEX_3_POS" val="1"/>
  <p:tag name="KSO_WM_UNIT_FILL_FORE_SCHEMECOLOR_INDEX_3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4*n_h_h_a*1_2_4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4_1"/>
  <p:tag name="KSO_WM_DIAGRAM_VERSION" val="3"/>
  <p:tag name="KSO_WM_DIAGRAM_COLOR_TRICK" val="3"/>
  <p:tag name="KSO_WM_DIAGRAM_COLOR_TEXT_CAN_REMOVE" val="n"/>
  <p:tag name="KSO_WM_UNIT_VALUE" val="6"/>
  <p:tag name="KSO_WM_DIAGRAM_GROUP_CODE" val="n1-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6000000238418579,&quot;colorType&quot;:1,&quot;foreColorIndex&quot;:5,&quot;pos&quot;:0,&quot;transparency&quot;:0},{&quot;brightness&quot;:0,&quot;colorType&quot;:1,&quot;foreColorIndex&quot;:5,&quot;pos&quot;:0.47999998927116394,&quot;transparency&quot;:0}],&quot;type&quot;:3},&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标题"/>
  <p:tag name="KSO_WM_UNIT_FILL_TYPE" val="3"/>
  <p:tag name="KSO_WM_UNIT_LINE_FORE_SCHEMECOLOR_INDEX" val="5"/>
  <p:tag name="KSO_WM_UNIT_TEXT_TYPE" val="1"/>
  <p:tag name="KSO_WM_UNIT_USESOURCEFORMAT_APPLY" val="1"/>
</p:tagLst>
</file>

<file path=ppt/tags/tag124.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8"/>
  <p:tag name="KSO_WM_UNIT_LINE_FORE_SCHEMECOLOR_INDEX_1" val="8"/>
  <p:tag name="KSO_WM_UNIT_LINE_FORE_SCHEMECOLOR_INDEX_1_POS" val="0"/>
  <p:tag name="KSO_WM_UNIT_LINE_FORE_SCHEMECOLOR_INDEX_1_TRANS" val="0"/>
  <p:tag name="KSO_WM_UNIT_LINE_FORE_SCHEMECOLOR_INDEX_2_BRIGHTNESS" val="0.95"/>
  <p:tag name="KSO_WM_UNIT_LINE_FORE_SCHEMECOLOR_INDEX_2" val="5"/>
  <p:tag name="KSO_WM_UNIT_LINE_FORE_SCHEMECOLOR_INDEX_2_POS" val="0.37"/>
  <p:tag name="KSO_WM_UNIT_LINE_FORE_SCHEMECOLOR_INDEX_2_TRANS" val="0"/>
  <p:tag name="KSO_WM_UNIT_LINE_FORE_SCHEMECOLOR_INDEX_3_BRIGHTNESS" val="0.8"/>
  <p:tag name="KSO_WM_UNIT_LINE_FORE_SCHEMECOLOR_INDEX_3" val="8"/>
  <p:tag name="KSO_WM_UNIT_LINE_FORE_SCHEMECOLOR_INDEX_3_POS" val="0.71"/>
  <p:tag name="KSO_WM_UNIT_LINE_FORE_SCHEMECOLOR_INDEX_3_TRANS" val="0"/>
  <p:tag name="KSO_WM_UNIT_LINE_FORE_SCHEMECOLOR_INDEX_4_BRIGHTNESS" val="0"/>
  <p:tag name="KSO_WM_UNIT_LINE_FORE_SCHEMECOLOR_INDEX_4" val="14"/>
  <p:tag name="KSO_WM_UNIT_LINE_FORE_SCHEMECOLOR_INDEX_4_POS" val="1"/>
  <p:tag name="KSO_WM_UNIT_LINE_FORE_SCHEMECOLOR_INDEX_4_TRANS" val="0"/>
  <p:tag name="KSO_WM_UNIT_LINE_GRADIENT_TYPE" val="0"/>
  <p:tag name="KSO_WM_UNIT_LINE_GRADIENT_ANGLE" val="270"/>
  <p:tag name="KSO_WM_UNIT_LINE_GRADIENT_DIRECTION" val="6"/>
  <p:tag name="KSO_WM_UNIT_LINE_FILL_TYPE" val="5"/>
  <p:tag name="KSO_WM_UNIT_SHADOW_SCHEMECOLOR_INDEX_BRIGHTNESS" val="0"/>
  <p:tag name="KSO_WM_UNIT_SHADOW_SCHEMECOLOR_INDEX" val="8"/>
  <p:tag name="KSO_WM_UNIT_HIGHLIGHT" val="0"/>
  <p:tag name="KSO_WM_UNIT_COMPATIBLE" val="0"/>
  <p:tag name="KSO_WM_UNIT_DIAGRAM_ISNUMVISUAL" val="0"/>
  <p:tag name="KSO_WM_UNIT_DIAGRAM_ISREFERUNIT" val="0"/>
  <p:tag name="KSO_WM_UNIT_ID" val="diagram20230964_4*n_h_h_i*1_2_4_1"/>
  <p:tag name="KSO_WM_TEMPLATE_CATEGORY" val="diagram"/>
  <p:tag name="KSO_WM_TEMPLATE_INDEX" val="20230964"/>
  <p:tag name="KSO_WM_UNIT_LAYERLEVEL" val="1_1_1_1"/>
  <p:tag name="KSO_WM_TAG_VERSION" val="3.0"/>
  <p:tag name="KSO_WM_DIAGRAM_VERSION" val="3"/>
  <p:tag name="KSO_WM_DIAGRAM_COLOR_TRICK" val="3"/>
  <p:tag name="KSO_WM_DIAGRAM_COLOR_TEXT_CAN_REMOVE" val="n"/>
  <p:tag name="KSO_WM_DIAGRAM_GROUP_CODE" val="n1-1"/>
  <p:tag name="KSO_WM_UNIT_TYPE" val="n_h_h_i"/>
  <p:tag name="KSO_WM_UNIT_INDEX" val="1_2_4_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4000000059604645,&quot;colorType&quot;:1,&quot;foreColorIndex&quot;:5,&quot;pos&quot;:0.03999999910593033,&quot;transparency&quot;:0},{&quot;brightness&quot;:0,&quot;colorType&quot;:1,&quot;foreColorIndex&quot;:5,&quot;pos&quot;:0.5400000214576721,&quot;transparency&quot;:0}],&quot;type&quot;:3},&quot;glow&quot;:{&quot;colorType&quot;:0},&quot;line&quot;:{&quot;gradient&quot;:[{&quot;brightness&quot;:0.800000011920929,&quot;colorType&quot;:1,&quot;foreColorIndex&quot;:5,&quot;pos&quot;:0,&quot;transparency&quot;:0},{&quot;brightness&quot;:0.949999988079071,&quot;colorType&quot;:2,&quot;pos&quot;:0.3700000047683716,&quot;rgb&quot;:&quot;#fdfe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25.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n_h_h_f"/>
  <p:tag name="KSO_WM_UNIT_INDEX" val="1_2_4_1"/>
  <p:tag name="KSO_WM_UNIT_ID" val="diagram20230964_4*n_h_h_f*1_2_4_1"/>
  <p:tag name="KSO_WM_TEMPLATE_CATEGORY" val="diagram"/>
  <p:tag name="KSO_WM_TEMPLATE_INDEX" val="20230964"/>
  <p:tag name="KSO_WM_UNIT_LAYERLEVEL" val="1_1_1_1"/>
  <p:tag name="KSO_WM_TAG_VERSION" val="3.0"/>
  <p:tag name="KSO_WM_DIAGRAM_VERSION" val="3"/>
  <p:tag name="KSO_WM_DIAGRAM_COLOR_TRICK" val="3"/>
  <p:tag name="KSO_WM_DIAGRAM_COLOR_TEXT_CAN_REMOVE" val="n"/>
  <p:tag name="KSO_WM_UNIT_VALUE" val="48"/>
  <p:tag name="KSO_WM_DIAGRAM_GROUP_CODE" val="n1-1"/>
  <p:tag name="KSO_WM_DIAGRAM_MAX_ITEMCNT" val="6"/>
  <p:tag name="KSO_WM_DIAGRAM_MIN_ITEMCNT" val="2"/>
  <p:tag name="KSO_WM_DIAGRAM_VIRTUALLY_FRAME" val="{&quot;height&quot;:453.2,&quot;left&quot;:43.2,&quot;top&quot;:85.15,&quot;width&quot;:87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10;智能图形项正文"/>
  <p:tag name="KSO_WM_UNIT_TEXT_FILL_FORE_SCHEMECOLOR_INDEX" val="1"/>
  <p:tag name="KSO_WM_UNIT_TEXT_FILL_TYPE" val="1"/>
  <p:tag name="KSO_WM_UNIT_TEXT_TYPE" val="1"/>
  <p:tag name="KSO_WM_UNIT_USESOURCEFORMAT_APPLY" val="1"/>
</p:tagLst>
</file>

<file path=ppt/tags/tag126.xml><?xml version="1.0" encoding="utf-8"?>
<p:tagLst xmlns:p="http://schemas.openxmlformats.org/presentationml/2006/main">
  <p:tag name="KSO_WM_UNIT_FILL_FORE_SCHEMECOLOR_INDEX_1_BRIGHTNESS" val="0.4"/>
  <p:tag name="KSO_WM_UNIT_FILL_FORE_SCHEMECOLOR_INDEX_1" val="10"/>
  <p:tag name="KSO_WM_UNIT_FILL_FORE_SCHEMECOLOR_INDEX_1_POS" val="0"/>
  <p:tag name="KSO_WM_UNIT_FILL_FORE_SCHEMECOLOR_INDEX_1_TRANS" val="0"/>
  <p:tag name="KSO_WM_UNIT_FILL_FORE_SCHEMECOLOR_INDEX_2_BRIGHTNESS" val="0"/>
  <p:tag name="KSO_WM_UNIT_FILL_FORE_SCHEMECOLOR_INDEX_2" val="10"/>
  <p:tag name="KSO_WM_UNIT_FILL_FORE_SCHEMECOLOR_INDEX_2_POS" val="0.48"/>
  <p:tag name="KSO_WM_UNIT_FILL_FORE_SCHEMECOLOR_INDEX_2_TRANS" val="0"/>
  <p:tag name="KSO_WM_UNIT_FILL_GRADIENT_TYPE" val="0"/>
  <p:tag name="KSO_WM_UNIT_FILL_GRADIENT_ANGLE" val="90"/>
  <p:tag name="KSO_WM_UNIT_FILL_GRADIENT_DIRECTION" val="1"/>
  <p:tag name="KSO_WM_UNIT_LINE_FORE_SCHEMECOLOR_INDEX_BRIGHTNESS" val="0"/>
  <p:tag name="KSO_WM_UNIT_LINE_FILL_TYPE" val="2"/>
  <p:tag name="KSO_WM_UNIT_TEXT_FILL_FORE_SCHEMECOLOR_INDEX_BRIGHTNESS" val="0"/>
  <p:tag name="KSO_WM_UNIT_HIGHLIGHT" val="0"/>
  <p:tag name="KSO_WM_UNIT_COMPATIBLE" val="0"/>
  <p:tag name="KSO_WM_UNIT_DIAGRAM_ISNUMVISUAL" val="0"/>
  <p:tag name="KSO_WM_UNIT_DIAGRAM_ISREFERUNIT" val="0"/>
  <p:tag name="KSO_WM_UNIT_ID" val="diagram20230964_4*n_h_h_a*1_2_5_1"/>
  <p:tag name="KSO_WM_TEMPLATE_CATEGORY" val="diagram"/>
  <p:tag name="KSO_WM_TEMPLATE_INDEX" val="20230964"/>
  <p:tag name="KSO_WM_UNIT_LAYERLEVEL" val="1_1_1_1"/>
  <p:tag name="KSO_WM_TAG_VERSION" val="3.0"/>
  <p:tag name="KSO_WM_UNIT_ISCONTENTSTITLE" val="0"/>
  <p:tag name="KSO_WM_UNIT_ISNUMDGMTITLE" val="0"/>
  <p:tag name="KSO_WM_UNIT_NOCLEAR" val="0"/>
  <p:tag name="KSO_WM_UNIT_TYPE" val="n_h_h_a"/>
  <p:tag name="KSO_WM_UNIT_INDEX" val="1_2_5_1"/>
  <p:tag name="KSO_WM_DIAGRAM_VERSION" val="3"/>
  <p:tag name="KSO_WM_DIAGRAM_COLOR_TRICK" val="3"/>
  <p:tag name="KSO_WM_DIAGRAM_COLOR_TEXT_CAN_REMOVE" val="n"/>
  <p:tag name="KSO_WM_UNIT_VALUE" val="6"/>
  <p:tag name="KSO_WM_DIAGRAM_GROUP_CODE" val="n1-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6000000238418579,&quot;colorType&quot;:1,&quot;foreColorIndex&quot;:6,&quot;pos&quot;:0,&quot;transparency&quot;:0},{&quot;brightness&quot;:0,&quot;colorType&quot;:1,&quot;foreColorIndex&quot;:6,&quot;pos&quot;:0.47999998927116394,&quot;transparency&quot;:0}],&quot;type&quot;:3},&quot;glow&quot;:{&quot;colorType&quot;:0},&quot;line&quot;:{&quot;solidLine&quot;:{&quot;brightness&quot;:0,&quot;colorType&quot;:1,&quot;foreColorIndex&quot;:6,&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TYPE" val="1"/>
  <p:tag name="KSO_WM_UNIT_PRESET_TEXT" val="添加标题"/>
  <p:tag name="KSO_WM_UNIT_FILL_TYPE" val="3"/>
  <p:tag name="KSO_WM_UNIT_LINE_FORE_SCHEMECOLOR_INDEX" val="6"/>
  <p:tag name="KSO_WM_UNIT_TEXT_TYPE" val="1"/>
  <p:tag name="KSO_WM_UNIT_USESOURCEFORMAT_APPLY" val="1"/>
</p:tagLst>
</file>

<file path=ppt/tags/tag127.xml><?xml version="1.0" encoding="utf-8"?>
<p:tagLst xmlns:p="http://schemas.openxmlformats.org/presentationml/2006/main">
  <p:tag name="KSO_WM_UNIT_FILL_FORE_SCHEMECOLOR_INDEX_1_BRIGHTNESS" val="0"/>
  <p:tag name="KSO_WM_UNIT_FILL_FORE_SCHEMECOLOR_INDEX_1" val="10"/>
  <p:tag name="KSO_WM_UNIT_FILL_FORE_SCHEMECOLOR_INDEX_1_POS" val="0.04"/>
  <p:tag name="KSO_WM_UNIT_FILL_FORE_SCHEMECOLOR_INDEX_1_TRANS" val="0"/>
  <p:tag name="KSO_WM_UNIT_FILL_FORE_SCHEMECOLOR_INDEX_2_BRIGHTNESS" val="0"/>
  <p:tag name="KSO_WM_UNIT_FILL_FORE_SCHEMECOLOR_INDEX_2" val="5"/>
  <p:tag name="KSO_WM_UNIT_FILL_FORE_SCHEMECOLOR_INDEX_2_POS" val="0.54"/>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0"/>
  <p:tag name="KSO_WM_UNIT_FILL_GRADIENT_ANGLE" val="45"/>
  <p:tag name="KSO_WM_UNIT_FILL_GRADIENT_DIRECTION" val="0"/>
  <p:tag name="KSO_WM_UNIT_TEXT_FILL_FORE_SCHEMECOLOR_INDEX_BRIGHTNESS" val="0"/>
  <p:tag name="KSO_WM_UNIT_TEXT_FILL_TYPE" val="1"/>
  <p:tag name="KSO_WM_UNIT_LINE_FORE_SCHEMECOLOR_INDEX_1_BRIGHTNESS" val="0.55"/>
  <p:tag name="KSO_WM_UNIT_LINE_FORE_SCHEMECOLOR_INDEX_1" val="5"/>
  <p:tag name="KSO_WM_UNIT_LINE_FORE_SCHEMECOLOR_INDEX_1_POS" val="0"/>
  <p:tag name="KSO_WM_UNIT_LINE_FORE_SCHEMECOLOR_INDEX_1_TRANS" val="0"/>
  <p:tag name="KSO_WM_UNIT_LINE_FORE_SCHEMECOLOR_INDEX_2_BRIGHTNESS" val="0.95"/>
  <p:tag name="KSO_WM_UNIT_LINE_FORE_SCHEMECOLOR_INDEX_2" val="5"/>
  <p:tag name="KSO_WM_UNIT_LINE_FORE_SCHEMECOLOR_INDEX_2_POS" val="0.37"/>
  <p:tag name="KSO_WM_UNIT_LINE_FORE_SCHEMECOLOR_INDEX_2_TRANS" val="0"/>
  <p:tag name="KSO_WM_UNIT_LINE_FORE_SCHEMECOLOR_INDEX_3_BRIGHTNESS" val="0.7"/>
  <p:tag name="KSO_WM_UNIT_LINE_FORE_SCHEMECOLOR_INDEX_3" val="5"/>
  <p:tag name="KSO_WM_UNIT_LINE_FORE_SCHEMECOLOR_INDEX_3_POS" val="0.71"/>
  <p:tag name="KSO_WM_UNIT_LINE_FORE_SCHEMECOLOR_INDEX_3_TRANS" val="0"/>
  <p:tag name="KSO_WM_UNIT_LINE_FORE_SCHEMECOLOR_INDEX_4_BRIGHTNESS" val="0"/>
  <p:tag name="KSO_WM_UNIT_LINE_FORE_SCHEMECOLOR_INDEX_4" val="14"/>
  <p:tag name="KSO_WM_UNIT_LINE_FORE_SCHEMECOLOR_INDEX_4_POS" val="1"/>
  <p:tag name="KSO_WM_UNIT_LINE_FORE_SCHEMECOLOR_INDEX_4_TRANS" val="0"/>
  <p:tag name="KSO_WM_UNIT_LINE_GRADIENT_TYPE" val="0"/>
  <p:tag name="KSO_WM_UNIT_LINE_GRADIENT_ANGLE" val="270"/>
  <p:tag name="KSO_WM_UNIT_LINE_GRADIENT_DIRECTION" val="6"/>
  <p:tag name="KSO_WM_UNIT_LINE_FILL_TYPE" val="5"/>
  <p:tag name="KSO_WM_UNIT_SHADOW_SCHEMECOLOR_INDEX_BRIGHTNESS" val="0"/>
  <p:tag name="KSO_WM_UNIT_SHADOW_SCHEMECOLOR_INDEX" val="5"/>
  <p:tag name="KSO_WM_UNIT_HIGHLIGHT" val="0"/>
  <p:tag name="KSO_WM_UNIT_COMPATIBLE" val="0"/>
  <p:tag name="KSO_WM_UNIT_DIAGRAM_ISNUMVISUAL" val="0"/>
  <p:tag name="KSO_WM_UNIT_DIAGRAM_ISREFERUNIT" val="0"/>
  <p:tag name="KSO_WM_UNIT_ID" val="diagram20230964_4*n_h_h_i*1_2_5_1"/>
  <p:tag name="KSO_WM_TEMPLATE_CATEGORY" val="diagram"/>
  <p:tag name="KSO_WM_TEMPLATE_INDEX" val="20230964"/>
  <p:tag name="KSO_WM_UNIT_LAYERLEVEL" val="1_1_1_1"/>
  <p:tag name="KSO_WM_TAG_VERSION" val="3.0"/>
  <p:tag name="KSO_WM_DIAGRAM_VERSION" val="3"/>
  <p:tag name="KSO_WM_DIAGRAM_COLOR_TRICK" val="3"/>
  <p:tag name="KSO_WM_DIAGRAM_COLOR_TEXT_CAN_REMOVE" val="n"/>
  <p:tag name="KSO_WM_DIAGRAM_GROUP_CODE" val="n1-1"/>
  <p:tag name="KSO_WM_UNIT_TYPE" val="n_h_h_i"/>
  <p:tag name="KSO_WM_UNIT_INDEX" val="1_2_5_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4000000059604645,&quot;colorType&quot;:1,&quot;foreColorIndex&quot;:6,&quot;pos&quot;:0.03999999910593033,&quot;transparency&quot;:0},{&quot;brightness&quot;:0,&quot;colorType&quot;:1,&quot;foreColorIndex&quot;:6,&quot;pos&quot;:1,&quot;transparency&quot;:0},{&quot;brightness&quot;:0,&quot;colorType&quot;:1,&quot;foreColorIndex&quot;:6,&quot;pos&quot;:0.5400000214576721,&quot;transparency&quot;:0}],&quot;type&quot;:3},&quot;glow&quot;:{&quot;colorType&quot;:0},&quot;line&quot;:{&quot;gradient&quot;:[{&quot;brightness&quot;:0.800000011920929,&quot;colorType&quot;:1,&quot;foreColorIndex&quot;:8,&quot;pos&quot;:0,&quot;transparency&quot;:0},{&quot;brightness&quot;:0.949999988079071,&quot;colorType&quot;:2,&quot;pos&quot;:0.3700000047683716,&quot;rgb&quot;:&quot;#fdfeff&quot;,&quot;transparency&quot;:0},{&quot;brightness&quot;:0.800000011920929,&quot;colorType&quot;:1,&quot;foreColorIndex&quot;:8,&quot;pos&quot;:0.7099999785423279,&quot;transparency&quot;:0},{&quot;brightness&quot;:0,&quot;colorType&quot;:2,&quot;pos&quot;:1,&quot;rgb&quot;:&quot;#ffffff&quot;,&quot;transparency&quot;:0}],&quot;type&quot;:2},&quot;shadow&quot;:{&quot;brightness&quot;:0,&quot;colorType&quot;:1,&quot;foreColorIndex&quot;:8,&quot;transparency&quot;:0.5400000214576721},&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USESOURCEFORMAT_APPLY" val="1"/>
</p:tagLst>
</file>

<file path=ppt/tags/tag128.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UNIT_TYPE" val="n_h_h_f"/>
  <p:tag name="KSO_WM_UNIT_INDEX" val="1_2_5_1"/>
  <p:tag name="KSO_WM_UNIT_ID" val="diagram20230964_4*n_h_h_f*1_2_5_1"/>
  <p:tag name="KSO_WM_TEMPLATE_CATEGORY" val="diagram"/>
  <p:tag name="KSO_WM_TEMPLATE_INDEX" val="20230964"/>
  <p:tag name="KSO_WM_UNIT_LAYERLEVEL" val="1_1_1_1"/>
  <p:tag name="KSO_WM_TAG_VERSION" val="3.0"/>
  <p:tag name="KSO_WM_DIAGRAM_VERSION" val="3"/>
  <p:tag name="KSO_WM_DIAGRAM_COLOR_TRICK" val="3"/>
  <p:tag name="KSO_WM_DIAGRAM_COLOR_TEXT_CAN_REMOVE" val="n"/>
  <p:tag name="KSO_WM_UNIT_VALUE" val="48"/>
  <p:tag name="KSO_WM_DIAGRAM_GROUP_CODE" val="n1-1"/>
  <p:tag name="KSO_WM_DIAGRAM_MAX_ITEMCNT" val="6"/>
  <p:tag name="KSO_WM_DIAGRAM_MIN_ITEMCNT" val="2"/>
  <p:tag name="KSO_WM_DIAGRAM_VIRTUALLY_FRAME" val="{&quot;height&quot;:453.2,&quot;left&quot;:43.2,&quot;top&quot;:85.15,&quot;width&quot;:870}"/>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此处输入你的&#10;智能图形项正文"/>
  <p:tag name="KSO_WM_UNIT_TEXT_FILL_FORE_SCHEMECOLOR_INDEX" val="1"/>
  <p:tag name="KSO_WM_UNIT_TEXT_FILL_TYPE" val="1"/>
  <p:tag name="KSO_WM_UNIT_TEXT_TYPE" val="1"/>
  <p:tag name="KSO_WM_UNIT_USESOURCEFORMAT_APPLY" val="1"/>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4_4*n_h_i*1_1_3"/>
  <p:tag name="KSO_WM_TEMPLATE_CATEGORY" val="diagram"/>
  <p:tag name="KSO_WM_TEMPLATE_INDEX" val="20230964"/>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1_3"/>
  <p:tag name="KSO_WM_DIAGRAM_MAX_ITEMCNT" val="6"/>
  <p:tag name="KSO_WM_DIAGRAM_MIN_ITEMCNT" val="2"/>
  <p:tag name="KSO_WM_DIAGRAM_VIRTUALLY_FRAME" val="{&quot;height&quot;:453.2,&quot;left&quot;:43.2,&quot;top&quot;:85.15,&quot;width&quot;:870}"/>
  <p:tag name="KSO_WM_DIAGRAM_COLOR_MATCH_VALUE" val="{&quot;shape&quot;:{&quot;fill&quot;:{&quot;type&quot;:0},&quot;glow&quot;:{&quot;colorType&quot;:0},&quot;line&quot;:{&quot;gradient&quot;:[{&quot;brightness&quot;:0,&quot;colorType&quot;:1,&quot;foreColorIndex&quot;:5,&quot;pos&quot;:0.4000000059604645,&quot;transparency&quot;:0.6499999761581421},{&quot;brightness&quot;:0.6000000238418579,&quot;colorType&quot;:1,&quot;foreColorIndex&quot;:5,&quot;pos&quot;:0.8799999952316284,&quot;transparency&quot;:0},{&quot;brightness&quot;:0,&quot;colorType&quot;:1,&quot;foreColorIndex&quot;:5,&quot;pos&quot;:1,&quot;transparency&quot;:0.6499999761581421},{&quot;brightness&quot;:0,&quot;colorType&quot;:1,&quot;foreColorIndex&quot;:5,&quot;pos&quot;:0.07000000029802322,&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2"/>
  <p:tag name="KSO_WM_UNIT_TEXT_FILL_TYPE" val="1"/>
  <p:tag name="KSO_WM_UNIT_USESOURCEFORMAT_APPLY" val="1"/>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0964_4*n_h_i*1_1_2"/>
  <p:tag name="KSO_WM_TEMPLATE_CATEGORY" val="diagram"/>
  <p:tag name="KSO_WM_TEMPLATE_INDEX" val="20230964"/>
  <p:tag name="KSO_WM_UNIT_LAYERLEVEL" val="1_1_1"/>
  <p:tag name="KSO_WM_TAG_VERSION" val="3.0"/>
  <p:tag name="KSO_WM_DIAGRAM_VERSION" val="3"/>
  <p:tag name="KSO_WM_DIAGRAM_COLOR_TRICK" val="3"/>
  <p:tag name="KSO_WM_DIAGRAM_COLOR_TEXT_CAN_REMOVE" val="n"/>
  <p:tag name="KSO_WM_DIAGRAM_GROUP_CODE" val="n1-1"/>
  <p:tag name="KSO_WM_UNIT_TYPE" val="n_h_i"/>
  <p:tag name="KSO_WM_UNIT_INDEX" val="1_1_2"/>
  <p:tag name="KSO_WM_DIAGRAM_MAX_ITEMCNT" val="6"/>
  <p:tag name="KSO_WM_DIAGRAM_MIN_ITEMCNT" val="2"/>
  <p:tag name="KSO_WM_DIAGRAM_VIRTUALLY_FRAME" val="{&quot;height&quot;:453.2,&quot;left&quot;:43.2,&quot;top&quot;:85.15,&quot;width&quot;:870}"/>
  <p:tag name="KSO_WM_DIAGRAM_COLOR_MATCH_VALUE" val="{&quot;shape&quot;:{&quot;fill&quot;:{&quot;type&quot;:0},&quot;glow&quot;:{&quot;colorType&quot;:0},&quot;line&quot;:{&quot;gradient&quot;:[{&quot;brightness&quot;:0,&quot;colorType&quot;:1,&quot;foreColorIndex&quot;:5,&quot;pos&quot;:0.4000000059604645,&quot;transparency&quot;:0.6499999761581421},{&quot;brightness&quot;:0.6000000238418579,&quot;colorType&quot;:1,&quot;foreColorIndex&quot;:5,&quot;pos&quot;:0.8799999952316284,&quot;transparency&quot;:0},{&quot;brightness&quot;:0,&quot;colorType&quot;:1,&quot;foreColorIndex&quot;:5,&quot;pos&quot;:1,&quot;transparency&quot;:0.6499999761581421},{&quot;brightness&quot;:0,&quot;colorType&quot;:1,&quot;foreColorIndex&quot;:5,&quot;pos&quot;:0.07000000029802322,&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UNIT_TEXT_FILL_FORE_SCHEMECOLOR_INDEX" val="2"/>
  <p:tag name="KSO_WM_UNIT_TEXT_FILL_TYPE" val="1"/>
  <p:tag name="KSO_WM_UNIT_USESOURCEFORMAT_APPLY" val="1"/>
</p:tagLst>
</file>

<file path=ppt/tags/tag131.xml><?xml version="1.0" encoding="utf-8"?>
<p:tagLst xmlns:p="http://schemas.openxmlformats.org/presentationml/2006/main">
  <p:tag name="KSO_WM_UNIT_FILL_FORE_SCHEMECOLOR_INDEX_1_BRIGHTNESS" val="0.6"/>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0.44"/>
  <p:tag name="KSO_WM_UNIT_FILL_FORE_SCHEMECOLOR_INDEX_2_TRANS" val="0"/>
  <p:tag name="KSO_WM_UNIT_FILL_GRADIENT_TYPE" val="2"/>
  <p:tag name="KSO_WM_UNIT_FILL_GRADIENT_ANGLE" val="0"/>
  <p:tag name="KSO_WM_UNIT_FILL_GRADIENT_DIRECTION" val="12"/>
  <p:tag name="KSO_WM_UNIT_LINE_FORE_SCHEMECOLOR_INDEX_1_BRIGHTNESS" val="0.55"/>
  <p:tag name="KSO_WM_UNIT_LINE_FORE_SCHEMECOLOR_INDEX_1" val="5"/>
  <p:tag name="KSO_WM_UNIT_LINE_FORE_SCHEMECOLOR_INDEX_1_POS" val="0"/>
  <p:tag name="KSO_WM_UNIT_LINE_FORE_SCHEMECOLOR_INDEX_1_TRANS" val="0"/>
  <p:tag name="KSO_WM_UNIT_LINE_FORE_SCHEMECOLOR_INDEX_2_BRIGHTNESS" val="0.95"/>
  <p:tag name="KSO_WM_UNIT_LINE_FORE_SCHEMECOLOR_INDEX_2" val="5"/>
  <p:tag name="KSO_WM_UNIT_LINE_FORE_SCHEMECOLOR_INDEX_2_POS" val="0.37"/>
  <p:tag name="KSO_WM_UNIT_LINE_FORE_SCHEMECOLOR_INDEX_2_TRANS" val="0"/>
  <p:tag name="KSO_WM_UNIT_LINE_FORE_SCHEMECOLOR_INDEX_3_BRIGHTNESS" val="0.7"/>
  <p:tag name="KSO_WM_UNIT_LINE_FORE_SCHEMECOLOR_INDEX_3" val="5"/>
  <p:tag name="KSO_WM_UNIT_LINE_FORE_SCHEMECOLOR_INDEX_3_POS" val="0.71"/>
  <p:tag name="KSO_WM_UNIT_LINE_FORE_SCHEMECOLOR_INDEX_3_TRANS" val="0"/>
  <p:tag name="KSO_WM_UNIT_LINE_FORE_SCHEMECOLOR_INDEX_4_BRIGHTNESS" val="0"/>
  <p:tag name="KSO_WM_UNIT_LINE_FORE_SCHEMECOLOR_INDEX_4" val="14"/>
  <p:tag name="KSO_WM_UNIT_LINE_FORE_SCHEMECOLOR_INDEX_4_POS" val="1"/>
  <p:tag name="KSO_WM_UNIT_LINE_FORE_SCHEMECOLOR_INDEX_4_TRANS" val="0"/>
  <p:tag name="KSO_WM_UNIT_LINE_GRADIENT_TYPE" val="0"/>
  <p:tag name="KSO_WM_UNIT_LINE_GRADIENT_ANGLE" val="270"/>
  <p:tag name="KSO_WM_UNIT_LINE_GRADIENT_DIRECTION" val="6"/>
  <p:tag name="KSO_WM_UNIT_LINE_FILL_TYPE" val="5"/>
  <p:tag name="KSO_WM_UNIT_SHADOW_SCHEMECOLOR_INDEX_BRIGHTNESS" val="0"/>
  <p:tag name="KSO_WM_UNIT_SHADOW_SCHEMECOLOR_INDEX" val="5"/>
  <p:tag name="KSO_WM_UNIT_TEXT_FILL_FORE_SCHEMECOLOR_INDEX_BRIGHTNESS" val="0"/>
  <p:tag name="KSO_WM_UNIT_TEXT_FILL_TYPE" val="1"/>
  <p:tag name="KSO_WM_UNIT_HIGHLIGHT" val="0"/>
  <p:tag name="KSO_WM_UNIT_COMPATIBLE" val="0"/>
  <p:tag name="KSO_WM_UNIT_DIAGRAM_ISNUMVISUAL" val="0"/>
  <p:tag name="KSO_WM_UNIT_DIAGRAM_ISREFERUNIT" val="0"/>
  <p:tag name="KSO_WM_UNIT_ID" val="diagram20230964_4*n_h_a*1_1_1"/>
  <p:tag name="KSO_WM_TEMPLATE_CATEGORY" val="diagram"/>
  <p:tag name="KSO_WM_TEMPLATE_INDEX" val="20230964"/>
  <p:tag name="KSO_WM_UNIT_LAYERLEVEL" val="1_1_1"/>
  <p:tag name="KSO_WM_TAG_VERSION" val="3.0"/>
  <p:tag name="KSO_WM_DIAGRAM_VERSION" val="3"/>
  <p:tag name="KSO_WM_DIAGRAM_COLOR_TRICK" val="3"/>
  <p:tag name="KSO_WM_DIAGRAM_COLOR_TEXT_CAN_REMOVE" val="n"/>
  <p:tag name="KSO_WM_UNIT_ISCONTENTSTITLE" val="0"/>
  <p:tag name="KSO_WM_UNIT_ISNUMDGMTITLE" val="0"/>
  <p:tag name="KSO_WM_UNIT_NOCLEAR" val="0"/>
  <p:tag name="KSO_WM_UNIT_VALUE" val="30"/>
  <p:tag name="KSO_WM_DIAGRAM_GROUP_CODE" val="n1-1"/>
  <p:tag name="KSO_WM_UNIT_TYPE" val="n_h_a"/>
  <p:tag name="KSO_WM_UNIT_INDEX" val="1_1_1"/>
  <p:tag name="KSO_WM_DIAGRAM_MAX_ITEMCNT" val="6"/>
  <p:tag name="KSO_WM_DIAGRAM_MIN_ITEMCNT" val="2"/>
  <p:tag name="KSO_WM_DIAGRAM_VIRTUALLY_FRAME" val="{&quot;height&quot;:453.2,&quot;left&quot;:43.2,&quot;top&quot;:85.15,&quot;width&quot;:870}"/>
  <p:tag name="KSO_WM_DIAGRAM_COLOR_MATCH_VALUE" val="{&quot;shape&quot;:{&quot;fill&quot;:{&quot;gradient&quot;:[{&quot;brightness&quot;:0.800000011920929,&quot;colorType&quot;:1,&quot;foreColorIndex&quot;:5,&quot;pos&quot;:1,&quot;transparency&quot;:0},{&quot;brightness&quot;:0.4000000059604645,&quot;colorType&quot;:1,&quot;foreColorIndex&quot;:5,&quot;pos&quot;:0,&quot;transparency&quot;:0},{&quot;brightness&quot;:0,&quot;colorType&quot;:1,&quot;foreColorIndex&quot;:5,&quot;pos&quot;:0.3400000035762787,&quot;transparency&quot;:0},{&quot;brightness&quot;:0,&quot;colorType&quot;:1,&quot;foreColorIndex&quot;:5,&quot;pos&quot;:0.6200000047683716,&quot;transparency&quot;:0}],&quot;type&quot;:3},&quot;glow&quot;:{&quot;colorType&quot;:0},&quot;line&quot;:{&quot;gradient&quot;:[{&quot;brightness&quot;:0.800000011920929,&quot;colorType&quot;:1,&quot;foreColorIndex&quot;:5,&quot;pos&quot;:0,&quot;transparency&quot;:0},{&quot;brightness&quot;:0,&quot;colorType&quot;:2,&quot;pos&quot;:0.3700000047683716,&quot;rgb&quot;:&quot;#ffffff&quot;,&quot;transparency&quot;:0},{&quot;brightness&quot;:0.800000011920929,&quot;colorType&quot;:1,&quot;foreColorIndex&quot;:5,&quot;pos&quot;:0.7099999785423279,&quot;transparency&quot;:0},{&quot;brightness&quot;:0,&quot;colorType&quot;:2,&quot;pos&quot;:1,&quot;rgb&quot;:&quot;#ffffff&quot;,&quot;transparency&quot;:0}],&quot;type&quot;:2},&quot;shadow&quot;:{&quot;brightness&quot;:0,&quot;colorType&quot;:1,&quot;foreColorIndex&quot;:5,&quot;transparency&quot;:0.85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单击添加项标题"/>
  <p:tag name="KSO_WM_UNIT_FILL_TYPE" val="3"/>
  <p:tag name="KSO_WM_UNIT_TEXT_TYPE" val="1"/>
  <p:tag name="KSO_WM_UNIT_USESOURCEFORMAT_APPLY" val="1"/>
</p:tagLst>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3393</Words>
  <Application>WPS 演示</Application>
  <PresentationFormat/>
  <Paragraphs>213</Paragraphs>
  <Slides>15</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15</vt:i4>
      </vt:variant>
    </vt:vector>
  </HeadingPairs>
  <TitlesOfParts>
    <vt:vector size="32" baseType="lpstr">
      <vt:lpstr>Arial</vt:lpstr>
      <vt:lpstr>宋体</vt:lpstr>
      <vt:lpstr>Wingdings</vt:lpstr>
      <vt:lpstr>Arial</vt:lpstr>
      <vt:lpstr>微软雅黑</vt:lpstr>
      <vt:lpstr>思源黑体 CN Regular</vt:lpstr>
      <vt:lpstr>黑体</vt:lpstr>
      <vt:lpstr>方正苏新诗柳楷简体</vt:lpstr>
      <vt:lpstr>Wingdings</vt:lpstr>
      <vt:lpstr>Franklin Gothic Medium</vt:lpstr>
      <vt:lpstr>Source Han Sans</vt:lpstr>
      <vt:lpstr>Source Han Sans CN Bold</vt:lpstr>
      <vt:lpstr>MiSans Normal</vt:lpstr>
      <vt:lpstr>微软雅黑 Light</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乐夫 于</dc:creator>
  <cp:lastModifiedBy>WPS_1601720331</cp:lastModifiedBy>
  <cp:revision>2</cp:revision>
  <dcterms:created xsi:type="dcterms:W3CDTF">2026-04-26T09:04:00Z</dcterms:created>
  <dcterms:modified xsi:type="dcterms:W3CDTF">2026-04-27T09:37:22Z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wqlLaW5nc29mdCBQREYgdG8gV1BTIDEyMA</vt:lpwstr>
  </property>
  <property fmtid="{D5CDD505-2E9C-101B-9397-08002B2CF9AE}" pid="3" name="Created">
    <vt:filetime>2026-04-23T05:17:50Z</vt:filetime>
  </property>
  <property fmtid="{D5CDD505-2E9C-101B-9397-08002B2CF9AE}" pid="4" name="KSOProductBuildVer">
    <vt:lpwstr>2052-12.1.0.25865</vt:lpwstr>
  </property>
  <property fmtid="{D5CDD505-2E9C-101B-9397-08002B2CF9AE}" pid="5" name="ICV">
    <vt:lpwstr>90A8B65C805F4C8BA022BFA511A96654_13</vt:lpwstr>
  </property>
</Properties>
</file>